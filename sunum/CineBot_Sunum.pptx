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26" d="100"/>
          <a:sy n="126" d="100"/>
        </p:scale>
        <p:origin x="202" y="8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49820267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8080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28016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3" name="Shape 1"/>
          <p:cNvSpPr/>
          <p:nvPr/>
        </p:nvSpPr>
        <p:spPr>
          <a:xfrm>
            <a:off x="73152" y="18288"/>
            <a:ext cx="201168" cy="91440"/>
          </a:xfrm>
          <a:prstGeom prst="rect">
            <a:avLst/>
          </a:prstGeom>
          <a:solidFill>
            <a:srgbClr val="7B1A15"/>
          </a:solidFill>
          <a:ln w="12700">
            <a:solidFill>
              <a:srgbClr val="7B1A15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4" name="Shape 2"/>
          <p:cNvSpPr/>
          <p:nvPr/>
        </p:nvSpPr>
        <p:spPr>
          <a:xfrm>
            <a:off x="438912" y="18288"/>
            <a:ext cx="201168" cy="91440"/>
          </a:xfrm>
          <a:prstGeom prst="rect">
            <a:avLst/>
          </a:prstGeom>
          <a:solidFill>
            <a:srgbClr val="7B1A15"/>
          </a:solidFill>
          <a:ln w="12700">
            <a:solidFill>
              <a:srgbClr val="7B1A15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5" name="Shape 3"/>
          <p:cNvSpPr/>
          <p:nvPr/>
        </p:nvSpPr>
        <p:spPr>
          <a:xfrm>
            <a:off x="804672" y="18288"/>
            <a:ext cx="201168" cy="91440"/>
          </a:xfrm>
          <a:prstGeom prst="rect">
            <a:avLst/>
          </a:prstGeom>
          <a:solidFill>
            <a:srgbClr val="7B1A15"/>
          </a:solidFill>
          <a:ln w="12700">
            <a:solidFill>
              <a:srgbClr val="7B1A15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6" name="Shape 4"/>
          <p:cNvSpPr/>
          <p:nvPr/>
        </p:nvSpPr>
        <p:spPr>
          <a:xfrm>
            <a:off x="1170432" y="18288"/>
            <a:ext cx="201168" cy="91440"/>
          </a:xfrm>
          <a:prstGeom prst="rect">
            <a:avLst/>
          </a:prstGeom>
          <a:solidFill>
            <a:srgbClr val="7B1A15"/>
          </a:solidFill>
          <a:ln w="12700">
            <a:solidFill>
              <a:srgbClr val="7B1A15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7" name="Shape 5"/>
          <p:cNvSpPr/>
          <p:nvPr/>
        </p:nvSpPr>
        <p:spPr>
          <a:xfrm>
            <a:off x="1536192" y="18288"/>
            <a:ext cx="201168" cy="91440"/>
          </a:xfrm>
          <a:prstGeom prst="rect">
            <a:avLst/>
          </a:prstGeom>
          <a:solidFill>
            <a:srgbClr val="7B1A15"/>
          </a:solidFill>
          <a:ln w="12700">
            <a:solidFill>
              <a:srgbClr val="7B1A15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8" name="Shape 6"/>
          <p:cNvSpPr/>
          <p:nvPr/>
        </p:nvSpPr>
        <p:spPr>
          <a:xfrm>
            <a:off x="1901952" y="18288"/>
            <a:ext cx="201168" cy="91440"/>
          </a:xfrm>
          <a:prstGeom prst="rect">
            <a:avLst/>
          </a:prstGeom>
          <a:solidFill>
            <a:srgbClr val="7B1A15"/>
          </a:solidFill>
          <a:ln w="12700">
            <a:solidFill>
              <a:srgbClr val="7B1A15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9" name="Shape 7"/>
          <p:cNvSpPr/>
          <p:nvPr/>
        </p:nvSpPr>
        <p:spPr>
          <a:xfrm>
            <a:off x="2267712" y="18288"/>
            <a:ext cx="201168" cy="91440"/>
          </a:xfrm>
          <a:prstGeom prst="rect">
            <a:avLst/>
          </a:prstGeom>
          <a:solidFill>
            <a:srgbClr val="7B1A15"/>
          </a:solidFill>
          <a:ln w="12700">
            <a:solidFill>
              <a:srgbClr val="7B1A15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10" name="Shape 8"/>
          <p:cNvSpPr/>
          <p:nvPr/>
        </p:nvSpPr>
        <p:spPr>
          <a:xfrm>
            <a:off x="2633472" y="18288"/>
            <a:ext cx="201168" cy="91440"/>
          </a:xfrm>
          <a:prstGeom prst="rect">
            <a:avLst/>
          </a:prstGeom>
          <a:solidFill>
            <a:srgbClr val="7B1A15"/>
          </a:solidFill>
          <a:ln w="12700">
            <a:solidFill>
              <a:srgbClr val="7B1A15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11" name="Shape 9"/>
          <p:cNvSpPr/>
          <p:nvPr/>
        </p:nvSpPr>
        <p:spPr>
          <a:xfrm>
            <a:off x="2999232" y="18288"/>
            <a:ext cx="201168" cy="91440"/>
          </a:xfrm>
          <a:prstGeom prst="rect">
            <a:avLst/>
          </a:prstGeom>
          <a:solidFill>
            <a:srgbClr val="7B1A15"/>
          </a:solidFill>
          <a:ln w="12700">
            <a:solidFill>
              <a:srgbClr val="7B1A15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12" name="Shape 10"/>
          <p:cNvSpPr/>
          <p:nvPr/>
        </p:nvSpPr>
        <p:spPr>
          <a:xfrm>
            <a:off x="3364992" y="18288"/>
            <a:ext cx="201168" cy="91440"/>
          </a:xfrm>
          <a:prstGeom prst="rect">
            <a:avLst/>
          </a:prstGeom>
          <a:solidFill>
            <a:srgbClr val="7B1A15"/>
          </a:solidFill>
          <a:ln w="12700">
            <a:solidFill>
              <a:srgbClr val="7B1A15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13" name="Shape 11"/>
          <p:cNvSpPr/>
          <p:nvPr/>
        </p:nvSpPr>
        <p:spPr>
          <a:xfrm>
            <a:off x="3730752" y="18288"/>
            <a:ext cx="201168" cy="91440"/>
          </a:xfrm>
          <a:prstGeom prst="rect">
            <a:avLst/>
          </a:prstGeom>
          <a:solidFill>
            <a:srgbClr val="7B1A15"/>
          </a:solidFill>
          <a:ln w="12700">
            <a:solidFill>
              <a:srgbClr val="7B1A15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14" name="Shape 12"/>
          <p:cNvSpPr/>
          <p:nvPr/>
        </p:nvSpPr>
        <p:spPr>
          <a:xfrm>
            <a:off x="4096512" y="18288"/>
            <a:ext cx="201168" cy="91440"/>
          </a:xfrm>
          <a:prstGeom prst="rect">
            <a:avLst/>
          </a:prstGeom>
          <a:solidFill>
            <a:srgbClr val="7B1A15"/>
          </a:solidFill>
          <a:ln w="12700">
            <a:solidFill>
              <a:srgbClr val="7B1A15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15" name="Shape 13"/>
          <p:cNvSpPr/>
          <p:nvPr/>
        </p:nvSpPr>
        <p:spPr>
          <a:xfrm>
            <a:off x="4462272" y="18288"/>
            <a:ext cx="201168" cy="91440"/>
          </a:xfrm>
          <a:prstGeom prst="rect">
            <a:avLst/>
          </a:prstGeom>
          <a:solidFill>
            <a:srgbClr val="7B1A15"/>
          </a:solidFill>
          <a:ln w="12700">
            <a:solidFill>
              <a:srgbClr val="7B1A15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16" name="Shape 14"/>
          <p:cNvSpPr/>
          <p:nvPr/>
        </p:nvSpPr>
        <p:spPr>
          <a:xfrm>
            <a:off x="4828032" y="18288"/>
            <a:ext cx="201168" cy="91440"/>
          </a:xfrm>
          <a:prstGeom prst="rect">
            <a:avLst/>
          </a:prstGeom>
          <a:solidFill>
            <a:srgbClr val="7B1A15"/>
          </a:solidFill>
          <a:ln w="12700">
            <a:solidFill>
              <a:srgbClr val="7B1A15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17" name="Shape 15"/>
          <p:cNvSpPr/>
          <p:nvPr/>
        </p:nvSpPr>
        <p:spPr>
          <a:xfrm>
            <a:off x="5193792" y="18288"/>
            <a:ext cx="201168" cy="91440"/>
          </a:xfrm>
          <a:prstGeom prst="rect">
            <a:avLst/>
          </a:prstGeom>
          <a:solidFill>
            <a:srgbClr val="7B1A15"/>
          </a:solidFill>
          <a:ln w="12700">
            <a:solidFill>
              <a:srgbClr val="7B1A15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18" name="Shape 16"/>
          <p:cNvSpPr/>
          <p:nvPr/>
        </p:nvSpPr>
        <p:spPr>
          <a:xfrm>
            <a:off x="5559552" y="18288"/>
            <a:ext cx="201168" cy="91440"/>
          </a:xfrm>
          <a:prstGeom prst="rect">
            <a:avLst/>
          </a:prstGeom>
          <a:solidFill>
            <a:srgbClr val="7B1A15"/>
          </a:solidFill>
          <a:ln w="12700">
            <a:solidFill>
              <a:srgbClr val="7B1A15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19" name="Shape 17"/>
          <p:cNvSpPr/>
          <p:nvPr/>
        </p:nvSpPr>
        <p:spPr>
          <a:xfrm>
            <a:off x="5925312" y="18288"/>
            <a:ext cx="201168" cy="91440"/>
          </a:xfrm>
          <a:prstGeom prst="rect">
            <a:avLst/>
          </a:prstGeom>
          <a:solidFill>
            <a:srgbClr val="7B1A15"/>
          </a:solidFill>
          <a:ln w="12700">
            <a:solidFill>
              <a:srgbClr val="7B1A15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20" name="Shape 18"/>
          <p:cNvSpPr/>
          <p:nvPr/>
        </p:nvSpPr>
        <p:spPr>
          <a:xfrm>
            <a:off x="6291072" y="18288"/>
            <a:ext cx="201168" cy="91440"/>
          </a:xfrm>
          <a:prstGeom prst="rect">
            <a:avLst/>
          </a:prstGeom>
          <a:solidFill>
            <a:srgbClr val="7B1A15"/>
          </a:solidFill>
          <a:ln w="12700">
            <a:solidFill>
              <a:srgbClr val="7B1A15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21" name="Shape 19"/>
          <p:cNvSpPr/>
          <p:nvPr/>
        </p:nvSpPr>
        <p:spPr>
          <a:xfrm>
            <a:off x="6656832" y="18288"/>
            <a:ext cx="201168" cy="91440"/>
          </a:xfrm>
          <a:prstGeom prst="rect">
            <a:avLst/>
          </a:prstGeom>
          <a:solidFill>
            <a:srgbClr val="7B1A15"/>
          </a:solidFill>
          <a:ln w="12700">
            <a:solidFill>
              <a:srgbClr val="7B1A15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22" name="Shape 20"/>
          <p:cNvSpPr/>
          <p:nvPr/>
        </p:nvSpPr>
        <p:spPr>
          <a:xfrm>
            <a:off x="7022592" y="18288"/>
            <a:ext cx="201168" cy="91440"/>
          </a:xfrm>
          <a:prstGeom prst="rect">
            <a:avLst/>
          </a:prstGeom>
          <a:solidFill>
            <a:srgbClr val="7B1A15"/>
          </a:solidFill>
          <a:ln w="12700">
            <a:solidFill>
              <a:srgbClr val="7B1A15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23" name="Shape 21"/>
          <p:cNvSpPr/>
          <p:nvPr/>
        </p:nvSpPr>
        <p:spPr>
          <a:xfrm>
            <a:off x="7388352" y="18288"/>
            <a:ext cx="201168" cy="91440"/>
          </a:xfrm>
          <a:prstGeom prst="rect">
            <a:avLst/>
          </a:prstGeom>
          <a:solidFill>
            <a:srgbClr val="7B1A15"/>
          </a:solidFill>
          <a:ln w="12700">
            <a:solidFill>
              <a:srgbClr val="7B1A15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24" name="Shape 22"/>
          <p:cNvSpPr/>
          <p:nvPr/>
        </p:nvSpPr>
        <p:spPr>
          <a:xfrm>
            <a:off x="7754112" y="18288"/>
            <a:ext cx="201168" cy="91440"/>
          </a:xfrm>
          <a:prstGeom prst="rect">
            <a:avLst/>
          </a:prstGeom>
          <a:solidFill>
            <a:srgbClr val="7B1A15"/>
          </a:solidFill>
          <a:ln w="12700">
            <a:solidFill>
              <a:srgbClr val="7B1A15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25" name="Shape 23"/>
          <p:cNvSpPr/>
          <p:nvPr/>
        </p:nvSpPr>
        <p:spPr>
          <a:xfrm>
            <a:off x="8119872" y="18288"/>
            <a:ext cx="201168" cy="91440"/>
          </a:xfrm>
          <a:prstGeom prst="rect">
            <a:avLst/>
          </a:prstGeom>
          <a:solidFill>
            <a:srgbClr val="7B1A15"/>
          </a:solidFill>
          <a:ln w="12700">
            <a:solidFill>
              <a:srgbClr val="7B1A15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26" name="Shape 24"/>
          <p:cNvSpPr/>
          <p:nvPr/>
        </p:nvSpPr>
        <p:spPr>
          <a:xfrm>
            <a:off x="8485632" y="18288"/>
            <a:ext cx="201168" cy="91440"/>
          </a:xfrm>
          <a:prstGeom prst="rect">
            <a:avLst/>
          </a:prstGeom>
          <a:solidFill>
            <a:srgbClr val="7B1A15"/>
          </a:solidFill>
          <a:ln w="12700">
            <a:solidFill>
              <a:srgbClr val="7B1A15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27" name="Shape 25"/>
          <p:cNvSpPr/>
          <p:nvPr/>
        </p:nvSpPr>
        <p:spPr>
          <a:xfrm>
            <a:off x="8851392" y="18288"/>
            <a:ext cx="201168" cy="91440"/>
          </a:xfrm>
          <a:prstGeom prst="rect">
            <a:avLst/>
          </a:prstGeom>
          <a:solidFill>
            <a:srgbClr val="7B1A15"/>
          </a:solidFill>
          <a:ln w="12700">
            <a:solidFill>
              <a:srgbClr val="7B1A15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28" name="Shape 26"/>
          <p:cNvSpPr/>
          <p:nvPr/>
        </p:nvSpPr>
        <p:spPr>
          <a:xfrm>
            <a:off x="0" y="5015484"/>
            <a:ext cx="9144000" cy="128016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29" name="Shape 27"/>
          <p:cNvSpPr/>
          <p:nvPr/>
        </p:nvSpPr>
        <p:spPr>
          <a:xfrm>
            <a:off x="73152" y="5033772"/>
            <a:ext cx="201168" cy="91440"/>
          </a:xfrm>
          <a:prstGeom prst="rect">
            <a:avLst/>
          </a:prstGeom>
          <a:solidFill>
            <a:srgbClr val="7B1A15"/>
          </a:solidFill>
          <a:ln w="12700">
            <a:solidFill>
              <a:srgbClr val="7B1A15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30" name="Shape 28"/>
          <p:cNvSpPr/>
          <p:nvPr/>
        </p:nvSpPr>
        <p:spPr>
          <a:xfrm>
            <a:off x="438912" y="5033772"/>
            <a:ext cx="201168" cy="91440"/>
          </a:xfrm>
          <a:prstGeom prst="rect">
            <a:avLst/>
          </a:prstGeom>
          <a:solidFill>
            <a:srgbClr val="7B1A15"/>
          </a:solidFill>
          <a:ln w="12700">
            <a:solidFill>
              <a:srgbClr val="7B1A15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31" name="Shape 29"/>
          <p:cNvSpPr/>
          <p:nvPr/>
        </p:nvSpPr>
        <p:spPr>
          <a:xfrm>
            <a:off x="804672" y="5033772"/>
            <a:ext cx="201168" cy="91440"/>
          </a:xfrm>
          <a:prstGeom prst="rect">
            <a:avLst/>
          </a:prstGeom>
          <a:solidFill>
            <a:srgbClr val="7B1A15"/>
          </a:solidFill>
          <a:ln w="12700">
            <a:solidFill>
              <a:srgbClr val="7B1A15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32" name="Shape 30"/>
          <p:cNvSpPr/>
          <p:nvPr/>
        </p:nvSpPr>
        <p:spPr>
          <a:xfrm>
            <a:off x="1170432" y="5033772"/>
            <a:ext cx="201168" cy="91440"/>
          </a:xfrm>
          <a:prstGeom prst="rect">
            <a:avLst/>
          </a:prstGeom>
          <a:solidFill>
            <a:srgbClr val="7B1A15"/>
          </a:solidFill>
          <a:ln w="12700">
            <a:solidFill>
              <a:srgbClr val="7B1A15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33" name="Shape 31"/>
          <p:cNvSpPr/>
          <p:nvPr/>
        </p:nvSpPr>
        <p:spPr>
          <a:xfrm>
            <a:off x="1536192" y="5033772"/>
            <a:ext cx="201168" cy="91440"/>
          </a:xfrm>
          <a:prstGeom prst="rect">
            <a:avLst/>
          </a:prstGeom>
          <a:solidFill>
            <a:srgbClr val="7B1A15"/>
          </a:solidFill>
          <a:ln w="12700">
            <a:solidFill>
              <a:srgbClr val="7B1A15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34" name="Shape 32"/>
          <p:cNvSpPr/>
          <p:nvPr/>
        </p:nvSpPr>
        <p:spPr>
          <a:xfrm>
            <a:off x="1901952" y="5033772"/>
            <a:ext cx="201168" cy="91440"/>
          </a:xfrm>
          <a:prstGeom prst="rect">
            <a:avLst/>
          </a:prstGeom>
          <a:solidFill>
            <a:srgbClr val="7B1A15"/>
          </a:solidFill>
          <a:ln w="12700">
            <a:solidFill>
              <a:srgbClr val="7B1A15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35" name="Shape 33"/>
          <p:cNvSpPr/>
          <p:nvPr/>
        </p:nvSpPr>
        <p:spPr>
          <a:xfrm>
            <a:off x="2267712" y="5033772"/>
            <a:ext cx="201168" cy="91440"/>
          </a:xfrm>
          <a:prstGeom prst="rect">
            <a:avLst/>
          </a:prstGeom>
          <a:solidFill>
            <a:srgbClr val="7B1A15"/>
          </a:solidFill>
          <a:ln w="12700">
            <a:solidFill>
              <a:srgbClr val="7B1A15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36" name="Shape 34"/>
          <p:cNvSpPr/>
          <p:nvPr/>
        </p:nvSpPr>
        <p:spPr>
          <a:xfrm>
            <a:off x="2633472" y="5033772"/>
            <a:ext cx="201168" cy="91440"/>
          </a:xfrm>
          <a:prstGeom prst="rect">
            <a:avLst/>
          </a:prstGeom>
          <a:solidFill>
            <a:srgbClr val="7B1A15"/>
          </a:solidFill>
          <a:ln w="12700">
            <a:solidFill>
              <a:srgbClr val="7B1A15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37" name="Shape 35"/>
          <p:cNvSpPr/>
          <p:nvPr/>
        </p:nvSpPr>
        <p:spPr>
          <a:xfrm>
            <a:off x="2999232" y="5033772"/>
            <a:ext cx="201168" cy="91440"/>
          </a:xfrm>
          <a:prstGeom prst="rect">
            <a:avLst/>
          </a:prstGeom>
          <a:solidFill>
            <a:srgbClr val="7B1A15"/>
          </a:solidFill>
          <a:ln w="12700">
            <a:solidFill>
              <a:srgbClr val="7B1A15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38" name="Shape 36"/>
          <p:cNvSpPr/>
          <p:nvPr/>
        </p:nvSpPr>
        <p:spPr>
          <a:xfrm>
            <a:off x="3364992" y="5033772"/>
            <a:ext cx="201168" cy="91440"/>
          </a:xfrm>
          <a:prstGeom prst="rect">
            <a:avLst/>
          </a:prstGeom>
          <a:solidFill>
            <a:srgbClr val="7B1A15"/>
          </a:solidFill>
          <a:ln w="12700">
            <a:solidFill>
              <a:srgbClr val="7B1A15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39" name="Shape 37"/>
          <p:cNvSpPr/>
          <p:nvPr/>
        </p:nvSpPr>
        <p:spPr>
          <a:xfrm>
            <a:off x="3730752" y="5033772"/>
            <a:ext cx="201168" cy="91440"/>
          </a:xfrm>
          <a:prstGeom prst="rect">
            <a:avLst/>
          </a:prstGeom>
          <a:solidFill>
            <a:srgbClr val="7B1A15"/>
          </a:solidFill>
          <a:ln w="12700">
            <a:solidFill>
              <a:srgbClr val="7B1A15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40" name="Shape 38"/>
          <p:cNvSpPr/>
          <p:nvPr/>
        </p:nvSpPr>
        <p:spPr>
          <a:xfrm>
            <a:off x="4096512" y="5033772"/>
            <a:ext cx="201168" cy="91440"/>
          </a:xfrm>
          <a:prstGeom prst="rect">
            <a:avLst/>
          </a:prstGeom>
          <a:solidFill>
            <a:srgbClr val="7B1A15"/>
          </a:solidFill>
          <a:ln w="12700">
            <a:solidFill>
              <a:srgbClr val="7B1A15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41" name="Shape 39"/>
          <p:cNvSpPr/>
          <p:nvPr/>
        </p:nvSpPr>
        <p:spPr>
          <a:xfrm>
            <a:off x="4462272" y="5033772"/>
            <a:ext cx="201168" cy="91440"/>
          </a:xfrm>
          <a:prstGeom prst="rect">
            <a:avLst/>
          </a:prstGeom>
          <a:solidFill>
            <a:srgbClr val="7B1A15"/>
          </a:solidFill>
          <a:ln w="12700">
            <a:solidFill>
              <a:srgbClr val="7B1A15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42" name="Shape 40"/>
          <p:cNvSpPr/>
          <p:nvPr/>
        </p:nvSpPr>
        <p:spPr>
          <a:xfrm>
            <a:off x="4828032" y="5033772"/>
            <a:ext cx="201168" cy="91440"/>
          </a:xfrm>
          <a:prstGeom prst="rect">
            <a:avLst/>
          </a:prstGeom>
          <a:solidFill>
            <a:srgbClr val="7B1A15"/>
          </a:solidFill>
          <a:ln w="12700">
            <a:solidFill>
              <a:srgbClr val="7B1A15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43" name="Shape 41"/>
          <p:cNvSpPr/>
          <p:nvPr/>
        </p:nvSpPr>
        <p:spPr>
          <a:xfrm>
            <a:off x="5193792" y="5033772"/>
            <a:ext cx="201168" cy="91440"/>
          </a:xfrm>
          <a:prstGeom prst="rect">
            <a:avLst/>
          </a:prstGeom>
          <a:solidFill>
            <a:srgbClr val="7B1A15"/>
          </a:solidFill>
          <a:ln w="12700">
            <a:solidFill>
              <a:srgbClr val="7B1A15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44" name="Shape 42"/>
          <p:cNvSpPr/>
          <p:nvPr/>
        </p:nvSpPr>
        <p:spPr>
          <a:xfrm>
            <a:off x="5559552" y="5033772"/>
            <a:ext cx="201168" cy="91440"/>
          </a:xfrm>
          <a:prstGeom prst="rect">
            <a:avLst/>
          </a:prstGeom>
          <a:solidFill>
            <a:srgbClr val="7B1A15"/>
          </a:solidFill>
          <a:ln w="12700">
            <a:solidFill>
              <a:srgbClr val="7B1A15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45" name="Shape 43"/>
          <p:cNvSpPr/>
          <p:nvPr/>
        </p:nvSpPr>
        <p:spPr>
          <a:xfrm>
            <a:off x="5925312" y="5033772"/>
            <a:ext cx="201168" cy="91440"/>
          </a:xfrm>
          <a:prstGeom prst="rect">
            <a:avLst/>
          </a:prstGeom>
          <a:solidFill>
            <a:srgbClr val="7B1A15"/>
          </a:solidFill>
          <a:ln w="12700">
            <a:solidFill>
              <a:srgbClr val="7B1A15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46" name="Shape 44"/>
          <p:cNvSpPr/>
          <p:nvPr/>
        </p:nvSpPr>
        <p:spPr>
          <a:xfrm>
            <a:off x="6291072" y="5033772"/>
            <a:ext cx="201168" cy="91440"/>
          </a:xfrm>
          <a:prstGeom prst="rect">
            <a:avLst/>
          </a:prstGeom>
          <a:solidFill>
            <a:srgbClr val="7B1A15"/>
          </a:solidFill>
          <a:ln w="12700">
            <a:solidFill>
              <a:srgbClr val="7B1A15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47" name="Shape 45"/>
          <p:cNvSpPr/>
          <p:nvPr/>
        </p:nvSpPr>
        <p:spPr>
          <a:xfrm>
            <a:off x="6656832" y="5033772"/>
            <a:ext cx="201168" cy="91440"/>
          </a:xfrm>
          <a:prstGeom prst="rect">
            <a:avLst/>
          </a:prstGeom>
          <a:solidFill>
            <a:srgbClr val="7B1A15"/>
          </a:solidFill>
          <a:ln w="12700">
            <a:solidFill>
              <a:srgbClr val="7B1A15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48" name="Shape 46"/>
          <p:cNvSpPr/>
          <p:nvPr/>
        </p:nvSpPr>
        <p:spPr>
          <a:xfrm>
            <a:off x="7022592" y="5033772"/>
            <a:ext cx="201168" cy="91440"/>
          </a:xfrm>
          <a:prstGeom prst="rect">
            <a:avLst/>
          </a:prstGeom>
          <a:solidFill>
            <a:srgbClr val="7B1A15"/>
          </a:solidFill>
          <a:ln w="12700">
            <a:solidFill>
              <a:srgbClr val="7B1A15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49" name="Shape 47"/>
          <p:cNvSpPr/>
          <p:nvPr/>
        </p:nvSpPr>
        <p:spPr>
          <a:xfrm>
            <a:off x="7388352" y="5033772"/>
            <a:ext cx="201168" cy="91440"/>
          </a:xfrm>
          <a:prstGeom prst="rect">
            <a:avLst/>
          </a:prstGeom>
          <a:solidFill>
            <a:srgbClr val="7B1A15"/>
          </a:solidFill>
          <a:ln w="12700">
            <a:solidFill>
              <a:srgbClr val="7B1A15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50" name="Shape 48"/>
          <p:cNvSpPr/>
          <p:nvPr/>
        </p:nvSpPr>
        <p:spPr>
          <a:xfrm>
            <a:off x="7754112" y="5033772"/>
            <a:ext cx="201168" cy="91440"/>
          </a:xfrm>
          <a:prstGeom prst="rect">
            <a:avLst/>
          </a:prstGeom>
          <a:solidFill>
            <a:srgbClr val="7B1A15"/>
          </a:solidFill>
          <a:ln w="12700">
            <a:solidFill>
              <a:srgbClr val="7B1A15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51" name="Shape 49"/>
          <p:cNvSpPr/>
          <p:nvPr/>
        </p:nvSpPr>
        <p:spPr>
          <a:xfrm>
            <a:off x="8119872" y="5033772"/>
            <a:ext cx="201168" cy="91440"/>
          </a:xfrm>
          <a:prstGeom prst="rect">
            <a:avLst/>
          </a:prstGeom>
          <a:solidFill>
            <a:srgbClr val="7B1A15"/>
          </a:solidFill>
          <a:ln w="12700">
            <a:solidFill>
              <a:srgbClr val="7B1A15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52" name="Shape 50"/>
          <p:cNvSpPr/>
          <p:nvPr/>
        </p:nvSpPr>
        <p:spPr>
          <a:xfrm>
            <a:off x="8485632" y="5033772"/>
            <a:ext cx="201168" cy="91440"/>
          </a:xfrm>
          <a:prstGeom prst="rect">
            <a:avLst/>
          </a:prstGeom>
          <a:solidFill>
            <a:srgbClr val="7B1A15"/>
          </a:solidFill>
          <a:ln w="12700">
            <a:solidFill>
              <a:srgbClr val="7B1A15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53" name="Shape 51"/>
          <p:cNvSpPr/>
          <p:nvPr/>
        </p:nvSpPr>
        <p:spPr>
          <a:xfrm>
            <a:off x="8851392" y="5033772"/>
            <a:ext cx="201168" cy="91440"/>
          </a:xfrm>
          <a:prstGeom prst="rect">
            <a:avLst/>
          </a:prstGeom>
          <a:solidFill>
            <a:srgbClr val="7B1A15"/>
          </a:solidFill>
          <a:ln w="12700">
            <a:solidFill>
              <a:srgbClr val="7B1A15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54" name="Shape 52"/>
          <p:cNvSpPr/>
          <p:nvPr/>
        </p:nvSpPr>
        <p:spPr>
          <a:xfrm>
            <a:off x="1097280" y="822960"/>
            <a:ext cx="6949440" cy="3474720"/>
          </a:xfrm>
          <a:prstGeom prst="rect">
            <a:avLst/>
          </a:prstGeom>
          <a:solidFill>
            <a:srgbClr val="0D0D18"/>
          </a:solidFill>
          <a:ln w="6350">
            <a:solidFill>
              <a:srgbClr val="1C1C30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55" name="Shape 53"/>
          <p:cNvSpPr/>
          <p:nvPr/>
        </p:nvSpPr>
        <p:spPr>
          <a:xfrm>
            <a:off x="1097280" y="822960"/>
            <a:ext cx="164592" cy="3474720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56" name="Shape 54"/>
          <p:cNvSpPr/>
          <p:nvPr/>
        </p:nvSpPr>
        <p:spPr>
          <a:xfrm>
            <a:off x="1371600" y="896112"/>
            <a:ext cx="73152" cy="109728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57" name="Shape 55"/>
          <p:cNvSpPr/>
          <p:nvPr/>
        </p:nvSpPr>
        <p:spPr>
          <a:xfrm>
            <a:off x="1490472" y="896112"/>
            <a:ext cx="73152" cy="109728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58" name="Shape 56"/>
          <p:cNvSpPr/>
          <p:nvPr/>
        </p:nvSpPr>
        <p:spPr>
          <a:xfrm>
            <a:off x="1609344" y="896112"/>
            <a:ext cx="73152" cy="109728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59" name="Text 57"/>
          <p:cNvSpPr/>
          <p:nvPr/>
        </p:nvSpPr>
        <p:spPr>
          <a:xfrm>
            <a:off x="1463040" y="1188720"/>
            <a:ext cx="62179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200" b="1" dirty="0">
                <a:solidFill>
                  <a:srgbClr val="E8E8E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CineBot</a:t>
            </a:r>
            <a:endParaRPr lang="en-US" sz="6200" dirty="0"/>
          </a:p>
        </p:txBody>
      </p:sp>
      <p:sp>
        <p:nvSpPr>
          <p:cNvPr id="60" name="Text 58"/>
          <p:cNvSpPr/>
          <p:nvPr/>
        </p:nvSpPr>
        <p:spPr>
          <a:xfrm>
            <a:off x="1463040" y="2148840"/>
            <a:ext cx="6217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kern="0" spc="300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YAPAY ZEKA DESTEKLİ FİLM ÖNERİ SİSTEMİ</a:t>
            </a:r>
            <a:endParaRPr lang="en-US" sz="1100" dirty="0"/>
          </a:p>
        </p:txBody>
      </p:sp>
      <p:sp>
        <p:nvSpPr>
          <p:cNvPr id="61" name="Shape 59"/>
          <p:cNvSpPr/>
          <p:nvPr/>
        </p:nvSpPr>
        <p:spPr>
          <a:xfrm>
            <a:off x="1463040" y="2606040"/>
            <a:ext cx="5486400" cy="0"/>
          </a:xfrm>
          <a:prstGeom prst="line">
            <a:avLst/>
          </a:prstGeom>
          <a:noFill/>
          <a:ln w="6350">
            <a:solidFill>
              <a:srgbClr val="252540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62" name="Text 60"/>
          <p:cNvSpPr/>
          <p:nvPr/>
        </p:nvSpPr>
        <p:spPr>
          <a:xfrm>
            <a:off x="1463040" y="2743200"/>
            <a:ext cx="6217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E74C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RAG</a:t>
            </a:r>
            <a:r>
              <a:rPr lang="en-US" sz="1100" dirty="0">
                <a:solidFill>
                  <a:srgbClr val="8888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·  FAISS Vektör Veritabanı  ·  GPT-4o-mini  ·  FastAPI  ·  Duygu Analizi</a:t>
            </a:r>
            <a:endParaRPr lang="en-US" sz="1100" dirty="0"/>
          </a:p>
        </p:txBody>
      </p:sp>
      <p:sp>
        <p:nvSpPr>
          <p:cNvPr id="63" name="Shape 61"/>
          <p:cNvSpPr/>
          <p:nvPr/>
        </p:nvSpPr>
        <p:spPr>
          <a:xfrm>
            <a:off x="1645920" y="3246120"/>
            <a:ext cx="1554480" cy="777240"/>
          </a:xfrm>
          <a:prstGeom prst="rect">
            <a:avLst/>
          </a:prstGeom>
          <a:solidFill>
            <a:srgbClr val="111120"/>
          </a:solidFill>
          <a:ln w="6350">
            <a:solidFill>
              <a:srgbClr val="1C1C30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64" name="Text 62"/>
          <p:cNvSpPr/>
          <p:nvPr/>
        </p:nvSpPr>
        <p:spPr>
          <a:xfrm>
            <a:off x="1645920" y="3291840"/>
            <a:ext cx="1554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E74C3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900K+</a:t>
            </a:r>
            <a:endParaRPr lang="en-US" sz="1800" dirty="0"/>
          </a:p>
        </p:txBody>
      </p:sp>
      <p:sp>
        <p:nvSpPr>
          <p:cNvPr id="65" name="Text 63"/>
          <p:cNvSpPr/>
          <p:nvPr/>
        </p:nvSpPr>
        <p:spPr>
          <a:xfrm>
            <a:off x="1645920" y="3621024"/>
            <a:ext cx="1554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kern="0" spc="150" dirty="0">
                <a:solidFill>
                  <a:srgbClr val="444455"/>
                </a:solidFill>
              </a:rPr>
              <a:t>Film</a:t>
            </a:r>
            <a:endParaRPr lang="en-US" sz="800" dirty="0"/>
          </a:p>
        </p:txBody>
      </p:sp>
      <p:sp>
        <p:nvSpPr>
          <p:cNvPr id="66" name="Shape 64"/>
          <p:cNvSpPr/>
          <p:nvPr/>
        </p:nvSpPr>
        <p:spPr>
          <a:xfrm>
            <a:off x="3566160" y="3246120"/>
            <a:ext cx="1554480" cy="777240"/>
          </a:xfrm>
          <a:prstGeom prst="rect">
            <a:avLst/>
          </a:prstGeom>
          <a:solidFill>
            <a:srgbClr val="111120"/>
          </a:solidFill>
          <a:ln w="6350">
            <a:solidFill>
              <a:srgbClr val="1C1C30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67" name="Text 65"/>
          <p:cNvSpPr/>
          <p:nvPr/>
        </p:nvSpPr>
        <p:spPr>
          <a:xfrm>
            <a:off x="3566160" y="3291840"/>
            <a:ext cx="1554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E74C3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FAISS</a:t>
            </a:r>
            <a:endParaRPr lang="en-US" sz="1800" dirty="0"/>
          </a:p>
        </p:txBody>
      </p:sp>
      <p:sp>
        <p:nvSpPr>
          <p:cNvPr id="68" name="Text 66"/>
          <p:cNvSpPr/>
          <p:nvPr/>
        </p:nvSpPr>
        <p:spPr>
          <a:xfrm>
            <a:off x="3566160" y="3621024"/>
            <a:ext cx="1554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kern="0" spc="150" dirty="0">
                <a:solidFill>
                  <a:srgbClr val="444455"/>
                </a:solidFill>
              </a:rPr>
              <a:t>Vektör DB</a:t>
            </a:r>
            <a:endParaRPr lang="en-US" sz="800" dirty="0"/>
          </a:p>
        </p:txBody>
      </p:sp>
      <p:sp>
        <p:nvSpPr>
          <p:cNvPr id="69" name="Shape 67"/>
          <p:cNvSpPr/>
          <p:nvPr/>
        </p:nvSpPr>
        <p:spPr>
          <a:xfrm>
            <a:off x="5486400" y="3246120"/>
            <a:ext cx="1554480" cy="777240"/>
          </a:xfrm>
          <a:prstGeom prst="rect">
            <a:avLst/>
          </a:prstGeom>
          <a:solidFill>
            <a:srgbClr val="111120"/>
          </a:solidFill>
          <a:ln w="6350">
            <a:solidFill>
              <a:srgbClr val="1C1C30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70" name="Text 68"/>
          <p:cNvSpPr/>
          <p:nvPr/>
        </p:nvSpPr>
        <p:spPr>
          <a:xfrm>
            <a:off x="5486400" y="3291840"/>
            <a:ext cx="1554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E74C3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MMR</a:t>
            </a:r>
            <a:endParaRPr lang="en-US" sz="1800" dirty="0"/>
          </a:p>
        </p:txBody>
      </p:sp>
      <p:sp>
        <p:nvSpPr>
          <p:cNvPr id="71" name="Text 69"/>
          <p:cNvSpPr/>
          <p:nvPr/>
        </p:nvSpPr>
        <p:spPr>
          <a:xfrm>
            <a:off x="5486400" y="3621024"/>
            <a:ext cx="1554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kern="0" spc="150" dirty="0">
                <a:solidFill>
                  <a:srgbClr val="444455"/>
                </a:solidFill>
              </a:rPr>
              <a:t>Arama</a:t>
            </a:r>
            <a:endParaRPr lang="en-US" sz="800" dirty="0"/>
          </a:p>
        </p:txBody>
      </p:sp>
      <p:sp>
        <p:nvSpPr>
          <p:cNvPr id="72" name="Text 70"/>
          <p:cNvSpPr/>
          <p:nvPr/>
        </p:nvSpPr>
        <p:spPr>
          <a:xfrm>
            <a:off x="0" y="4773168"/>
            <a:ext cx="9144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tr-TR" sz="900" dirty="0">
                <a:solidFill>
                  <a:schemeClr val="bg1"/>
                </a:solidFill>
              </a:rPr>
              <a:t>Batouchan RIZA-032190089</a:t>
            </a:r>
            <a:endParaRPr lang="en-US" sz="900" dirty="0">
              <a:solidFill>
                <a:schemeClr val="bg1"/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8080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3" name="Shape 1"/>
          <p:cNvSpPr/>
          <p:nvPr/>
        </p:nvSpPr>
        <p:spPr>
          <a:xfrm>
            <a:off x="73152" y="18288"/>
            <a:ext cx="201168" cy="54864"/>
          </a:xfrm>
          <a:prstGeom prst="rect">
            <a:avLst/>
          </a:prstGeom>
          <a:solidFill>
            <a:srgbClr val="7B1A15"/>
          </a:solidFill>
          <a:ln w="12700">
            <a:solidFill>
              <a:srgbClr val="7B1A15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4" name="Shape 2"/>
          <p:cNvSpPr/>
          <p:nvPr/>
        </p:nvSpPr>
        <p:spPr>
          <a:xfrm>
            <a:off x="438912" y="18288"/>
            <a:ext cx="201168" cy="54864"/>
          </a:xfrm>
          <a:prstGeom prst="rect">
            <a:avLst/>
          </a:prstGeom>
          <a:solidFill>
            <a:srgbClr val="7B1A15"/>
          </a:solidFill>
          <a:ln w="12700">
            <a:solidFill>
              <a:srgbClr val="7B1A15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5" name="Shape 3"/>
          <p:cNvSpPr/>
          <p:nvPr/>
        </p:nvSpPr>
        <p:spPr>
          <a:xfrm>
            <a:off x="804672" y="18288"/>
            <a:ext cx="201168" cy="54864"/>
          </a:xfrm>
          <a:prstGeom prst="rect">
            <a:avLst/>
          </a:prstGeom>
          <a:solidFill>
            <a:srgbClr val="7B1A15"/>
          </a:solidFill>
          <a:ln w="12700">
            <a:solidFill>
              <a:srgbClr val="7B1A15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6" name="Shape 4"/>
          <p:cNvSpPr/>
          <p:nvPr/>
        </p:nvSpPr>
        <p:spPr>
          <a:xfrm>
            <a:off x="1170432" y="18288"/>
            <a:ext cx="201168" cy="54864"/>
          </a:xfrm>
          <a:prstGeom prst="rect">
            <a:avLst/>
          </a:prstGeom>
          <a:solidFill>
            <a:srgbClr val="7B1A15"/>
          </a:solidFill>
          <a:ln w="12700">
            <a:solidFill>
              <a:srgbClr val="7B1A15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7" name="Shape 5"/>
          <p:cNvSpPr/>
          <p:nvPr/>
        </p:nvSpPr>
        <p:spPr>
          <a:xfrm>
            <a:off x="1536192" y="18288"/>
            <a:ext cx="201168" cy="54864"/>
          </a:xfrm>
          <a:prstGeom prst="rect">
            <a:avLst/>
          </a:prstGeom>
          <a:solidFill>
            <a:srgbClr val="7B1A15"/>
          </a:solidFill>
          <a:ln w="12700">
            <a:solidFill>
              <a:srgbClr val="7B1A15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8" name="Shape 6"/>
          <p:cNvSpPr/>
          <p:nvPr/>
        </p:nvSpPr>
        <p:spPr>
          <a:xfrm>
            <a:off x="1901952" y="18288"/>
            <a:ext cx="201168" cy="54864"/>
          </a:xfrm>
          <a:prstGeom prst="rect">
            <a:avLst/>
          </a:prstGeom>
          <a:solidFill>
            <a:srgbClr val="7B1A15"/>
          </a:solidFill>
          <a:ln w="12700">
            <a:solidFill>
              <a:srgbClr val="7B1A15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9" name="Shape 7"/>
          <p:cNvSpPr/>
          <p:nvPr/>
        </p:nvSpPr>
        <p:spPr>
          <a:xfrm>
            <a:off x="2267712" y="18288"/>
            <a:ext cx="201168" cy="54864"/>
          </a:xfrm>
          <a:prstGeom prst="rect">
            <a:avLst/>
          </a:prstGeom>
          <a:solidFill>
            <a:srgbClr val="7B1A15"/>
          </a:solidFill>
          <a:ln w="12700">
            <a:solidFill>
              <a:srgbClr val="7B1A15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10" name="Shape 8"/>
          <p:cNvSpPr/>
          <p:nvPr/>
        </p:nvSpPr>
        <p:spPr>
          <a:xfrm>
            <a:off x="2633472" y="18288"/>
            <a:ext cx="201168" cy="54864"/>
          </a:xfrm>
          <a:prstGeom prst="rect">
            <a:avLst/>
          </a:prstGeom>
          <a:solidFill>
            <a:srgbClr val="7B1A15"/>
          </a:solidFill>
          <a:ln w="12700">
            <a:solidFill>
              <a:srgbClr val="7B1A15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11" name="Shape 9"/>
          <p:cNvSpPr/>
          <p:nvPr/>
        </p:nvSpPr>
        <p:spPr>
          <a:xfrm>
            <a:off x="2999232" y="18288"/>
            <a:ext cx="201168" cy="54864"/>
          </a:xfrm>
          <a:prstGeom prst="rect">
            <a:avLst/>
          </a:prstGeom>
          <a:solidFill>
            <a:srgbClr val="7B1A15"/>
          </a:solidFill>
          <a:ln w="12700">
            <a:solidFill>
              <a:srgbClr val="7B1A15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12" name="Shape 10"/>
          <p:cNvSpPr/>
          <p:nvPr/>
        </p:nvSpPr>
        <p:spPr>
          <a:xfrm>
            <a:off x="3364992" y="18288"/>
            <a:ext cx="201168" cy="54864"/>
          </a:xfrm>
          <a:prstGeom prst="rect">
            <a:avLst/>
          </a:prstGeom>
          <a:solidFill>
            <a:srgbClr val="7B1A15"/>
          </a:solidFill>
          <a:ln w="12700">
            <a:solidFill>
              <a:srgbClr val="7B1A15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13" name="Shape 11"/>
          <p:cNvSpPr/>
          <p:nvPr/>
        </p:nvSpPr>
        <p:spPr>
          <a:xfrm>
            <a:off x="3730752" y="18288"/>
            <a:ext cx="201168" cy="54864"/>
          </a:xfrm>
          <a:prstGeom prst="rect">
            <a:avLst/>
          </a:prstGeom>
          <a:solidFill>
            <a:srgbClr val="7B1A15"/>
          </a:solidFill>
          <a:ln w="12700">
            <a:solidFill>
              <a:srgbClr val="7B1A15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14" name="Shape 12"/>
          <p:cNvSpPr/>
          <p:nvPr/>
        </p:nvSpPr>
        <p:spPr>
          <a:xfrm>
            <a:off x="4096512" y="18288"/>
            <a:ext cx="201168" cy="54864"/>
          </a:xfrm>
          <a:prstGeom prst="rect">
            <a:avLst/>
          </a:prstGeom>
          <a:solidFill>
            <a:srgbClr val="7B1A15"/>
          </a:solidFill>
          <a:ln w="12700">
            <a:solidFill>
              <a:srgbClr val="7B1A15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15" name="Shape 13"/>
          <p:cNvSpPr/>
          <p:nvPr/>
        </p:nvSpPr>
        <p:spPr>
          <a:xfrm>
            <a:off x="4462272" y="18288"/>
            <a:ext cx="201168" cy="54864"/>
          </a:xfrm>
          <a:prstGeom prst="rect">
            <a:avLst/>
          </a:prstGeom>
          <a:solidFill>
            <a:srgbClr val="7B1A15"/>
          </a:solidFill>
          <a:ln w="12700">
            <a:solidFill>
              <a:srgbClr val="7B1A15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16" name="Shape 14"/>
          <p:cNvSpPr/>
          <p:nvPr/>
        </p:nvSpPr>
        <p:spPr>
          <a:xfrm>
            <a:off x="4828032" y="18288"/>
            <a:ext cx="201168" cy="54864"/>
          </a:xfrm>
          <a:prstGeom prst="rect">
            <a:avLst/>
          </a:prstGeom>
          <a:solidFill>
            <a:srgbClr val="7B1A15"/>
          </a:solidFill>
          <a:ln w="12700">
            <a:solidFill>
              <a:srgbClr val="7B1A15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17" name="Shape 15"/>
          <p:cNvSpPr/>
          <p:nvPr/>
        </p:nvSpPr>
        <p:spPr>
          <a:xfrm>
            <a:off x="5193792" y="18288"/>
            <a:ext cx="201168" cy="54864"/>
          </a:xfrm>
          <a:prstGeom prst="rect">
            <a:avLst/>
          </a:prstGeom>
          <a:solidFill>
            <a:srgbClr val="7B1A15"/>
          </a:solidFill>
          <a:ln w="12700">
            <a:solidFill>
              <a:srgbClr val="7B1A15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18" name="Shape 16"/>
          <p:cNvSpPr/>
          <p:nvPr/>
        </p:nvSpPr>
        <p:spPr>
          <a:xfrm>
            <a:off x="5559552" y="18288"/>
            <a:ext cx="201168" cy="54864"/>
          </a:xfrm>
          <a:prstGeom prst="rect">
            <a:avLst/>
          </a:prstGeom>
          <a:solidFill>
            <a:srgbClr val="7B1A15"/>
          </a:solidFill>
          <a:ln w="12700">
            <a:solidFill>
              <a:srgbClr val="7B1A15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19" name="Shape 17"/>
          <p:cNvSpPr/>
          <p:nvPr/>
        </p:nvSpPr>
        <p:spPr>
          <a:xfrm>
            <a:off x="5925312" y="18288"/>
            <a:ext cx="201168" cy="54864"/>
          </a:xfrm>
          <a:prstGeom prst="rect">
            <a:avLst/>
          </a:prstGeom>
          <a:solidFill>
            <a:srgbClr val="7B1A15"/>
          </a:solidFill>
          <a:ln w="12700">
            <a:solidFill>
              <a:srgbClr val="7B1A15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20" name="Shape 18"/>
          <p:cNvSpPr/>
          <p:nvPr/>
        </p:nvSpPr>
        <p:spPr>
          <a:xfrm>
            <a:off x="6291072" y="18288"/>
            <a:ext cx="201168" cy="54864"/>
          </a:xfrm>
          <a:prstGeom prst="rect">
            <a:avLst/>
          </a:prstGeom>
          <a:solidFill>
            <a:srgbClr val="7B1A15"/>
          </a:solidFill>
          <a:ln w="12700">
            <a:solidFill>
              <a:srgbClr val="7B1A15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21" name="Shape 19"/>
          <p:cNvSpPr/>
          <p:nvPr/>
        </p:nvSpPr>
        <p:spPr>
          <a:xfrm>
            <a:off x="6656832" y="18288"/>
            <a:ext cx="201168" cy="54864"/>
          </a:xfrm>
          <a:prstGeom prst="rect">
            <a:avLst/>
          </a:prstGeom>
          <a:solidFill>
            <a:srgbClr val="7B1A15"/>
          </a:solidFill>
          <a:ln w="12700">
            <a:solidFill>
              <a:srgbClr val="7B1A15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22" name="Shape 20"/>
          <p:cNvSpPr/>
          <p:nvPr/>
        </p:nvSpPr>
        <p:spPr>
          <a:xfrm>
            <a:off x="7022592" y="18288"/>
            <a:ext cx="201168" cy="54864"/>
          </a:xfrm>
          <a:prstGeom prst="rect">
            <a:avLst/>
          </a:prstGeom>
          <a:solidFill>
            <a:srgbClr val="7B1A15"/>
          </a:solidFill>
          <a:ln w="12700">
            <a:solidFill>
              <a:srgbClr val="7B1A15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23" name="Shape 21"/>
          <p:cNvSpPr/>
          <p:nvPr/>
        </p:nvSpPr>
        <p:spPr>
          <a:xfrm>
            <a:off x="7388352" y="18288"/>
            <a:ext cx="201168" cy="54864"/>
          </a:xfrm>
          <a:prstGeom prst="rect">
            <a:avLst/>
          </a:prstGeom>
          <a:solidFill>
            <a:srgbClr val="7B1A15"/>
          </a:solidFill>
          <a:ln w="12700">
            <a:solidFill>
              <a:srgbClr val="7B1A15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24" name="Shape 22"/>
          <p:cNvSpPr/>
          <p:nvPr/>
        </p:nvSpPr>
        <p:spPr>
          <a:xfrm>
            <a:off x="7754112" y="18288"/>
            <a:ext cx="201168" cy="54864"/>
          </a:xfrm>
          <a:prstGeom prst="rect">
            <a:avLst/>
          </a:prstGeom>
          <a:solidFill>
            <a:srgbClr val="7B1A15"/>
          </a:solidFill>
          <a:ln w="12700">
            <a:solidFill>
              <a:srgbClr val="7B1A15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25" name="Shape 23"/>
          <p:cNvSpPr/>
          <p:nvPr/>
        </p:nvSpPr>
        <p:spPr>
          <a:xfrm>
            <a:off x="8119872" y="18288"/>
            <a:ext cx="201168" cy="54864"/>
          </a:xfrm>
          <a:prstGeom prst="rect">
            <a:avLst/>
          </a:prstGeom>
          <a:solidFill>
            <a:srgbClr val="7B1A15"/>
          </a:solidFill>
          <a:ln w="12700">
            <a:solidFill>
              <a:srgbClr val="7B1A15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26" name="Shape 24"/>
          <p:cNvSpPr/>
          <p:nvPr/>
        </p:nvSpPr>
        <p:spPr>
          <a:xfrm>
            <a:off x="8485632" y="18288"/>
            <a:ext cx="201168" cy="54864"/>
          </a:xfrm>
          <a:prstGeom prst="rect">
            <a:avLst/>
          </a:prstGeom>
          <a:solidFill>
            <a:srgbClr val="7B1A15"/>
          </a:solidFill>
          <a:ln w="12700">
            <a:solidFill>
              <a:srgbClr val="7B1A15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27" name="Shape 25"/>
          <p:cNvSpPr/>
          <p:nvPr/>
        </p:nvSpPr>
        <p:spPr>
          <a:xfrm>
            <a:off x="8851392" y="18288"/>
            <a:ext cx="201168" cy="54864"/>
          </a:xfrm>
          <a:prstGeom prst="rect">
            <a:avLst/>
          </a:prstGeom>
          <a:solidFill>
            <a:srgbClr val="7B1A15"/>
          </a:solidFill>
          <a:ln w="12700">
            <a:solidFill>
              <a:srgbClr val="7B1A15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28" name="Text 26"/>
          <p:cNvSpPr/>
          <p:nvPr/>
        </p:nvSpPr>
        <p:spPr>
          <a:xfrm>
            <a:off x="457200" y="201168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E8E8E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Proje Amacı</a:t>
            </a:r>
            <a:endParaRPr lang="en-US" sz="2600" dirty="0"/>
          </a:p>
        </p:txBody>
      </p:sp>
      <p:sp>
        <p:nvSpPr>
          <p:cNvPr id="29" name="Shape 27"/>
          <p:cNvSpPr/>
          <p:nvPr/>
        </p:nvSpPr>
        <p:spPr>
          <a:xfrm>
            <a:off x="457200" y="713232"/>
            <a:ext cx="8229600" cy="0"/>
          </a:xfrm>
          <a:prstGeom prst="line">
            <a:avLst/>
          </a:prstGeom>
          <a:noFill/>
          <a:ln w="6350">
            <a:solidFill>
              <a:srgbClr val="252540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30" name="Shape 28"/>
          <p:cNvSpPr/>
          <p:nvPr/>
        </p:nvSpPr>
        <p:spPr>
          <a:xfrm>
            <a:off x="457200" y="868680"/>
            <a:ext cx="54864" cy="3474720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31" name="Text 29"/>
          <p:cNvSpPr/>
          <p:nvPr/>
        </p:nvSpPr>
        <p:spPr>
          <a:xfrm>
            <a:off x="640080" y="868680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E8E8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Kişiselleştirilmiş Öneri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640080" y="1124712"/>
            <a:ext cx="38404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888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Kullanıcı sorgusunu anlamlandırarak sohbet bağlamına duyarlı film önerileri üretir.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640080" y="1828800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E8E8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Duygu Farkındalığı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640080" y="2084832"/>
            <a:ext cx="38404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888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Her filmle ilişkilendirilmiş duygu etiketi (joy, sadness vb.) filtreleme ve eşleştirme sürecinde kullanılır.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640080" y="2788920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E8E8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Büyük Veri Üzerinde Arama</a:t>
            </a:r>
            <a:endParaRPr lang="en-US" sz="1200" dirty="0"/>
          </a:p>
        </p:txBody>
      </p:sp>
      <p:sp>
        <p:nvSpPr>
          <p:cNvPr id="36" name="Text 34"/>
          <p:cNvSpPr/>
          <p:nvPr/>
        </p:nvSpPr>
        <p:spPr>
          <a:xfrm>
            <a:off x="640080" y="3044952"/>
            <a:ext cx="38404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888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900K+ filmlik veri kümesinde FAISS ile milisaniyeler içinde anlamsal arama yapılır.</a:t>
            </a:r>
            <a:endParaRPr lang="en-US" sz="1000" dirty="0"/>
          </a:p>
        </p:txBody>
      </p:sp>
      <p:sp>
        <p:nvSpPr>
          <p:cNvPr id="37" name="Text 35"/>
          <p:cNvSpPr/>
          <p:nvPr/>
        </p:nvSpPr>
        <p:spPr>
          <a:xfrm>
            <a:off x="640080" y="3749040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E8E8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Konuşmalı Arayüz</a:t>
            </a:r>
            <a:endParaRPr lang="en-US" sz="1200" dirty="0"/>
          </a:p>
        </p:txBody>
      </p:sp>
      <p:sp>
        <p:nvSpPr>
          <p:cNvPr id="38" name="Text 36"/>
          <p:cNvSpPr/>
          <p:nvPr/>
        </p:nvSpPr>
        <p:spPr>
          <a:xfrm>
            <a:off x="640080" y="4005072"/>
            <a:ext cx="38404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888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FastAPI + sade HTML/JS arayüzüyle kullanıcılar doğal dilde film isteyebilir.</a:t>
            </a:r>
            <a:endParaRPr lang="en-US" sz="1000" dirty="0"/>
          </a:p>
        </p:txBody>
      </p:sp>
      <p:sp>
        <p:nvSpPr>
          <p:cNvPr id="39" name="Shape 37"/>
          <p:cNvSpPr/>
          <p:nvPr/>
        </p:nvSpPr>
        <p:spPr>
          <a:xfrm>
            <a:off x="4846320" y="822960"/>
            <a:ext cx="3840480" cy="3657600"/>
          </a:xfrm>
          <a:prstGeom prst="rect">
            <a:avLst/>
          </a:prstGeom>
          <a:solidFill>
            <a:srgbClr val="0D0D18"/>
          </a:solidFill>
          <a:ln w="6350">
            <a:solidFill>
              <a:srgbClr val="1C1C30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40" name="Shape 38"/>
          <p:cNvSpPr/>
          <p:nvPr/>
        </p:nvSpPr>
        <p:spPr>
          <a:xfrm>
            <a:off x="4846320" y="822960"/>
            <a:ext cx="109728" cy="3657600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41" name="Text 39"/>
          <p:cNvSpPr/>
          <p:nvPr/>
        </p:nvSpPr>
        <p:spPr>
          <a:xfrm>
            <a:off x="5120640" y="1371600"/>
            <a:ext cx="32918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E8E8E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"Kullanıcının ne izlemek istediğini anla,</a:t>
            </a:r>
            <a:endParaRPr lang="en-US" sz="1400" dirty="0"/>
          </a:p>
          <a:p>
            <a:pPr marL="0" indent="0">
              <a:buNone/>
            </a:pPr>
            <a:r>
              <a:rPr lang="en-US" sz="1400" i="1" dirty="0">
                <a:solidFill>
                  <a:srgbClr val="E8E8E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gecenin filmini bul."</a:t>
            </a:r>
            <a:endParaRPr lang="en-US" sz="1400" dirty="0"/>
          </a:p>
        </p:txBody>
      </p:sp>
      <p:sp>
        <p:nvSpPr>
          <p:cNvPr id="42" name="Shape 40"/>
          <p:cNvSpPr/>
          <p:nvPr/>
        </p:nvSpPr>
        <p:spPr>
          <a:xfrm>
            <a:off x="5120640" y="2606040"/>
            <a:ext cx="2926080" cy="0"/>
          </a:xfrm>
          <a:prstGeom prst="line">
            <a:avLst/>
          </a:prstGeom>
          <a:noFill/>
          <a:ln w="6350">
            <a:solidFill>
              <a:srgbClr val="252540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43" name="Text 41"/>
          <p:cNvSpPr/>
          <p:nvPr/>
        </p:nvSpPr>
        <p:spPr>
          <a:xfrm>
            <a:off x="5120640" y="2697480"/>
            <a:ext cx="2926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kern="0" spc="150" dirty="0">
                <a:solidFill>
                  <a:srgbClr val="C0392B"/>
                </a:solidFill>
              </a:rPr>
              <a:t>Proje Motivasyonu</a:t>
            </a:r>
            <a:endParaRPr lang="en-US" sz="900" dirty="0"/>
          </a:p>
        </p:txBody>
      </p:sp>
      <p:sp>
        <p:nvSpPr>
          <p:cNvPr id="44" name="Shape 42"/>
          <p:cNvSpPr/>
          <p:nvPr/>
        </p:nvSpPr>
        <p:spPr>
          <a:xfrm>
            <a:off x="5074920" y="3246120"/>
            <a:ext cx="1600200" cy="347472"/>
          </a:xfrm>
          <a:prstGeom prst="rect">
            <a:avLst/>
          </a:prstGeom>
          <a:solidFill>
            <a:srgbClr val="111120"/>
          </a:solidFill>
          <a:ln w="6350">
            <a:solidFill>
              <a:srgbClr val="1C1C30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45" name="Shape 43"/>
          <p:cNvSpPr/>
          <p:nvPr/>
        </p:nvSpPr>
        <p:spPr>
          <a:xfrm>
            <a:off x="5074920" y="3246120"/>
            <a:ext cx="45720" cy="347472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46" name="Text 44"/>
          <p:cNvSpPr/>
          <p:nvPr/>
        </p:nvSpPr>
        <p:spPr>
          <a:xfrm>
            <a:off x="5166360" y="3246120"/>
            <a:ext cx="1463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8888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GPT-4o-mini</a:t>
            </a:r>
            <a:endParaRPr lang="en-US" sz="1000" dirty="0"/>
          </a:p>
        </p:txBody>
      </p:sp>
      <p:sp>
        <p:nvSpPr>
          <p:cNvPr id="47" name="Shape 45"/>
          <p:cNvSpPr/>
          <p:nvPr/>
        </p:nvSpPr>
        <p:spPr>
          <a:xfrm>
            <a:off x="6858000" y="3246120"/>
            <a:ext cx="1600200" cy="347472"/>
          </a:xfrm>
          <a:prstGeom prst="rect">
            <a:avLst/>
          </a:prstGeom>
          <a:solidFill>
            <a:srgbClr val="111120"/>
          </a:solidFill>
          <a:ln w="6350">
            <a:solidFill>
              <a:srgbClr val="1C1C30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48" name="Shape 46"/>
          <p:cNvSpPr/>
          <p:nvPr/>
        </p:nvSpPr>
        <p:spPr>
          <a:xfrm>
            <a:off x="6858000" y="3246120"/>
            <a:ext cx="45720" cy="347472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49" name="Text 47"/>
          <p:cNvSpPr/>
          <p:nvPr/>
        </p:nvSpPr>
        <p:spPr>
          <a:xfrm>
            <a:off x="6949440" y="3246120"/>
            <a:ext cx="1463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8888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FAISS</a:t>
            </a:r>
            <a:endParaRPr lang="en-US" sz="1000" dirty="0"/>
          </a:p>
        </p:txBody>
      </p:sp>
      <p:sp>
        <p:nvSpPr>
          <p:cNvPr id="50" name="Shape 48"/>
          <p:cNvSpPr/>
          <p:nvPr/>
        </p:nvSpPr>
        <p:spPr>
          <a:xfrm>
            <a:off x="5074920" y="3749040"/>
            <a:ext cx="1600200" cy="347472"/>
          </a:xfrm>
          <a:prstGeom prst="rect">
            <a:avLst/>
          </a:prstGeom>
          <a:solidFill>
            <a:srgbClr val="111120"/>
          </a:solidFill>
          <a:ln w="6350">
            <a:solidFill>
              <a:srgbClr val="1C1C30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51" name="Shape 49"/>
          <p:cNvSpPr/>
          <p:nvPr/>
        </p:nvSpPr>
        <p:spPr>
          <a:xfrm>
            <a:off x="5074920" y="3749040"/>
            <a:ext cx="45720" cy="347472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52" name="Text 50"/>
          <p:cNvSpPr/>
          <p:nvPr/>
        </p:nvSpPr>
        <p:spPr>
          <a:xfrm>
            <a:off x="5166360" y="3749040"/>
            <a:ext cx="1463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8888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FastAPI</a:t>
            </a:r>
            <a:endParaRPr lang="en-US" sz="1000" dirty="0"/>
          </a:p>
        </p:txBody>
      </p:sp>
      <p:sp>
        <p:nvSpPr>
          <p:cNvPr id="53" name="Shape 51"/>
          <p:cNvSpPr/>
          <p:nvPr/>
        </p:nvSpPr>
        <p:spPr>
          <a:xfrm>
            <a:off x="6858000" y="3749040"/>
            <a:ext cx="1600200" cy="347472"/>
          </a:xfrm>
          <a:prstGeom prst="rect">
            <a:avLst/>
          </a:prstGeom>
          <a:solidFill>
            <a:srgbClr val="111120"/>
          </a:solidFill>
          <a:ln w="6350">
            <a:solidFill>
              <a:srgbClr val="1C1C30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54" name="Shape 52"/>
          <p:cNvSpPr/>
          <p:nvPr/>
        </p:nvSpPr>
        <p:spPr>
          <a:xfrm>
            <a:off x="6858000" y="3749040"/>
            <a:ext cx="45720" cy="347472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55" name="Text 53"/>
          <p:cNvSpPr/>
          <p:nvPr/>
        </p:nvSpPr>
        <p:spPr>
          <a:xfrm>
            <a:off x="6949440" y="3749040"/>
            <a:ext cx="1463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8888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LangChain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8080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3" name="Shape 1"/>
          <p:cNvSpPr/>
          <p:nvPr/>
        </p:nvSpPr>
        <p:spPr>
          <a:xfrm>
            <a:off x="73152" y="18288"/>
            <a:ext cx="201168" cy="54864"/>
          </a:xfrm>
          <a:prstGeom prst="rect">
            <a:avLst/>
          </a:prstGeom>
          <a:solidFill>
            <a:srgbClr val="7B1A15"/>
          </a:solidFill>
          <a:ln w="12700">
            <a:solidFill>
              <a:srgbClr val="7B1A15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4" name="Shape 2"/>
          <p:cNvSpPr/>
          <p:nvPr/>
        </p:nvSpPr>
        <p:spPr>
          <a:xfrm>
            <a:off x="438912" y="18288"/>
            <a:ext cx="201168" cy="54864"/>
          </a:xfrm>
          <a:prstGeom prst="rect">
            <a:avLst/>
          </a:prstGeom>
          <a:solidFill>
            <a:srgbClr val="7B1A15"/>
          </a:solidFill>
          <a:ln w="12700">
            <a:solidFill>
              <a:srgbClr val="7B1A15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5" name="Shape 3"/>
          <p:cNvSpPr/>
          <p:nvPr/>
        </p:nvSpPr>
        <p:spPr>
          <a:xfrm>
            <a:off x="804672" y="18288"/>
            <a:ext cx="201168" cy="54864"/>
          </a:xfrm>
          <a:prstGeom prst="rect">
            <a:avLst/>
          </a:prstGeom>
          <a:solidFill>
            <a:srgbClr val="7B1A15"/>
          </a:solidFill>
          <a:ln w="12700">
            <a:solidFill>
              <a:srgbClr val="7B1A15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6" name="Shape 4"/>
          <p:cNvSpPr/>
          <p:nvPr/>
        </p:nvSpPr>
        <p:spPr>
          <a:xfrm>
            <a:off x="1170432" y="18288"/>
            <a:ext cx="201168" cy="54864"/>
          </a:xfrm>
          <a:prstGeom prst="rect">
            <a:avLst/>
          </a:prstGeom>
          <a:solidFill>
            <a:srgbClr val="7B1A15"/>
          </a:solidFill>
          <a:ln w="12700">
            <a:solidFill>
              <a:srgbClr val="7B1A15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7" name="Shape 5"/>
          <p:cNvSpPr/>
          <p:nvPr/>
        </p:nvSpPr>
        <p:spPr>
          <a:xfrm>
            <a:off x="1536192" y="18288"/>
            <a:ext cx="201168" cy="54864"/>
          </a:xfrm>
          <a:prstGeom prst="rect">
            <a:avLst/>
          </a:prstGeom>
          <a:solidFill>
            <a:srgbClr val="7B1A15"/>
          </a:solidFill>
          <a:ln w="12700">
            <a:solidFill>
              <a:srgbClr val="7B1A15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8" name="Shape 6"/>
          <p:cNvSpPr/>
          <p:nvPr/>
        </p:nvSpPr>
        <p:spPr>
          <a:xfrm>
            <a:off x="1901952" y="18288"/>
            <a:ext cx="201168" cy="54864"/>
          </a:xfrm>
          <a:prstGeom prst="rect">
            <a:avLst/>
          </a:prstGeom>
          <a:solidFill>
            <a:srgbClr val="7B1A15"/>
          </a:solidFill>
          <a:ln w="12700">
            <a:solidFill>
              <a:srgbClr val="7B1A15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9" name="Shape 7"/>
          <p:cNvSpPr/>
          <p:nvPr/>
        </p:nvSpPr>
        <p:spPr>
          <a:xfrm>
            <a:off x="2267712" y="18288"/>
            <a:ext cx="201168" cy="54864"/>
          </a:xfrm>
          <a:prstGeom prst="rect">
            <a:avLst/>
          </a:prstGeom>
          <a:solidFill>
            <a:srgbClr val="7B1A15"/>
          </a:solidFill>
          <a:ln w="12700">
            <a:solidFill>
              <a:srgbClr val="7B1A15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10" name="Shape 8"/>
          <p:cNvSpPr/>
          <p:nvPr/>
        </p:nvSpPr>
        <p:spPr>
          <a:xfrm>
            <a:off x="2633472" y="18288"/>
            <a:ext cx="201168" cy="54864"/>
          </a:xfrm>
          <a:prstGeom prst="rect">
            <a:avLst/>
          </a:prstGeom>
          <a:solidFill>
            <a:srgbClr val="7B1A15"/>
          </a:solidFill>
          <a:ln w="12700">
            <a:solidFill>
              <a:srgbClr val="7B1A15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11" name="Shape 9"/>
          <p:cNvSpPr/>
          <p:nvPr/>
        </p:nvSpPr>
        <p:spPr>
          <a:xfrm>
            <a:off x="2999232" y="18288"/>
            <a:ext cx="201168" cy="54864"/>
          </a:xfrm>
          <a:prstGeom prst="rect">
            <a:avLst/>
          </a:prstGeom>
          <a:solidFill>
            <a:srgbClr val="7B1A15"/>
          </a:solidFill>
          <a:ln w="12700">
            <a:solidFill>
              <a:srgbClr val="7B1A15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12" name="Shape 10"/>
          <p:cNvSpPr/>
          <p:nvPr/>
        </p:nvSpPr>
        <p:spPr>
          <a:xfrm>
            <a:off x="3364992" y="18288"/>
            <a:ext cx="201168" cy="54864"/>
          </a:xfrm>
          <a:prstGeom prst="rect">
            <a:avLst/>
          </a:prstGeom>
          <a:solidFill>
            <a:srgbClr val="7B1A15"/>
          </a:solidFill>
          <a:ln w="12700">
            <a:solidFill>
              <a:srgbClr val="7B1A15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13" name="Shape 11"/>
          <p:cNvSpPr/>
          <p:nvPr/>
        </p:nvSpPr>
        <p:spPr>
          <a:xfrm>
            <a:off x="3730752" y="18288"/>
            <a:ext cx="201168" cy="54864"/>
          </a:xfrm>
          <a:prstGeom prst="rect">
            <a:avLst/>
          </a:prstGeom>
          <a:solidFill>
            <a:srgbClr val="7B1A15"/>
          </a:solidFill>
          <a:ln w="12700">
            <a:solidFill>
              <a:srgbClr val="7B1A15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14" name="Shape 12"/>
          <p:cNvSpPr/>
          <p:nvPr/>
        </p:nvSpPr>
        <p:spPr>
          <a:xfrm>
            <a:off x="4096512" y="18288"/>
            <a:ext cx="201168" cy="54864"/>
          </a:xfrm>
          <a:prstGeom prst="rect">
            <a:avLst/>
          </a:prstGeom>
          <a:solidFill>
            <a:srgbClr val="7B1A15"/>
          </a:solidFill>
          <a:ln w="12700">
            <a:solidFill>
              <a:srgbClr val="7B1A15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15" name="Shape 13"/>
          <p:cNvSpPr/>
          <p:nvPr/>
        </p:nvSpPr>
        <p:spPr>
          <a:xfrm>
            <a:off x="4462272" y="18288"/>
            <a:ext cx="201168" cy="54864"/>
          </a:xfrm>
          <a:prstGeom prst="rect">
            <a:avLst/>
          </a:prstGeom>
          <a:solidFill>
            <a:srgbClr val="7B1A15"/>
          </a:solidFill>
          <a:ln w="12700">
            <a:solidFill>
              <a:srgbClr val="7B1A15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16" name="Shape 14"/>
          <p:cNvSpPr/>
          <p:nvPr/>
        </p:nvSpPr>
        <p:spPr>
          <a:xfrm>
            <a:off x="4828032" y="18288"/>
            <a:ext cx="201168" cy="54864"/>
          </a:xfrm>
          <a:prstGeom prst="rect">
            <a:avLst/>
          </a:prstGeom>
          <a:solidFill>
            <a:srgbClr val="7B1A15"/>
          </a:solidFill>
          <a:ln w="12700">
            <a:solidFill>
              <a:srgbClr val="7B1A15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17" name="Shape 15"/>
          <p:cNvSpPr/>
          <p:nvPr/>
        </p:nvSpPr>
        <p:spPr>
          <a:xfrm>
            <a:off x="5193792" y="18288"/>
            <a:ext cx="201168" cy="54864"/>
          </a:xfrm>
          <a:prstGeom prst="rect">
            <a:avLst/>
          </a:prstGeom>
          <a:solidFill>
            <a:srgbClr val="7B1A15"/>
          </a:solidFill>
          <a:ln w="12700">
            <a:solidFill>
              <a:srgbClr val="7B1A15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18" name="Shape 16"/>
          <p:cNvSpPr/>
          <p:nvPr/>
        </p:nvSpPr>
        <p:spPr>
          <a:xfrm>
            <a:off x="5559552" y="18288"/>
            <a:ext cx="201168" cy="54864"/>
          </a:xfrm>
          <a:prstGeom prst="rect">
            <a:avLst/>
          </a:prstGeom>
          <a:solidFill>
            <a:srgbClr val="7B1A15"/>
          </a:solidFill>
          <a:ln w="12700">
            <a:solidFill>
              <a:srgbClr val="7B1A15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19" name="Shape 17"/>
          <p:cNvSpPr/>
          <p:nvPr/>
        </p:nvSpPr>
        <p:spPr>
          <a:xfrm>
            <a:off x="5925312" y="18288"/>
            <a:ext cx="201168" cy="54864"/>
          </a:xfrm>
          <a:prstGeom prst="rect">
            <a:avLst/>
          </a:prstGeom>
          <a:solidFill>
            <a:srgbClr val="7B1A15"/>
          </a:solidFill>
          <a:ln w="12700">
            <a:solidFill>
              <a:srgbClr val="7B1A15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20" name="Shape 18"/>
          <p:cNvSpPr/>
          <p:nvPr/>
        </p:nvSpPr>
        <p:spPr>
          <a:xfrm>
            <a:off x="6291072" y="18288"/>
            <a:ext cx="201168" cy="54864"/>
          </a:xfrm>
          <a:prstGeom prst="rect">
            <a:avLst/>
          </a:prstGeom>
          <a:solidFill>
            <a:srgbClr val="7B1A15"/>
          </a:solidFill>
          <a:ln w="12700">
            <a:solidFill>
              <a:srgbClr val="7B1A15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21" name="Shape 19"/>
          <p:cNvSpPr/>
          <p:nvPr/>
        </p:nvSpPr>
        <p:spPr>
          <a:xfrm>
            <a:off x="6656832" y="18288"/>
            <a:ext cx="201168" cy="54864"/>
          </a:xfrm>
          <a:prstGeom prst="rect">
            <a:avLst/>
          </a:prstGeom>
          <a:solidFill>
            <a:srgbClr val="7B1A15"/>
          </a:solidFill>
          <a:ln w="12700">
            <a:solidFill>
              <a:srgbClr val="7B1A15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22" name="Shape 20"/>
          <p:cNvSpPr/>
          <p:nvPr/>
        </p:nvSpPr>
        <p:spPr>
          <a:xfrm>
            <a:off x="7022592" y="18288"/>
            <a:ext cx="201168" cy="54864"/>
          </a:xfrm>
          <a:prstGeom prst="rect">
            <a:avLst/>
          </a:prstGeom>
          <a:solidFill>
            <a:srgbClr val="7B1A15"/>
          </a:solidFill>
          <a:ln w="12700">
            <a:solidFill>
              <a:srgbClr val="7B1A15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23" name="Shape 21"/>
          <p:cNvSpPr/>
          <p:nvPr/>
        </p:nvSpPr>
        <p:spPr>
          <a:xfrm>
            <a:off x="7388352" y="18288"/>
            <a:ext cx="201168" cy="54864"/>
          </a:xfrm>
          <a:prstGeom prst="rect">
            <a:avLst/>
          </a:prstGeom>
          <a:solidFill>
            <a:srgbClr val="7B1A15"/>
          </a:solidFill>
          <a:ln w="12700">
            <a:solidFill>
              <a:srgbClr val="7B1A15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24" name="Shape 22"/>
          <p:cNvSpPr/>
          <p:nvPr/>
        </p:nvSpPr>
        <p:spPr>
          <a:xfrm>
            <a:off x="7754112" y="18288"/>
            <a:ext cx="201168" cy="54864"/>
          </a:xfrm>
          <a:prstGeom prst="rect">
            <a:avLst/>
          </a:prstGeom>
          <a:solidFill>
            <a:srgbClr val="7B1A15"/>
          </a:solidFill>
          <a:ln w="12700">
            <a:solidFill>
              <a:srgbClr val="7B1A15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25" name="Shape 23"/>
          <p:cNvSpPr/>
          <p:nvPr/>
        </p:nvSpPr>
        <p:spPr>
          <a:xfrm>
            <a:off x="8119872" y="18288"/>
            <a:ext cx="201168" cy="54864"/>
          </a:xfrm>
          <a:prstGeom prst="rect">
            <a:avLst/>
          </a:prstGeom>
          <a:solidFill>
            <a:srgbClr val="7B1A15"/>
          </a:solidFill>
          <a:ln w="12700">
            <a:solidFill>
              <a:srgbClr val="7B1A15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26" name="Shape 24"/>
          <p:cNvSpPr/>
          <p:nvPr/>
        </p:nvSpPr>
        <p:spPr>
          <a:xfrm>
            <a:off x="8485632" y="18288"/>
            <a:ext cx="201168" cy="54864"/>
          </a:xfrm>
          <a:prstGeom prst="rect">
            <a:avLst/>
          </a:prstGeom>
          <a:solidFill>
            <a:srgbClr val="7B1A15"/>
          </a:solidFill>
          <a:ln w="12700">
            <a:solidFill>
              <a:srgbClr val="7B1A15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27" name="Shape 25"/>
          <p:cNvSpPr/>
          <p:nvPr/>
        </p:nvSpPr>
        <p:spPr>
          <a:xfrm>
            <a:off x="8851392" y="18288"/>
            <a:ext cx="201168" cy="54864"/>
          </a:xfrm>
          <a:prstGeom prst="rect">
            <a:avLst/>
          </a:prstGeom>
          <a:solidFill>
            <a:srgbClr val="7B1A15"/>
          </a:solidFill>
          <a:ln w="12700">
            <a:solidFill>
              <a:srgbClr val="7B1A15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28" name="Text 26"/>
          <p:cNvSpPr/>
          <p:nvPr/>
        </p:nvSpPr>
        <p:spPr>
          <a:xfrm>
            <a:off x="457200" y="201168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E8E8E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Sistem Mimarisi</a:t>
            </a:r>
            <a:endParaRPr lang="en-US" sz="2600" dirty="0"/>
          </a:p>
        </p:txBody>
      </p:sp>
      <p:sp>
        <p:nvSpPr>
          <p:cNvPr id="29" name="Shape 27"/>
          <p:cNvSpPr/>
          <p:nvPr/>
        </p:nvSpPr>
        <p:spPr>
          <a:xfrm>
            <a:off x="457200" y="713232"/>
            <a:ext cx="8229600" cy="0"/>
          </a:xfrm>
          <a:prstGeom prst="line">
            <a:avLst/>
          </a:prstGeom>
          <a:noFill/>
          <a:ln w="6350">
            <a:solidFill>
              <a:srgbClr val="252540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30" name="Shape 28"/>
          <p:cNvSpPr/>
          <p:nvPr/>
        </p:nvSpPr>
        <p:spPr>
          <a:xfrm>
            <a:off x="201168" y="1051560"/>
            <a:ext cx="1508760" cy="1371600"/>
          </a:xfrm>
          <a:prstGeom prst="rect">
            <a:avLst/>
          </a:prstGeom>
          <a:solidFill>
            <a:srgbClr val="0D0D18"/>
          </a:solidFill>
          <a:ln w="6350">
            <a:solidFill>
              <a:srgbClr val="1C1C30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31" name="Shape 29"/>
          <p:cNvSpPr/>
          <p:nvPr/>
        </p:nvSpPr>
        <p:spPr>
          <a:xfrm>
            <a:off x="201168" y="1051560"/>
            <a:ext cx="1508760" cy="54864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32" name="Text 30"/>
          <p:cNvSpPr/>
          <p:nvPr/>
        </p:nvSpPr>
        <p:spPr>
          <a:xfrm>
            <a:off x="201168" y="1161288"/>
            <a:ext cx="1508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C0392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①</a:t>
            </a:r>
            <a:endParaRPr lang="en-US" sz="2200" dirty="0"/>
          </a:p>
        </p:txBody>
      </p:sp>
      <p:sp>
        <p:nvSpPr>
          <p:cNvPr id="33" name="Text 31"/>
          <p:cNvSpPr/>
          <p:nvPr/>
        </p:nvSpPr>
        <p:spPr>
          <a:xfrm>
            <a:off x="201168" y="1508760"/>
            <a:ext cx="1508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E8E8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Kullanıcı Sorusu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201168" y="1801368"/>
            <a:ext cx="15087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8888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Doğal dil girişi</a:t>
            </a:r>
            <a:endParaRPr lang="en-US" sz="850" dirty="0"/>
          </a:p>
          <a:p>
            <a:pPr marL="0" indent="0" algn="ctr">
              <a:buNone/>
            </a:pPr>
            <a:r>
              <a:rPr lang="en-US" sz="850" dirty="0">
                <a:solidFill>
                  <a:srgbClr val="8888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(tür, ruh hali, tema)</a:t>
            </a:r>
            <a:endParaRPr lang="en-US" sz="850" dirty="0"/>
          </a:p>
        </p:txBody>
      </p:sp>
      <p:sp>
        <p:nvSpPr>
          <p:cNvPr id="35" name="Shape 33"/>
          <p:cNvSpPr/>
          <p:nvPr/>
        </p:nvSpPr>
        <p:spPr>
          <a:xfrm>
            <a:off x="1737360" y="1737360"/>
            <a:ext cx="173736" cy="0"/>
          </a:xfrm>
          <a:prstGeom prst="line">
            <a:avLst/>
          </a:prstGeom>
          <a:noFill/>
          <a:ln w="12700">
            <a:solidFill>
              <a:srgbClr val="252540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36" name="Text 34"/>
          <p:cNvSpPr/>
          <p:nvPr/>
        </p:nvSpPr>
        <p:spPr>
          <a:xfrm>
            <a:off x="1856232" y="1609344"/>
            <a:ext cx="2011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252540"/>
                </a:solidFill>
              </a:rPr>
              <a:t>▶</a:t>
            </a:r>
            <a:endParaRPr lang="en-US" sz="800" dirty="0"/>
          </a:p>
        </p:txBody>
      </p:sp>
      <p:sp>
        <p:nvSpPr>
          <p:cNvPr id="37" name="Shape 35"/>
          <p:cNvSpPr/>
          <p:nvPr/>
        </p:nvSpPr>
        <p:spPr>
          <a:xfrm>
            <a:off x="1874520" y="1051560"/>
            <a:ext cx="1508760" cy="1371600"/>
          </a:xfrm>
          <a:prstGeom prst="rect">
            <a:avLst/>
          </a:prstGeom>
          <a:solidFill>
            <a:srgbClr val="0D0D18"/>
          </a:solidFill>
          <a:ln w="6350">
            <a:solidFill>
              <a:srgbClr val="1C1C30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38" name="Shape 36"/>
          <p:cNvSpPr/>
          <p:nvPr/>
        </p:nvSpPr>
        <p:spPr>
          <a:xfrm>
            <a:off x="1874520" y="1051560"/>
            <a:ext cx="1508760" cy="54864"/>
          </a:xfrm>
          <a:prstGeom prst="rect">
            <a:avLst/>
          </a:prstGeom>
          <a:solidFill>
            <a:srgbClr val="6060AA"/>
          </a:solidFill>
          <a:ln w="12700">
            <a:solidFill>
              <a:srgbClr val="6060AA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39" name="Text 37"/>
          <p:cNvSpPr/>
          <p:nvPr/>
        </p:nvSpPr>
        <p:spPr>
          <a:xfrm>
            <a:off x="1874520" y="1161288"/>
            <a:ext cx="1508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6060A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②</a:t>
            </a:r>
            <a:endParaRPr lang="en-US" sz="2200" dirty="0"/>
          </a:p>
        </p:txBody>
      </p:sp>
      <p:sp>
        <p:nvSpPr>
          <p:cNvPr id="40" name="Text 38"/>
          <p:cNvSpPr/>
          <p:nvPr/>
        </p:nvSpPr>
        <p:spPr>
          <a:xfrm>
            <a:off x="1874520" y="1508760"/>
            <a:ext cx="1508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E8E8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Sorgu Zenginleştirme</a:t>
            </a:r>
            <a:endParaRPr lang="en-US" sz="1000" dirty="0"/>
          </a:p>
        </p:txBody>
      </p:sp>
      <p:sp>
        <p:nvSpPr>
          <p:cNvPr id="41" name="Text 39"/>
          <p:cNvSpPr/>
          <p:nvPr/>
        </p:nvSpPr>
        <p:spPr>
          <a:xfrm>
            <a:off x="1874520" y="1801368"/>
            <a:ext cx="15087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8888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Sohbet geçmişinden</a:t>
            </a:r>
            <a:endParaRPr lang="en-US" sz="850" dirty="0"/>
          </a:p>
          <a:p>
            <a:pPr marL="0" indent="0" algn="ctr">
              <a:buNone/>
            </a:pPr>
            <a:r>
              <a:rPr lang="en-US" sz="850" dirty="0">
                <a:solidFill>
                  <a:srgbClr val="8888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film özellikleri çıkarılır</a:t>
            </a:r>
            <a:endParaRPr lang="en-US" sz="850" dirty="0"/>
          </a:p>
        </p:txBody>
      </p:sp>
      <p:sp>
        <p:nvSpPr>
          <p:cNvPr id="42" name="Shape 40"/>
          <p:cNvSpPr/>
          <p:nvPr/>
        </p:nvSpPr>
        <p:spPr>
          <a:xfrm>
            <a:off x="3410712" y="1737360"/>
            <a:ext cx="173736" cy="0"/>
          </a:xfrm>
          <a:prstGeom prst="line">
            <a:avLst/>
          </a:prstGeom>
          <a:noFill/>
          <a:ln w="12700">
            <a:solidFill>
              <a:srgbClr val="252540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43" name="Text 41"/>
          <p:cNvSpPr/>
          <p:nvPr/>
        </p:nvSpPr>
        <p:spPr>
          <a:xfrm>
            <a:off x="3529584" y="1609344"/>
            <a:ext cx="2011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252540"/>
                </a:solidFill>
              </a:rPr>
              <a:t>▶</a:t>
            </a:r>
            <a:endParaRPr lang="en-US" sz="800" dirty="0"/>
          </a:p>
        </p:txBody>
      </p:sp>
      <p:sp>
        <p:nvSpPr>
          <p:cNvPr id="44" name="Shape 42"/>
          <p:cNvSpPr/>
          <p:nvPr/>
        </p:nvSpPr>
        <p:spPr>
          <a:xfrm>
            <a:off x="3547872" y="1051560"/>
            <a:ext cx="1508760" cy="1371600"/>
          </a:xfrm>
          <a:prstGeom prst="rect">
            <a:avLst/>
          </a:prstGeom>
          <a:solidFill>
            <a:srgbClr val="0D0D18"/>
          </a:solidFill>
          <a:ln w="6350">
            <a:solidFill>
              <a:srgbClr val="1C1C30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45" name="Shape 43"/>
          <p:cNvSpPr/>
          <p:nvPr/>
        </p:nvSpPr>
        <p:spPr>
          <a:xfrm>
            <a:off x="3547872" y="1051560"/>
            <a:ext cx="1508760" cy="54864"/>
          </a:xfrm>
          <a:prstGeom prst="rect">
            <a:avLst/>
          </a:prstGeom>
          <a:solidFill>
            <a:srgbClr val="4488AA"/>
          </a:solidFill>
          <a:ln w="12700">
            <a:solidFill>
              <a:srgbClr val="4488AA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46" name="Text 44"/>
          <p:cNvSpPr/>
          <p:nvPr/>
        </p:nvSpPr>
        <p:spPr>
          <a:xfrm>
            <a:off x="3547872" y="1161288"/>
            <a:ext cx="1508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4488A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③</a:t>
            </a:r>
            <a:endParaRPr lang="en-US" sz="2200" dirty="0"/>
          </a:p>
        </p:txBody>
      </p:sp>
      <p:sp>
        <p:nvSpPr>
          <p:cNvPr id="47" name="Text 45"/>
          <p:cNvSpPr/>
          <p:nvPr/>
        </p:nvSpPr>
        <p:spPr>
          <a:xfrm>
            <a:off x="3547872" y="1508760"/>
            <a:ext cx="1508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E8E8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FAISS MMR Arama</a:t>
            </a:r>
            <a:endParaRPr lang="en-US" sz="1000" dirty="0"/>
          </a:p>
        </p:txBody>
      </p:sp>
      <p:sp>
        <p:nvSpPr>
          <p:cNvPr id="48" name="Text 46"/>
          <p:cNvSpPr/>
          <p:nvPr/>
        </p:nvSpPr>
        <p:spPr>
          <a:xfrm>
            <a:off x="3547872" y="1801368"/>
            <a:ext cx="15087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8888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Top-30 alınır,</a:t>
            </a:r>
            <a:endParaRPr lang="en-US" sz="850" dirty="0"/>
          </a:p>
          <a:p>
            <a:pPr marL="0" indent="0" algn="ctr">
              <a:buNone/>
            </a:pPr>
            <a:r>
              <a:rPr lang="en-US" sz="850" dirty="0">
                <a:solidFill>
                  <a:srgbClr val="8888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MMR ile 10'a düşer</a:t>
            </a:r>
            <a:endParaRPr lang="en-US" sz="850" dirty="0"/>
          </a:p>
        </p:txBody>
      </p:sp>
      <p:sp>
        <p:nvSpPr>
          <p:cNvPr id="49" name="Shape 47"/>
          <p:cNvSpPr/>
          <p:nvPr/>
        </p:nvSpPr>
        <p:spPr>
          <a:xfrm>
            <a:off x="5084064" y="1737360"/>
            <a:ext cx="173736" cy="0"/>
          </a:xfrm>
          <a:prstGeom prst="line">
            <a:avLst/>
          </a:prstGeom>
          <a:noFill/>
          <a:ln w="12700">
            <a:solidFill>
              <a:srgbClr val="252540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50" name="Text 48"/>
          <p:cNvSpPr/>
          <p:nvPr/>
        </p:nvSpPr>
        <p:spPr>
          <a:xfrm>
            <a:off x="5202936" y="1609344"/>
            <a:ext cx="2011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252540"/>
                </a:solidFill>
              </a:rPr>
              <a:t>▶</a:t>
            </a:r>
            <a:endParaRPr lang="en-US" sz="800" dirty="0"/>
          </a:p>
        </p:txBody>
      </p:sp>
      <p:sp>
        <p:nvSpPr>
          <p:cNvPr id="51" name="Shape 49"/>
          <p:cNvSpPr/>
          <p:nvPr/>
        </p:nvSpPr>
        <p:spPr>
          <a:xfrm>
            <a:off x="5221224" y="1051560"/>
            <a:ext cx="1508760" cy="1371600"/>
          </a:xfrm>
          <a:prstGeom prst="rect">
            <a:avLst/>
          </a:prstGeom>
          <a:solidFill>
            <a:srgbClr val="0D0D18"/>
          </a:solidFill>
          <a:ln w="6350">
            <a:solidFill>
              <a:srgbClr val="1C1C30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52" name="Shape 50"/>
          <p:cNvSpPr/>
          <p:nvPr/>
        </p:nvSpPr>
        <p:spPr>
          <a:xfrm>
            <a:off x="5221224" y="1051560"/>
            <a:ext cx="1508760" cy="54864"/>
          </a:xfrm>
          <a:prstGeom prst="rect">
            <a:avLst/>
          </a:prstGeom>
          <a:solidFill>
            <a:srgbClr val="44AA88"/>
          </a:solidFill>
          <a:ln w="12700">
            <a:solidFill>
              <a:srgbClr val="44AA88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53" name="Text 51"/>
          <p:cNvSpPr/>
          <p:nvPr/>
        </p:nvSpPr>
        <p:spPr>
          <a:xfrm>
            <a:off x="5221224" y="1161288"/>
            <a:ext cx="1508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44AA8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④</a:t>
            </a:r>
            <a:endParaRPr lang="en-US" sz="2200" dirty="0"/>
          </a:p>
        </p:txBody>
      </p:sp>
      <p:sp>
        <p:nvSpPr>
          <p:cNvPr id="54" name="Text 52"/>
          <p:cNvSpPr/>
          <p:nvPr/>
        </p:nvSpPr>
        <p:spPr>
          <a:xfrm>
            <a:off x="5221224" y="1508760"/>
            <a:ext cx="1508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E8E8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GPT-4o-mini</a:t>
            </a:r>
            <a:endParaRPr lang="en-US" sz="1000" dirty="0"/>
          </a:p>
        </p:txBody>
      </p:sp>
      <p:sp>
        <p:nvSpPr>
          <p:cNvPr id="55" name="Text 53"/>
          <p:cNvSpPr/>
          <p:nvPr/>
        </p:nvSpPr>
        <p:spPr>
          <a:xfrm>
            <a:off x="5221224" y="1801368"/>
            <a:ext cx="15087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8888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LangChain prompt</a:t>
            </a:r>
            <a:endParaRPr lang="en-US" sz="850" dirty="0"/>
          </a:p>
          <a:p>
            <a:pPr marL="0" indent="0" algn="ctr">
              <a:buNone/>
            </a:pPr>
            <a:r>
              <a:rPr lang="en-US" sz="850" dirty="0">
                <a:solidFill>
                  <a:srgbClr val="8888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ile öneri üretilir</a:t>
            </a:r>
            <a:endParaRPr lang="en-US" sz="850" dirty="0"/>
          </a:p>
        </p:txBody>
      </p:sp>
      <p:sp>
        <p:nvSpPr>
          <p:cNvPr id="56" name="Shape 54"/>
          <p:cNvSpPr/>
          <p:nvPr/>
        </p:nvSpPr>
        <p:spPr>
          <a:xfrm>
            <a:off x="6757416" y="1737360"/>
            <a:ext cx="173736" cy="0"/>
          </a:xfrm>
          <a:prstGeom prst="line">
            <a:avLst/>
          </a:prstGeom>
          <a:noFill/>
          <a:ln w="12700">
            <a:solidFill>
              <a:srgbClr val="252540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57" name="Text 55"/>
          <p:cNvSpPr/>
          <p:nvPr/>
        </p:nvSpPr>
        <p:spPr>
          <a:xfrm>
            <a:off x="6876288" y="1609344"/>
            <a:ext cx="2011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252540"/>
                </a:solidFill>
              </a:rPr>
              <a:t>▶</a:t>
            </a:r>
            <a:endParaRPr lang="en-US" sz="800" dirty="0"/>
          </a:p>
        </p:txBody>
      </p:sp>
      <p:sp>
        <p:nvSpPr>
          <p:cNvPr id="58" name="Shape 56"/>
          <p:cNvSpPr/>
          <p:nvPr/>
        </p:nvSpPr>
        <p:spPr>
          <a:xfrm>
            <a:off x="6894576" y="1051560"/>
            <a:ext cx="1508760" cy="1371600"/>
          </a:xfrm>
          <a:prstGeom prst="rect">
            <a:avLst/>
          </a:prstGeom>
          <a:solidFill>
            <a:srgbClr val="0D0D18"/>
          </a:solidFill>
          <a:ln w="6350">
            <a:solidFill>
              <a:srgbClr val="1C1C30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59" name="Shape 57"/>
          <p:cNvSpPr/>
          <p:nvPr/>
        </p:nvSpPr>
        <p:spPr>
          <a:xfrm>
            <a:off x="6894576" y="1051560"/>
            <a:ext cx="1508760" cy="54864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60" name="Text 58"/>
          <p:cNvSpPr/>
          <p:nvPr/>
        </p:nvSpPr>
        <p:spPr>
          <a:xfrm>
            <a:off x="6894576" y="1161288"/>
            <a:ext cx="1508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C0392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⑤</a:t>
            </a:r>
            <a:endParaRPr lang="en-US" sz="2200" dirty="0"/>
          </a:p>
        </p:txBody>
      </p:sp>
      <p:sp>
        <p:nvSpPr>
          <p:cNvPr id="61" name="Text 59"/>
          <p:cNvSpPr/>
          <p:nvPr/>
        </p:nvSpPr>
        <p:spPr>
          <a:xfrm>
            <a:off x="6894576" y="1508760"/>
            <a:ext cx="1508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E8E8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+ Arayüz</a:t>
            </a:r>
            <a:endParaRPr lang="en-US" sz="1000" dirty="0"/>
          </a:p>
        </p:txBody>
      </p:sp>
      <p:sp>
        <p:nvSpPr>
          <p:cNvPr id="62" name="Text 60"/>
          <p:cNvSpPr/>
          <p:nvPr/>
        </p:nvSpPr>
        <p:spPr>
          <a:xfrm>
            <a:off x="6894576" y="1801368"/>
            <a:ext cx="15087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8888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FastAPI JSON döner,</a:t>
            </a:r>
            <a:endParaRPr lang="en-US" sz="850" dirty="0"/>
          </a:p>
          <a:p>
            <a:pPr marL="0" indent="0" algn="ctr">
              <a:buNone/>
            </a:pPr>
            <a:r>
              <a:rPr lang="en-US" sz="850" dirty="0">
                <a:solidFill>
                  <a:srgbClr val="8888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HTML kart gösterir</a:t>
            </a:r>
            <a:endParaRPr lang="en-US" sz="850" dirty="0"/>
          </a:p>
        </p:txBody>
      </p:sp>
      <p:sp>
        <p:nvSpPr>
          <p:cNvPr id="63" name="Shape 61"/>
          <p:cNvSpPr/>
          <p:nvPr/>
        </p:nvSpPr>
        <p:spPr>
          <a:xfrm>
            <a:off x="201168" y="2651760"/>
            <a:ext cx="1508760" cy="1234440"/>
          </a:xfrm>
          <a:prstGeom prst="rect">
            <a:avLst/>
          </a:prstGeom>
          <a:solidFill>
            <a:srgbClr val="111120"/>
          </a:solidFill>
          <a:ln w="6350">
            <a:solidFill>
              <a:srgbClr val="1C1C30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64" name="Text 62"/>
          <p:cNvSpPr/>
          <p:nvPr/>
        </p:nvSpPr>
        <p:spPr>
          <a:xfrm>
            <a:off x="201168" y="2688336"/>
            <a:ext cx="1508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film.csv</a:t>
            </a:r>
            <a:endParaRPr lang="en-US" sz="850" dirty="0"/>
          </a:p>
        </p:txBody>
      </p:sp>
      <p:sp>
        <p:nvSpPr>
          <p:cNvPr id="65" name="Text 63"/>
          <p:cNvSpPr/>
          <p:nvPr/>
        </p:nvSpPr>
        <p:spPr>
          <a:xfrm>
            <a:off x="201168" y="2944368"/>
            <a:ext cx="15087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8888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135 MB CSV</a:t>
            </a:r>
            <a:endParaRPr lang="en-US" sz="800" dirty="0"/>
          </a:p>
          <a:p>
            <a:pPr marL="0" indent="0" algn="ctr">
              <a:buNone/>
            </a:pPr>
            <a:r>
              <a:rPr lang="en-US" sz="800" dirty="0">
                <a:solidFill>
                  <a:srgbClr val="8888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ortalama rating hesabı</a:t>
            </a:r>
            <a:endParaRPr lang="en-US" sz="800" dirty="0"/>
          </a:p>
        </p:txBody>
      </p:sp>
      <p:sp>
        <p:nvSpPr>
          <p:cNvPr id="66" name="Shape 64"/>
          <p:cNvSpPr/>
          <p:nvPr/>
        </p:nvSpPr>
        <p:spPr>
          <a:xfrm>
            <a:off x="1874520" y="2651760"/>
            <a:ext cx="1508760" cy="1234440"/>
          </a:xfrm>
          <a:prstGeom prst="rect">
            <a:avLst/>
          </a:prstGeom>
          <a:solidFill>
            <a:srgbClr val="111120"/>
          </a:solidFill>
          <a:ln w="6350">
            <a:solidFill>
              <a:srgbClr val="1C1C30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67" name="Text 65"/>
          <p:cNvSpPr/>
          <p:nvPr/>
        </p:nvSpPr>
        <p:spPr>
          <a:xfrm>
            <a:off x="1874520" y="2688336"/>
            <a:ext cx="1508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langchain_faiss_db</a:t>
            </a:r>
            <a:endParaRPr lang="en-US" sz="850" dirty="0"/>
          </a:p>
        </p:txBody>
      </p:sp>
      <p:sp>
        <p:nvSpPr>
          <p:cNvPr id="68" name="Text 66"/>
          <p:cNvSpPr/>
          <p:nvPr/>
        </p:nvSpPr>
        <p:spPr>
          <a:xfrm>
            <a:off x="1874520" y="2944368"/>
            <a:ext cx="15087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8888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FAISS indeksi</a:t>
            </a:r>
            <a:endParaRPr lang="en-US" sz="800" dirty="0"/>
          </a:p>
          <a:p>
            <a:pPr marL="0" indent="0" algn="ctr">
              <a:buNone/>
            </a:pPr>
            <a:r>
              <a:rPr lang="en-US" sz="800" dirty="0">
                <a:solidFill>
                  <a:srgbClr val="8888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(text-embedding-3-small)</a:t>
            </a:r>
            <a:endParaRPr lang="en-US" sz="800" dirty="0"/>
          </a:p>
        </p:txBody>
      </p:sp>
      <p:sp>
        <p:nvSpPr>
          <p:cNvPr id="69" name="Shape 67"/>
          <p:cNvSpPr/>
          <p:nvPr/>
        </p:nvSpPr>
        <p:spPr>
          <a:xfrm>
            <a:off x="3547872" y="2651760"/>
            <a:ext cx="1508760" cy="1234440"/>
          </a:xfrm>
          <a:prstGeom prst="rect">
            <a:avLst/>
          </a:prstGeom>
          <a:solidFill>
            <a:srgbClr val="111120"/>
          </a:solidFill>
          <a:ln w="6350">
            <a:solidFill>
              <a:srgbClr val="1C1C30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70" name="Text 68"/>
          <p:cNvSpPr/>
          <p:nvPr/>
        </p:nvSpPr>
        <p:spPr>
          <a:xfrm>
            <a:off x="3547872" y="2688336"/>
            <a:ext cx="1508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MovieRAG.query()</a:t>
            </a:r>
            <a:endParaRPr lang="en-US" sz="850" dirty="0"/>
          </a:p>
        </p:txBody>
      </p:sp>
      <p:sp>
        <p:nvSpPr>
          <p:cNvPr id="71" name="Text 69"/>
          <p:cNvSpPr/>
          <p:nvPr/>
        </p:nvSpPr>
        <p:spPr>
          <a:xfrm>
            <a:off x="3547872" y="2944368"/>
            <a:ext cx="15087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8888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MMR k=10, fetch_k=30</a:t>
            </a:r>
            <a:endParaRPr lang="en-US" sz="800" dirty="0"/>
          </a:p>
          <a:p>
            <a:pPr marL="0" indent="0" algn="ctr">
              <a:buNone/>
            </a:pPr>
            <a:r>
              <a:rPr lang="en-US" sz="800" dirty="0">
                <a:solidFill>
                  <a:srgbClr val="8888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lambda_mult=0.5</a:t>
            </a:r>
            <a:endParaRPr lang="en-US" sz="800" dirty="0"/>
          </a:p>
        </p:txBody>
      </p:sp>
      <p:sp>
        <p:nvSpPr>
          <p:cNvPr id="72" name="Shape 70"/>
          <p:cNvSpPr/>
          <p:nvPr/>
        </p:nvSpPr>
        <p:spPr>
          <a:xfrm>
            <a:off x="5221224" y="2651760"/>
            <a:ext cx="1508760" cy="1234440"/>
          </a:xfrm>
          <a:prstGeom prst="rect">
            <a:avLst/>
          </a:prstGeom>
          <a:solidFill>
            <a:srgbClr val="111120"/>
          </a:solidFill>
          <a:ln w="6350">
            <a:solidFill>
              <a:srgbClr val="1C1C30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73" name="Text 71"/>
          <p:cNvSpPr/>
          <p:nvPr/>
        </p:nvSpPr>
        <p:spPr>
          <a:xfrm>
            <a:off x="5221224" y="2688336"/>
            <a:ext cx="1508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ChatPromptTemplate</a:t>
            </a:r>
            <a:endParaRPr lang="en-US" sz="850" dirty="0"/>
          </a:p>
        </p:txBody>
      </p:sp>
      <p:sp>
        <p:nvSpPr>
          <p:cNvPr id="74" name="Text 72"/>
          <p:cNvSpPr/>
          <p:nvPr/>
        </p:nvSpPr>
        <p:spPr>
          <a:xfrm>
            <a:off x="5221224" y="2944368"/>
            <a:ext cx="15087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8888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mesajlık</a:t>
            </a:r>
            <a:endParaRPr lang="en-US" sz="800" dirty="0"/>
          </a:p>
          <a:p>
            <a:pPr marL="0" indent="0" algn="ctr">
              <a:buNone/>
            </a:pPr>
            <a:r>
              <a:rPr lang="en-US" sz="800" dirty="0">
                <a:solidFill>
                  <a:srgbClr val="8888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sohbet geçmişi</a:t>
            </a:r>
            <a:endParaRPr lang="en-US" sz="800" dirty="0"/>
          </a:p>
        </p:txBody>
      </p:sp>
      <p:sp>
        <p:nvSpPr>
          <p:cNvPr id="75" name="Shape 73"/>
          <p:cNvSpPr/>
          <p:nvPr/>
        </p:nvSpPr>
        <p:spPr>
          <a:xfrm>
            <a:off x="6894576" y="2651760"/>
            <a:ext cx="1508760" cy="1234440"/>
          </a:xfrm>
          <a:prstGeom prst="rect">
            <a:avLst/>
          </a:prstGeom>
          <a:solidFill>
            <a:srgbClr val="111120"/>
          </a:solidFill>
          <a:ln w="6350">
            <a:solidFill>
              <a:srgbClr val="1C1C30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76" name="Text 74"/>
          <p:cNvSpPr/>
          <p:nvPr/>
        </p:nvSpPr>
        <p:spPr>
          <a:xfrm>
            <a:off x="6894576" y="2688336"/>
            <a:ext cx="1508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/api/chat</a:t>
            </a:r>
            <a:endParaRPr lang="en-US" sz="850" dirty="0"/>
          </a:p>
        </p:txBody>
      </p:sp>
      <p:sp>
        <p:nvSpPr>
          <p:cNvPr id="77" name="Text 75"/>
          <p:cNvSpPr/>
          <p:nvPr/>
        </p:nvSpPr>
        <p:spPr>
          <a:xfrm>
            <a:off x="6894576" y="2944368"/>
            <a:ext cx="15087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8888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 endpoint</a:t>
            </a:r>
            <a:endParaRPr lang="en-US" sz="800" dirty="0"/>
          </a:p>
          <a:p>
            <a:pPr marL="0" indent="0" algn="ctr">
              <a:buNone/>
            </a:pPr>
            <a:r>
              <a:rPr lang="en-US" sz="800" dirty="0">
                <a:solidFill>
                  <a:srgbClr val="8888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JSON response</a:t>
            </a:r>
            <a:endParaRPr lang="en-US" sz="800" dirty="0"/>
          </a:p>
        </p:txBody>
      </p:sp>
      <p:sp>
        <p:nvSpPr>
          <p:cNvPr id="78" name="Shape 76"/>
          <p:cNvSpPr/>
          <p:nvPr/>
        </p:nvSpPr>
        <p:spPr>
          <a:xfrm>
            <a:off x="937260" y="2423160"/>
            <a:ext cx="0" cy="228600"/>
          </a:xfrm>
          <a:prstGeom prst="line">
            <a:avLst/>
          </a:prstGeom>
          <a:noFill/>
          <a:ln w="6350">
            <a:solidFill>
              <a:srgbClr val="1C1C30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79" name="Shape 77"/>
          <p:cNvSpPr/>
          <p:nvPr/>
        </p:nvSpPr>
        <p:spPr>
          <a:xfrm>
            <a:off x="2610612" y="2423160"/>
            <a:ext cx="0" cy="228600"/>
          </a:xfrm>
          <a:prstGeom prst="line">
            <a:avLst/>
          </a:prstGeom>
          <a:noFill/>
          <a:ln w="6350">
            <a:solidFill>
              <a:srgbClr val="1C1C30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80" name="Shape 78"/>
          <p:cNvSpPr/>
          <p:nvPr/>
        </p:nvSpPr>
        <p:spPr>
          <a:xfrm>
            <a:off x="4283964" y="2423160"/>
            <a:ext cx="0" cy="228600"/>
          </a:xfrm>
          <a:prstGeom prst="line">
            <a:avLst/>
          </a:prstGeom>
          <a:noFill/>
          <a:ln w="6350">
            <a:solidFill>
              <a:srgbClr val="1C1C30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81" name="Shape 79"/>
          <p:cNvSpPr/>
          <p:nvPr/>
        </p:nvSpPr>
        <p:spPr>
          <a:xfrm>
            <a:off x="5957316" y="2423160"/>
            <a:ext cx="0" cy="228600"/>
          </a:xfrm>
          <a:prstGeom prst="line">
            <a:avLst/>
          </a:prstGeom>
          <a:noFill/>
          <a:ln w="6350">
            <a:solidFill>
              <a:srgbClr val="1C1C30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82" name="Shape 80"/>
          <p:cNvSpPr/>
          <p:nvPr/>
        </p:nvSpPr>
        <p:spPr>
          <a:xfrm>
            <a:off x="7630668" y="2423160"/>
            <a:ext cx="0" cy="228600"/>
          </a:xfrm>
          <a:prstGeom prst="line">
            <a:avLst/>
          </a:prstGeom>
          <a:noFill/>
          <a:ln w="6350">
            <a:solidFill>
              <a:srgbClr val="1C1C30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8080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3" name="Shape 1"/>
          <p:cNvSpPr/>
          <p:nvPr/>
        </p:nvSpPr>
        <p:spPr>
          <a:xfrm>
            <a:off x="73152" y="18288"/>
            <a:ext cx="201168" cy="54864"/>
          </a:xfrm>
          <a:prstGeom prst="rect">
            <a:avLst/>
          </a:prstGeom>
          <a:solidFill>
            <a:srgbClr val="7B1A15"/>
          </a:solidFill>
          <a:ln w="12700">
            <a:solidFill>
              <a:srgbClr val="7B1A15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4" name="Shape 2"/>
          <p:cNvSpPr/>
          <p:nvPr/>
        </p:nvSpPr>
        <p:spPr>
          <a:xfrm>
            <a:off x="438912" y="18288"/>
            <a:ext cx="201168" cy="54864"/>
          </a:xfrm>
          <a:prstGeom prst="rect">
            <a:avLst/>
          </a:prstGeom>
          <a:solidFill>
            <a:srgbClr val="7B1A15"/>
          </a:solidFill>
          <a:ln w="12700">
            <a:solidFill>
              <a:srgbClr val="7B1A15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5" name="Shape 3"/>
          <p:cNvSpPr/>
          <p:nvPr/>
        </p:nvSpPr>
        <p:spPr>
          <a:xfrm>
            <a:off x="804672" y="18288"/>
            <a:ext cx="201168" cy="54864"/>
          </a:xfrm>
          <a:prstGeom prst="rect">
            <a:avLst/>
          </a:prstGeom>
          <a:solidFill>
            <a:srgbClr val="7B1A15"/>
          </a:solidFill>
          <a:ln w="12700">
            <a:solidFill>
              <a:srgbClr val="7B1A15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6" name="Shape 4"/>
          <p:cNvSpPr/>
          <p:nvPr/>
        </p:nvSpPr>
        <p:spPr>
          <a:xfrm>
            <a:off x="1170432" y="18288"/>
            <a:ext cx="201168" cy="54864"/>
          </a:xfrm>
          <a:prstGeom prst="rect">
            <a:avLst/>
          </a:prstGeom>
          <a:solidFill>
            <a:srgbClr val="7B1A15"/>
          </a:solidFill>
          <a:ln w="12700">
            <a:solidFill>
              <a:srgbClr val="7B1A15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7" name="Shape 5"/>
          <p:cNvSpPr/>
          <p:nvPr/>
        </p:nvSpPr>
        <p:spPr>
          <a:xfrm>
            <a:off x="1536192" y="18288"/>
            <a:ext cx="201168" cy="54864"/>
          </a:xfrm>
          <a:prstGeom prst="rect">
            <a:avLst/>
          </a:prstGeom>
          <a:solidFill>
            <a:srgbClr val="7B1A15"/>
          </a:solidFill>
          <a:ln w="12700">
            <a:solidFill>
              <a:srgbClr val="7B1A15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8" name="Shape 6"/>
          <p:cNvSpPr/>
          <p:nvPr/>
        </p:nvSpPr>
        <p:spPr>
          <a:xfrm>
            <a:off x="1901952" y="18288"/>
            <a:ext cx="201168" cy="54864"/>
          </a:xfrm>
          <a:prstGeom prst="rect">
            <a:avLst/>
          </a:prstGeom>
          <a:solidFill>
            <a:srgbClr val="7B1A15"/>
          </a:solidFill>
          <a:ln w="12700">
            <a:solidFill>
              <a:srgbClr val="7B1A15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9" name="Shape 7"/>
          <p:cNvSpPr/>
          <p:nvPr/>
        </p:nvSpPr>
        <p:spPr>
          <a:xfrm>
            <a:off x="2267712" y="18288"/>
            <a:ext cx="201168" cy="54864"/>
          </a:xfrm>
          <a:prstGeom prst="rect">
            <a:avLst/>
          </a:prstGeom>
          <a:solidFill>
            <a:srgbClr val="7B1A15"/>
          </a:solidFill>
          <a:ln w="12700">
            <a:solidFill>
              <a:srgbClr val="7B1A15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10" name="Shape 8"/>
          <p:cNvSpPr/>
          <p:nvPr/>
        </p:nvSpPr>
        <p:spPr>
          <a:xfrm>
            <a:off x="2633472" y="18288"/>
            <a:ext cx="201168" cy="54864"/>
          </a:xfrm>
          <a:prstGeom prst="rect">
            <a:avLst/>
          </a:prstGeom>
          <a:solidFill>
            <a:srgbClr val="7B1A15"/>
          </a:solidFill>
          <a:ln w="12700">
            <a:solidFill>
              <a:srgbClr val="7B1A15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11" name="Shape 9"/>
          <p:cNvSpPr/>
          <p:nvPr/>
        </p:nvSpPr>
        <p:spPr>
          <a:xfrm>
            <a:off x="2999232" y="18288"/>
            <a:ext cx="201168" cy="54864"/>
          </a:xfrm>
          <a:prstGeom prst="rect">
            <a:avLst/>
          </a:prstGeom>
          <a:solidFill>
            <a:srgbClr val="7B1A15"/>
          </a:solidFill>
          <a:ln w="12700">
            <a:solidFill>
              <a:srgbClr val="7B1A15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12" name="Shape 10"/>
          <p:cNvSpPr/>
          <p:nvPr/>
        </p:nvSpPr>
        <p:spPr>
          <a:xfrm>
            <a:off x="3364992" y="18288"/>
            <a:ext cx="201168" cy="54864"/>
          </a:xfrm>
          <a:prstGeom prst="rect">
            <a:avLst/>
          </a:prstGeom>
          <a:solidFill>
            <a:srgbClr val="7B1A15"/>
          </a:solidFill>
          <a:ln w="12700">
            <a:solidFill>
              <a:srgbClr val="7B1A15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13" name="Shape 11"/>
          <p:cNvSpPr/>
          <p:nvPr/>
        </p:nvSpPr>
        <p:spPr>
          <a:xfrm>
            <a:off x="3730752" y="18288"/>
            <a:ext cx="201168" cy="54864"/>
          </a:xfrm>
          <a:prstGeom prst="rect">
            <a:avLst/>
          </a:prstGeom>
          <a:solidFill>
            <a:srgbClr val="7B1A15"/>
          </a:solidFill>
          <a:ln w="12700">
            <a:solidFill>
              <a:srgbClr val="7B1A15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14" name="Shape 12"/>
          <p:cNvSpPr/>
          <p:nvPr/>
        </p:nvSpPr>
        <p:spPr>
          <a:xfrm>
            <a:off x="4096512" y="18288"/>
            <a:ext cx="201168" cy="54864"/>
          </a:xfrm>
          <a:prstGeom prst="rect">
            <a:avLst/>
          </a:prstGeom>
          <a:solidFill>
            <a:srgbClr val="7B1A15"/>
          </a:solidFill>
          <a:ln w="12700">
            <a:solidFill>
              <a:srgbClr val="7B1A15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15" name="Shape 13"/>
          <p:cNvSpPr/>
          <p:nvPr/>
        </p:nvSpPr>
        <p:spPr>
          <a:xfrm>
            <a:off x="4462272" y="18288"/>
            <a:ext cx="201168" cy="54864"/>
          </a:xfrm>
          <a:prstGeom prst="rect">
            <a:avLst/>
          </a:prstGeom>
          <a:solidFill>
            <a:srgbClr val="7B1A15"/>
          </a:solidFill>
          <a:ln w="12700">
            <a:solidFill>
              <a:srgbClr val="7B1A15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16" name="Shape 14"/>
          <p:cNvSpPr/>
          <p:nvPr/>
        </p:nvSpPr>
        <p:spPr>
          <a:xfrm>
            <a:off x="4828032" y="18288"/>
            <a:ext cx="201168" cy="54864"/>
          </a:xfrm>
          <a:prstGeom prst="rect">
            <a:avLst/>
          </a:prstGeom>
          <a:solidFill>
            <a:srgbClr val="7B1A15"/>
          </a:solidFill>
          <a:ln w="12700">
            <a:solidFill>
              <a:srgbClr val="7B1A15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17" name="Shape 15"/>
          <p:cNvSpPr/>
          <p:nvPr/>
        </p:nvSpPr>
        <p:spPr>
          <a:xfrm>
            <a:off x="5193792" y="18288"/>
            <a:ext cx="201168" cy="54864"/>
          </a:xfrm>
          <a:prstGeom prst="rect">
            <a:avLst/>
          </a:prstGeom>
          <a:solidFill>
            <a:srgbClr val="7B1A15"/>
          </a:solidFill>
          <a:ln w="12700">
            <a:solidFill>
              <a:srgbClr val="7B1A15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18" name="Shape 16"/>
          <p:cNvSpPr/>
          <p:nvPr/>
        </p:nvSpPr>
        <p:spPr>
          <a:xfrm>
            <a:off x="5559552" y="18288"/>
            <a:ext cx="201168" cy="54864"/>
          </a:xfrm>
          <a:prstGeom prst="rect">
            <a:avLst/>
          </a:prstGeom>
          <a:solidFill>
            <a:srgbClr val="7B1A15"/>
          </a:solidFill>
          <a:ln w="12700">
            <a:solidFill>
              <a:srgbClr val="7B1A15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19" name="Shape 17"/>
          <p:cNvSpPr/>
          <p:nvPr/>
        </p:nvSpPr>
        <p:spPr>
          <a:xfrm>
            <a:off x="5925312" y="18288"/>
            <a:ext cx="201168" cy="54864"/>
          </a:xfrm>
          <a:prstGeom prst="rect">
            <a:avLst/>
          </a:prstGeom>
          <a:solidFill>
            <a:srgbClr val="7B1A15"/>
          </a:solidFill>
          <a:ln w="12700">
            <a:solidFill>
              <a:srgbClr val="7B1A15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20" name="Shape 18"/>
          <p:cNvSpPr/>
          <p:nvPr/>
        </p:nvSpPr>
        <p:spPr>
          <a:xfrm>
            <a:off x="6291072" y="18288"/>
            <a:ext cx="201168" cy="54864"/>
          </a:xfrm>
          <a:prstGeom prst="rect">
            <a:avLst/>
          </a:prstGeom>
          <a:solidFill>
            <a:srgbClr val="7B1A15"/>
          </a:solidFill>
          <a:ln w="12700">
            <a:solidFill>
              <a:srgbClr val="7B1A15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21" name="Shape 19"/>
          <p:cNvSpPr/>
          <p:nvPr/>
        </p:nvSpPr>
        <p:spPr>
          <a:xfrm>
            <a:off x="6656832" y="18288"/>
            <a:ext cx="201168" cy="54864"/>
          </a:xfrm>
          <a:prstGeom prst="rect">
            <a:avLst/>
          </a:prstGeom>
          <a:solidFill>
            <a:srgbClr val="7B1A15"/>
          </a:solidFill>
          <a:ln w="12700">
            <a:solidFill>
              <a:srgbClr val="7B1A15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22" name="Shape 20"/>
          <p:cNvSpPr/>
          <p:nvPr/>
        </p:nvSpPr>
        <p:spPr>
          <a:xfrm>
            <a:off x="7022592" y="18288"/>
            <a:ext cx="201168" cy="54864"/>
          </a:xfrm>
          <a:prstGeom prst="rect">
            <a:avLst/>
          </a:prstGeom>
          <a:solidFill>
            <a:srgbClr val="7B1A15"/>
          </a:solidFill>
          <a:ln w="12700">
            <a:solidFill>
              <a:srgbClr val="7B1A15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23" name="Shape 21"/>
          <p:cNvSpPr/>
          <p:nvPr/>
        </p:nvSpPr>
        <p:spPr>
          <a:xfrm>
            <a:off x="7388352" y="18288"/>
            <a:ext cx="201168" cy="54864"/>
          </a:xfrm>
          <a:prstGeom prst="rect">
            <a:avLst/>
          </a:prstGeom>
          <a:solidFill>
            <a:srgbClr val="7B1A15"/>
          </a:solidFill>
          <a:ln w="12700">
            <a:solidFill>
              <a:srgbClr val="7B1A15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24" name="Shape 22"/>
          <p:cNvSpPr/>
          <p:nvPr/>
        </p:nvSpPr>
        <p:spPr>
          <a:xfrm>
            <a:off x="7754112" y="18288"/>
            <a:ext cx="201168" cy="54864"/>
          </a:xfrm>
          <a:prstGeom prst="rect">
            <a:avLst/>
          </a:prstGeom>
          <a:solidFill>
            <a:srgbClr val="7B1A15"/>
          </a:solidFill>
          <a:ln w="12700">
            <a:solidFill>
              <a:srgbClr val="7B1A15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25" name="Shape 23"/>
          <p:cNvSpPr/>
          <p:nvPr/>
        </p:nvSpPr>
        <p:spPr>
          <a:xfrm>
            <a:off x="8119872" y="18288"/>
            <a:ext cx="201168" cy="54864"/>
          </a:xfrm>
          <a:prstGeom prst="rect">
            <a:avLst/>
          </a:prstGeom>
          <a:solidFill>
            <a:srgbClr val="7B1A15"/>
          </a:solidFill>
          <a:ln w="12700">
            <a:solidFill>
              <a:srgbClr val="7B1A15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26" name="Shape 24"/>
          <p:cNvSpPr/>
          <p:nvPr/>
        </p:nvSpPr>
        <p:spPr>
          <a:xfrm>
            <a:off x="8485632" y="18288"/>
            <a:ext cx="201168" cy="54864"/>
          </a:xfrm>
          <a:prstGeom prst="rect">
            <a:avLst/>
          </a:prstGeom>
          <a:solidFill>
            <a:srgbClr val="7B1A15"/>
          </a:solidFill>
          <a:ln w="12700">
            <a:solidFill>
              <a:srgbClr val="7B1A15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27" name="Shape 25"/>
          <p:cNvSpPr/>
          <p:nvPr/>
        </p:nvSpPr>
        <p:spPr>
          <a:xfrm>
            <a:off x="8851392" y="18288"/>
            <a:ext cx="201168" cy="54864"/>
          </a:xfrm>
          <a:prstGeom prst="rect">
            <a:avLst/>
          </a:prstGeom>
          <a:solidFill>
            <a:srgbClr val="7B1A15"/>
          </a:solidFill>
          <a:ln w="12700">
            <a:solidFill>
              <a:srgbClr val="7B1A15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28" name="Text 26"/>
          <p:cNvSpPr/>
          <p:nvPr/>
        </p:nvSpPr>
        <p:spPr>
          <a:xfrm>
            <a:off x="457200" y="201168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E8E8E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RAG ve Vektör Arama</a:t>
            </a:r>
            <a:endParaRPr lang="en-US" sz="2600" dirty="0"/>
          </a:p>
        </p:txBody>
      </p:sp>
      <p:sp>
        <p:nvSpPr>
          <p:cNvPr id="29" name="Shape 27"/>
          <p:cNvSpPr/>
          <p:nvPr/>
        </p:nvSpPr>
        <p:spPr>
          <a:xfrm>
            <a:off x="457200" y="713232"/>
            <a:ext cx="8229600" cy="0"/>
          </a:xfrm>
          <a:prstGeom prst="line">
            <a:avLst/>
          </a:prstGeom>
          <a:noFill/>
          <a:ln w="6350">
            <a:solidFill>
              <a:srgbClr val="252540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30" name="Shape 28"/>
          <p:cNvSpPr/>
          <p:nvPr/>
        </p:nvSpPr>
        <p:spPr>
          <a:xfrm>
            <a:off x="365760" y="841248"/>
            <a:ext cx="4023360" cy="3840480"/>
          </a:xfrm>
          <a:prstGeom prst="rect">
            <a:avLst/>
          </a:prstGeom>
          <a:solidFill>
            <a:srgbClr val="0D0D18"/>
          </a:solidFill>
          <a:ln w="6350">
            <a:solidFill>
              <a:srgbClr val="1C1C30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31" name="Shape 29"/>
          <p:cNvSpPr/>
          <p:nvPr/>
        </p:nvSpPr>
        <p:spPr>
          <a:xfrm>
            <a:off x="365760" y="841248"/>
            <a:ext cx="54864" cy="3840480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32" name="Text 30"/>
          <p:cNvSpPr/>
          <p:nvPr/>
        </p:nvSpPr>
        <p:spPr>
          <a:xfrm>
            <a:off x="566928" y="91440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E8E8E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RAG Nedir?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566928" y="1298448"/>
            <a:ext cx="3657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8888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Retrieval-Augmented Generation (RAG), LLM'in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8888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bilgisini statik eğitim verisine hapsetmek yerine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8888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gerçek zamanlı olarak bir bilgi tabanından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8888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belgeler çekip bu bağlamla yanıt üretmesini sağlar.</a:t>
            </a:r>
            <a:endParaRPr lang="en-US" sz="1050" dirty="0"/>
          </a:p>
        </p:txBody>
      </p:sp>
      <p:sp>
        <p:nvSpPr>
          <p:cNvPr id="34" name="Shape 32"/>
          <p:cNvSpPr/>
          <p:nvPr/>
        </p:nvSpPr>
        <p:spPr>
          <a:xfrm>
            <a:off x="566928" y="2368296"/>
            <a:ext cx="256032" cy="256032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35" name="Text 33"/>
          <p:cNvSpPr/>
          <p:nvPr/>
        </p:nvSpPr>
        <p:spPr>
          <a:xfrm>
            <a:off x="566928" y="2368296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E8E8E0"/>
                </a:solidFill>
              </a:rPr>
              <a:t>1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914400" y="2331720"/>
            <a:ext cx="10058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E8E8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Embed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914400" y="2496312"/>
            <a:ext cx="29260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8888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Filmler text-embedding-3-small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8888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ile vektöre dönüştürülür</a:t>
            </a:r>
            <a:endParaRPr lang="en-US" sz="850" dirty="0"/>
          </a:p>
        </p:txBody>
      </p:sp>
      <p:sp>
        <p:nvSpPr>
          <p:cNvPr id="38" name="Shape 36"/>
          <p:cNvSpPr/>
          <p:nvPr/>
        </p:nvSpPr>
        <p:spPr>
          <a:xfrm>
            <a:off x="566928" y="2916936"/>
            <a:ext cx="256032" cy="256032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39" name="Text 37"/>
          <p:cNvSpPr/>
          <p:nvPr/>
        </p:nvSpPr>
        <p:spPr>
          <a:xfrm>
            <a:off x="566928" y="2916936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E8E8E0"/>
                </a:solidFill>
              </a:rPr>
              <a:t>2</a:t>
            </a:r>
            <a:endParaRPr lang="en-US" sz="900" dirty="0"/>
          </a:p>
        </p:txBody>
      </p:sp>
      <p:sp>
        <p:nvSpPr>
          <p:cNvPr id="40" name="Text 38"/>
          <p:cNvSpPr/>
          <p:nvPr/>
        </p:nvSpPr>
        <p:spPr>
          <a:xfrm>
            <a:off x="914400" y="2880360"/>
            <a:ext cx="10058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E8E8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Store</a:t>
            </a:r>
            <a:endParaRPr lang="en-US" sz="900" dirty="0"/>
          </a:p>
        </p:txBody>
      </p:sp>
      <p:sp>
        <p:nvSpPr>
          <p:cNvPr id="41" name="Text 39"/>
          <p:cNvSpPr/>
          <p:nvPr/>
        </p:nvSpPr>
        <p:spPr>
          <a:xfrm>
            <a:off x="914400" y="3044952"/>
            <a:ext cx="29260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8888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FAISS indeksine yazılır</a:t>
            </a:r>
            <a:endParaRPr lang="en-US" sz="850" dirty="0"/>
          </a:p>
        </p:txBody>
      </p:sp>
      <p:sp>
        <p:nvSpPr>
          <p:cNvPr id="42" name="Shape 40"/>
          <p:cNvSpPr/>
          <p:nvPr/>
        </p:nvSpPr>
        <p:spPr>
          <a:xfrm>
            <a:off x="566928" y="3465576"/>
            <a:ext cx="256032" cy="256032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43" name="Text 41"/>
          <p:cNvSpPr/>
          <p:nvPr/>
        </p:nvSpPr>
        <p:spPr>
          <a:xfrm>
            <a:off x="566928" y="3465576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E8E8E0"/>
                </a:solidFill>
              </a:rPr>
              <a:t>3</a:t>
            </a:r>
            <a:endParaRPr lang="en-US" sz="900" dirty="0"/>
          </a:p>
        </p:txBody>
      </p:sp>
      <p:sp>
        <p:nvSpPr>
          <p:cNvPr id="44" name="Text 42"/>
          <p:cNvSpPr/>
          <p:nvPr/>
        </p:nvSpPr>
        <p:spPr>
          <a:xfrm>
            <a:off x="914400" y="3429000"/>
            <a:ext cx="10058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E8E8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Retrieve</a:t>
            </a:r>
            <a:endParaRPr lang="en-US" sz="900" dirty="0"/>
          </a:p>
        </p:txBody>
      </p:sp>
      <p:sp>
        <p:nvSpPr>
          <p:cNvPr id="45" name="Text 43"/>
          <p:cNvSpPr/>
          <p:nvPr/>
        </p:nvSpPr>
        <p:spPr>
          <a:xfrm>
            <a:off x="914400" y="3593592"/>
            <a:ext cx="29260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8888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Kullanıcı sorusu vektörleştirilir,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8888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yakın 30 film bulunur</a:t>
            </a:r>
            <a:endParaRPr lang="en-US" sz="850" dirty="0"/>
          </a:p>
        </p:txBody>
      </p:sp>
      <p:sp>
        <p:nvSpPr>
          <p:cNvPr id="46" name="Shape 44"/>
          <p:cNvSpPr/>
          <p:nvPr/>
        </p:nvSpPr>
        <p:spPr>
          <a:xfrm>
            <a:off x="566928" y="4014216"/>
            <a:ext cx="256032" cy="256032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47" name="Text 45"/>
          <p:cNvSpPr/>
          <p:nvPr/>
        </p:nvSpPr>
        <p:spPr>
          <a:xfrm>
            <a:off x="566928" y="4014216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E8E8E0"/>
                </a:solidFill>
              </a:rPr>
              <a:t>4</a:t>
            </a:r>
            <a:endParaRPr lang="en-US" sz="900" dirty="0"/>
          </a:p>
        </p:txBody>
      </p:sp>
      <p:sp>
        <p:nvSpPr>
          <p:cNvPr id="48" name="Text 46"/>
          <p:cNvSpPr/>
          <p:nvPr/>
        </p:nvSpPr>
        <p:spPr>
          <a:xfrm>
            <a:off x="914400" y="3977640"/>
            <a:ext cx="10058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E8E8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</a:t>
            </a:r>
            <a:endParaRPr lang="en-US" sz="900" dirty="0"/>
          </a:p>
        </p:txBody>
      </p:sp>
      <p:sp>
        <p:nvSpPr>
          <p:cNvPr id="49" name="Text 47"/>
          <p:cNvSpPr/>
          <p:nvPr/>
        </p:nvSpPr>
        <p:spPr>
          <a:xfrm>
            <a:off x="914400" y="4142232"/>
            <a:ext cx="29260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8888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GPT-4o-mini bağlamla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8888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prompt alır, yanıt üretir</a:t>
            </a:r>
            <a:endParaRPr lang="en-US" sz="850" dirty="0"/>
          </a:p>
        </p:txBody>
      </p:sp>
      <p:sp>
        <p:nvSpPr>
          <p:cNvPr id="50" name="Shape 48"/>
          <p:cNvSpPr/>
          <p:nvPr/>
        </p:nvSpPr>
        <p:spPr>
          <a:xfrm>
            <a:off x="4663440" y="841248"/>
            <a:ext cx="4023360" cy="1828800"/>
          </a:xfrm>
          <a:prstGeom prst="rect">
            <a:avLst/>
          </a:prstGeom>
          <a:solidFill>
            <a:srgbClr val="0D0D18"/>
          </a:solidFill>
          <a:ln w="6350">
            <a:solidFill>
              <a:srgbClr val="1C1C30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51" name="Shape 49"/>
          <p:cNvSpPr/>
          <p:nvPr/>
        </p:nvSpPr>
        <p:spPr>
          <a:xfrm>
            <a:off x="4663440" y="841248"/>
            <a:ext cx="54864" cy="1828800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52" name="Text 50"/>
          <p:cNvSpPr/>
          <p:nvPr/>
        </p:nvSpPr>
        <p:spPr>
          <a:xfrm>
            <a:off x="4864608" y="91440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E8E8E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MMR – Maximal Marginal Relevance</a:t>
            </a:r>
            <a:endParaRPr lang="en-US" sz="1200" dirty="0"/>
          </a:p>
        </p:txBody>
      </p:sp>
      <p:sp>
        <p:nvSpPr>
          <p:cNvPr id="53" name="Text 51"/>
          <p:cNvSpPr/>
          <p:nvPr/>
        </p:nvSpPr>
        <p:spPr>
          <a:xfrm>
            <a:off x="4864608" y="1298448"/>
            <a:ext cx="36576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888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Sadece en yakın sonuçları değil, birbirinden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8888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farklı ama alakalı sonuçları döndürür.</a:t>
            </a:r>
            <a:endParaRPr lang="en-US" sz="1000" dirty="0"/>
          </a:p>
          <a:p>
            <a:pPr marL="0" indent="0">
              <a:buNone/>
            </a:pP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8888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λ = 0.5 → alaka ve çeşitlilik dengesi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8888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fetch_k = 30 → havuz,  k = 10 → final</a:t>
            </a:r>
            <a:endParaRPr lang="en-US" sz="1000" dirty="0"/>
          </a:p>
        </p:txBody>
      </p:sp>
      <p:sp>
        <p:nvSpPr>
          <p:cNvPr id="54" name="Shape 52"/>
          <p:cNvSpPr/>
          <p:nvPr/>
        </p:nvSpPr>
        <p:spPr>
          <a:xfrm>
            <a:off x="4663440" y="2834640"/>
            <a:ext cx="4023360" cy="1874520"/>
          </a:xfrm>
          <a:prstGeom prst="rect">
            <a:avLst/>
          </a:prstGeom>
          <a:solidFill>
            <a:srgbClr val="111120"/>
          </a:solidFill>
          <a:ln w="6350">
            <a:solidFill>
              <a:srgbClr val="1C1C30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55" name="Shape 53"/>
          <p:cNvSpPr/>
          <p:nvPr/>
        </p:nvSpPr>
        <p:spPr>
          <a:xfrm>
            <a:off x="4663440" y="2834640"/>
            <a:ext cx="54864" cy="1874520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56" name="Text 54"/>
          <p:cNvSpPr/>
          <p:nvPr/>
        </p:nvSpPr>
        <p:spPr>
          <a:xfrm>
            <a:off x="4864608" y="2907792"/>
            <a:ext cx="3657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E8E8E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Prompt Yapısı</a:t>
            </a:r>
            <a:endParaRPr lang="en-US" sz="1200" dirty="0"/>
          </a:p>
        </p:txBody>
      </p:sp>
      <p:sp>
        <p:nvSpPr>
          <p:cNvPr id="57" name="Shape 55"/>
          <p:cNvSpPr/>
          <p:nvPr/>
        </p:nvSpPr>
        <p:spPr>
          <a:xfrm>
            <a:off x="4864608" y="3328416"/>
            <a:ext cx="640080" cy="182880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58" name="Text 56"/>
          <p:cNvSpPr/>
          <p:nvPr/>
        </p:nvSpPr>
        <p:spPr>
          <a:xfrm>
            <a:off x="4864608" y="3328416"/>
            <a:ext cx="640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E8E8E0"/>
                </a:solidFill>
              </a:rPr>
              <a:t>System</a:t>
            </a:r>
            <a:endParaRPr lang="en-US" sz="750" dirty="0"/>
          </a:p>
        </p:txBody>
      </p:sp>
      <p:sp>
        <p:nvSpPr>
          <p:cNvPr id="59" name="Text 57"/>
          <p:cNvSpPr/>
          <p:nvPr/>
        </p:nvSpPr>
        <p:spPr>
          <a:xfrm>
            <a:off x="5559552" y="3291840"/>
            <a:ext cx="2926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8888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Karakter + görev tanımı + Türkçe yaz</a:t>
            </a:r>
            <a:endParaRPr lang="en-US" sz="850" dirty="0"/>
          </a:p>
        </p:txBody>
      </p:sp>
      <p:sp>
        <p:nvSpPr>
          <p:cNvPr id="60" name="Shape 58"/>
          <p:cNvSpPr/>
          <p:nvPr/>
        </p:nvSpPr>
        <p:spPr>
          <a:xfrm>
            <a:off x="4864608" y="3657600"/>
            <a:ext cx="640080" cy="182880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61" name="Text 59"/>
          <p:cNvSpPr/>
          <p:nvPr/>
        </p:nvSpPr>
        <p:spPr>
          <a:xfrm>
            <a:off x="4864608" y="3657600"/>
            <a:ext cx="640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E8E8E0"/>
                </a:solidFill>
              </a:rPr>
              <a:t>Context</a:t>
            </a:r>
            <a:endParaRPr lang="en-US" sz="750" dirty="0"/>
          </a:p>
        </p:txBody>
      </p:sp>
      <p:sp>
        <p:nvSpPr>
          <p:cNvPr id="62" name="Text 60"/>
          <p:cNvSpPr/>
          <p:nvPr/>
        </p:nvSpPr>
        <p:spPr>
          <a:xfrm>
            <a:off x="5559552" y="3621024"/>
            <a:ext cx="2926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8888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FAISS'ten çekilen 10 film verisi</a:t>
            </a:r>
            <a:endParaRPr lang="en-US" sz="850" dirty="0"/>
          </a:p>
        </p:txBody>
      </p:sp>
      <p:sp>
        <p:nvSpPr>
          <p:cNvPr id="63" name="Shape 61"/>
          <p:cNvSpPr/>
          <p:nvPr/>
        </p:nvSpPr>
        <p:spPr>
          <a:xfrm>
            <a:off x="4864608" y="3986784"/>
            <a:ext cx="640080" cy="182880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64" name="Text 62"/>
          <p:cNvSpPr/>
          <p:nvPr/>
        </p:nvSpPr>
        <p:spPr>
          <a:xfrm>
            <a:off x="4864608" y="3986784"/>
            <a:ext cx="640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E8E8E0"/>
                </a:solidFill>
              </a:rPr>
              <a:t>History</a:t>
            </a:r>
            <a:endParaRPr lang="en-US" sz="750" dirty="0"/>
          </a:p>
        </p:txBody>
      </p:sp>
      <p:sp>
        <p:nvSpPr>
          <p:cNvPr id="65" name="Text 63"/>
          <p:cNvSpPr/>
          <p:nvPr/>
        </p:nvSpPr>
        <p:spPr>
          <a:xfrm>
            <a:off x="5559552" y="3950208"/>
            <a:ext cx="2926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8888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Son 6 mesaj (konuşma hafızası)</a:t>
            </a:r>
            <a:endParaRPr lang="en-US" sz="850" dirty="0"/>
          </a:p>
        </p:txBody>
      </p:sp>
      <p:sp>
        <p:nvSpPr>
          <p:cNvPr id="66" name="Shape 64"/>
          <p:cNvSpPr/>
          <p:nvPr/>
        </p:nvSpPr>
        <p:spPr>
          <a:xfrm>
            <a:off x="4864608" y="4315968"/>
            <a:ext cx="640080" cy="182880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67" name="Text 65"/>
          <p:cNvSpPr/>
          <p:nvPr/>
        </p:nvSpPr>
        <p:spPr>
          <a:xfrm>
            <a:off x="4864608" y="4315968"/>
            <a:ext cx="640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E8E8E0"/>
                </a:solidFill>
              </a:rPr>
              <a:t>Human</a:t>
            </a:r>
            <a:endParaRPr lang="en-US" sz="750" dirty="0"/>
          </a:p>
        </p:txBody>
      </p:sp>
      <p:sp>
        <p:nvSpPr>
          <p:cNvPr id="68" name="Text 66"/>
          <p:cNvSpPr/>
          <p:nvPr/>
        </p:nvSpPr>
        <p:spPr>
          <a:xfrm>
            <a:off x="5559552" y="4279392"/>
            <a:ext cx="2926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8888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Kullanıcının anlık sorusu</a:t>
            </a:r>
            <a:endParaRPr lang="en-US" sz="8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8080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3" name="Shape 1"/>
          <p:cNvSpPr/>
          <p:nvPr/>
        </p:nvSpPr>
        <p:spPr>
          <a:xfrm>
            <a:off x="73152" y="18288"/>
            <a:ext cx="201168" cy="54864"/>
          </a:xfrm>
          <a:prstGeom prst="rect">
            <a:avLst/>
          </a:prstGeom>
          <a:solidFill>
            <a:srgbClr val="7B1A15"/>
          </a:solidFill>
          <a:ln w="12700">
            <a:solidFill>
              <a:srgbClr val="7B1A15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4" name="Shape 2"/>
          <p:cNvSpPr/>
          <p:nvPr/>
        </p:nvSpPr>
        <p:spPr>
          <a:xfrm>
            <a:off x="438912" y="18288"/>
            <a:ext cx="201168" cy="54864"/>
          </a:xfrm>
          <a:prstGeom prst="rect">
            <a:avLst/>
          </a:prstGeom>
          <a:solidFill>
            <a:srgbClr val="7B1A15"/>
          </a:solidFill>
          <a:ln w="12700">
            <a:solidFill>
              <a:srgbClr val="7B1A15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5" name="Shape 3"/>
          <p:cNvSpPr/>
          <p:nvPr/>
        </p:nvSpPr>
        <p:spPr>
          <a:xfrm>
            <a:off x="804672" y="18288"/>
            <a:ext cx="201168" cy="54864"/>
          </a:xfrm>
          <a:prstGeom prst="rect">
            <a:avLst/>
          </a:prstGeom>
          <a:solidFill>
            <a:srgbClr val="7B1A15"/>
          </a:solidFill>
          <a:ln w="12700">
            <a:solidFill>
              <a:srgbClr val="7B1A15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6" name="Shape 4"/>
          <p:cNvSpPr/>
          <p:nvPr/>
        </p:nvSpPr>
        <p:spPr>
          <a:xfrm>
            <a:off x="1170432" y="18288"/>
            <a:ext cx="201168" cy="54864"/>
          </a:xfrm>
          <a:prstGeom prst="rect">
            <a:avLst/>
          </a:prstGeom>
          <a:solidFill>
            <a:srgbClr val="7B1A15"/>
          </a:solidFill>
          <a:ln w="12700">
            <a:solidFill>
              <a:srgbClr val="7B1A15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7" name="Shape 5"/>
          <p:cNvSpPr/>
          <p:nvPr/>
        </p:nvSpPr>
        <p:spPr>
          <a:xfrm>
            <a:off x="1536192" y="18288"/>
            <a:ext cx="201168" cy="54864"/>
          </a:xfrm>
          <a:prstGeom prst="rect">
            <a:avLst/>
          </a:prstGeom>
          <a:solidFill>
            <a:srgbClr val="7B1A15"/>
          </a:solidFill>
          <a:ln w="12700">
            <a:solidFill>
              <a:srgbClr val="7B1A15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8" name="Shape 6"/>
          <p:cNvSpPr/>
          <p:nvPr/>
        </p:nvSpPr>
        <p:spPr>
          <a:xfrm>
            <a:off x="1901952" y="18288"/>
            <a:ext cx="201168" cy="54864"/>
          </a:xfrm>
          <a:prstGeom prst="rect">
            <a:avLst/>
          </a:prstGeom>
          <a:solidFill>
            <a:srgbClr val="7B1A15"/>
          </a:solidFill>
          <a:ln w="12700">
            <a:solidFill>
              <a:srgbClr val="7B1A15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9" name="Shape 7"/>
          <p:cNvSpPr/>
          <p:nvPr/>
        </p:nvSpPr>
        <p:spPr>
          <a:xfrm>
            <a:off x="2267712" y="18288"/>
            <a:ext cx="201168" cy="54864"/>
          </a:xfrm>
          <a:prstGeom prst="rect">
            <a:avLst/>
          </a:prstGeom>
          <a:solidFill>
            <a:srgbClr val="7B1A15"/>
          </a:solidFill>
          <a:ln w="12700">
            <a:solidFill>
              <a:srgbClr val="7B1A15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10" name="Shape 8"/>
          <p:cNvSpPr/>
          <p:nvPr/>
        </p:nvSpPr>
        <p:spPr>
          <a:xfrm>
            <a:off x="2633472" y="18288"/>
            <a:ext cx="201168" cy="54864"/>
          </a:xfrm>
          <a:prstGeom prst="rect">
            <a:avLst/>
          </a:prstGeom>
          <a:solidFill>
            <a:srgbClr val="7B1A15"/>
          </a:solidFill>
          <a:ln w="12700">
            <a:solidFill>
              <a:srgbClr val="7B1A15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11" name="Shape 9"/>
          <p:cNvSpPr/>
          <p:nvPr/>
        </p:nvSpPr>
        <p:spPr>
          <a:xfrm>
            <a:off x="2999232" y="18288"/>
            <a:ext cx="201168" cy="54864"/>
          </a:xfrm>
          <a:prstGeom prst="rect">
            <a:avLst/>
          </a:prstGeom>
          <a:solidFill>
            <a:srgbClr val="7B1A15"/>
          </a:solidFill>
          <a:ln w="12700">
            <a:solidFill>
              <a:srgbClr val="7B1A15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12" name="Shape 10"/>
          <p:cNvSpPr/>
          <p:nvPr/>
        </p:nvSpPr>
        <p:spPr>
          <a:xfrm>
            <a:off x="3364992" y="18288"/>
            <a:ext cx="201168" cy="54864"/>
          </a:xfrm>
          <a:prstGeom prst="rect">
            <a:avLst/>
          </a:prstGeom>
          <a:solidFill>
            <a:srgbClr val="7B1A15"/>
          </a:solidFill>
          <a:ln w="12700">
            <a:solidFill>
              <a:srgbClr val="7B1A15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13" name="Shape 11"/>
          <p:cNvSpPr/>
          <p:nvPr/>
        </p:nvSpPr>
        <p:spPr>
          <a:xfrm>
            <a:off x="3730752" y="18288"/>
            <a:ext cx="201168" cy="54864"/>
          </a:xfrm>
          <a:prstGeom prst="rect">
            <a:avLst/>
          </a:prstGeom>
          <a:solidFill>
            <a:srgbClr val="7B1A15"/>
          </a:solidFill>
          <a:ln w="12700">
            <a:solidFill>
              <a:srgbClr val="7B1A15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14" name="Shape 12"/>
          <p:cNvSpPr/>
          <p:nvPr/>
        </p:nvSpPr>
        <p:spPr>
          <a:xfrm>
            <a:off x="4096512" y="18288"/>
            <a:ext cx="201168" cy="54864"/>
          </a:xfrm>
          <a:prstGeom prst="rect">
            <a:avLst/>
          </a:prstGeom>
          <a:solidFill>
            <a:srgbClr val="7B1A15"/>
          </a:solidFill>
          <a:ln w="12700">
            <a:solidFill>
              <a:srgbClr val="7B1A15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15" name="Shape 13"/>
          <p:cNvSpPr/>
          <p:nvPr/>
        </p:nvSpPr>
        <p:spPr>
          <a:xfrm>
            <a:off x="4462272" y="18288"/>
            <a:ext cx="201168" cy="54864"/>
          </a:xfrm>
          <a:prstGeom prst="rect">
            <a:avLst/>
          </a:prstGeom>
          <a:solidFill>
            <a:srgbClr val="7B1A15"/>
          </a:solidFill>
          <a:ln w="12700">
            <a:solidFill>
              <a:srgbClr val="7B1A15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16" name="Shape 14"/>
          <p:cNvSpPr/>
          <p:nvPr/>
        </p:nvSpPr>
        <p:spPr>
          <a:xfrm>
            <a:off x="4828032" y="18288"/>
            <a:ext cx="201168" cy="54864"/>
          </a:xfrm>
          <a:prstGeom prst="rect">
            <a:avLst/>
          </a:prstGeom>
          <a:solidFill>
            <a:srgbClr val="7B1A15"/>
          </a:solidFill>
          <a:ln w="12700">
            <a:solidFill>
              <a:srgbClr val="7B1A15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17" name="Shape 15"/>
          <p:cNvSpPr/>
          <p:nvPr/>
        </p:nvSpPr>
        <p:spPr>
          <a:xfrm>
            <a:off x="5193792" y="18288"/>
            <a:ext cx="201168" cy="54864"/>
          </a:xfrm>
          <a:prstGeom prst="rect">
            <a:avLst/>
          </a:prstGeom>
          <a:solidFill>
            <a:srgbClr val="7B1A15"/>
          </a:solidFill>
          <a:ln w="12700">
            <a:solidFill>
              <a:srgbClr val="7B1A15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18" name="Shape 16"/>
          <p:cNvSpPr/>
          <p:nvPr/>
        </p:nvSpPr>
        <p:spPr>
          <a:xfrm>
            <a:off x="5559552" y="18288"/>
            <a:ext cx="201168" cy="54864"/>
          </a:xfrm>
          <a:prstGeom prst="rect">
            <a:avLst/>
          </a:prstGeom>
          <a:solidFill>
            <a:srgbClr val="7B1A15"/>
          </a:solidFill>
          <a:ln w="12700">
            <a:solidFill>
              <a:srgbClr val="7B1A15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19" name="Shape 17"/>
          <p:cNvSpPr/>
          <p:nvPr/>
        </p:nvSpPr>
        <p:spPr>
          <a:xfrm>
            <a:off x="5925312" y="18288"/>
            <a:ext cx="201168" cy="54864"/>
          </a:xfrm>
          <a:prstGeom prst="rect">
            <a:avLst/>
          </a:prstGeom>
          <a:solidFill>
            <a:srgbClr val="7B1A15"/>
          </a:solidFill>
          <a:ln w="12700">
            <a:solidFill>
              <a:srgbClr val="7B1A15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20" name="Shape 18"/>
          <p:cNvSpPr/>
          <p:nvPr/>
        </p:nvSpPr>
        <p:spPr>
          <a:xfrm>
            <a:off x="6291072" y="18288"/>
            <a:ext cx="201168" cy="54864"/>
          </a:xfrm>
          <a:prstGeom prst="rect">
            <a:avLst/>
          </a:prstGeom>
          <a:solidFill>
            <a:srgbClr val="7B1A15"/>
          </a:solidFill>
          <a:ln w="12700">
            <a:solidFill>
              <a:srgbClr val="7B1A15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21" name="Shape 19"/>
          <p:cNvSpPr/>
          <p:nvPr/>
        </p:nvSpPr>
        <p:spPr>
          <a:xfrm>
            <a:off x="6656832" y="18288"/>
            <a:ext cx="201168" cy="54864"/>
          </a:xfrm>
          <a:prstGeom prst="rect">
            <a:avLst/>
          </a:prstGeom>
          <a:solidFill>
            <a:srgbClr val="7B1A15"/>
          </a:solidFill>
          <a:ln w="12700">
            <a:solidFill>
              <a:srgbClr val="7B1A15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22" name="Shape 20"/>
          <p:cNvSpPr/>
          <p:nvPr/>
        </p:nvSpPr>
        <p:spPr>
          <a:xfrm>
            <a:off x="7022592" y="18288"/>
            <a:ext cx="201168" cy="54864"/>
          </a:xfrm>
          <a:prstGeom prst="rect">
            <a:avLst/>
          </a:prstGeom>
          <a:solidFill>
            <a:srgbClr val="7B1A15"/>
          </a:solidFill>
          <a:ln w="12700">
            <a:solidFill>
              <a:srgbClr val="7B1A15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23" name="Shape 21"/>
          <p:cNvSpPr/>
          <p:nvPr/>
        </p:nvSpPr>
        <p:spPr>
          <a:xfrm>
            <a:off x="7388352" y="18288"/>
            <a:ext cx="201168" cy="54864"/>
          </a:xfrm>
          <a:prstGeom prst="rect">
            <a:avLst/>
          </a:prstGeom>
          <a:solidFill>
            <a:srgbClr val="7B1A15"/>
          </a:solidFill>
          <a:ln w="12700">
            <a:solidFill>
              <a:srgbClr val="7B1A15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24" name="Shape 22"/>
          <p:cNvSpPr/>
          <p:nvPr/>
        </p:nvSpPr>
        <p:spPr>
          <a:xfrm>
            <a:off x="7754112" y="18288"/>
            <a:ext cx="201168" cy="54864"/>
          </a:xfrm>
          <a:prstGeom prst="rect">
            <a:avLst/>
          </a:prstGeom>
          <a:solidFill>
            <a:srgbClr val="7B1A15"/>
          </a:solidFill>
          <a:ln w="12700">
            <a:solidFill>
              <a:srgbClr val="7B1A15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25" name="Shape 23"/>
          <p:cNvSpPr/>
          <p:nvPr/>
        </p:nvSpPr>
        <p:spPr>
          <a:xfrm>
            <a:off x="8119872" y="18288"/>
            <a:ext cx="201168" cy="54864"/>
          </a:xfrm>
          <a:prstGeom prst="rect">
            <a:avLst/>
          </a:prstGeom>
          <a:solidFill>
            <a:srgbClr val="7B1A15"/>
          </a:solidFill>
          <a:ln w="12700">
            <a:solidFill>
              <a:srgbClr val="7B1A15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26" name="Shape 24"/>
          <p:cNvSpPr/>
          <p:nvPr/>
        </p:nvSpPr>
        <p:spPr>
          <a:xfrm>
            <a:off x="8485632" y="18288"/>
            <a:ext cx="201168" cy="54864"/>
          </a:xfrm>
          <a:prstGeom prst="rect">
            <a:avLst/>
          </a:prstGeom>
          <a:solidFill>
            <a:srgbClr val="7B1A15"/>
          </a:solidFill>
          <a:ln w="12700">
            <a:solidFill>
              <a:srgbClr val="7B1A15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27" name="Shape 25"/>
          <p:cNvSpPr/>
          <p:nvPr/>
        </p:nvSpPr>
        <p:spPr>
          <a:xfrm>
            <a:off x="8851392" y="18288"/>
            <a:ext cx="201168" cy="54864"/>
          </a:xfrm>
          <a:prstGeom prst="rect">
            <a:avLst/>
          </a:prstGeom>
          <a:solidFill>
            <a:srgbClr val="7B1A15"/>
          </a:solidFill>
          <a:ln w="12700">
            <a:solidFill>
              <a:srgbClr val="7B1A15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28" name="Text 26"/>
          <p:cNvSpPr/>
          <p:nvPr/>
        </p:nvSpPr>
        <p:spPr>
          <a:xfrm>
            <a:off x="457200" y="201168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E8E8E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Veri Seti: film.csv</a:t>
            </a:r>
            <a:endParaRPr lang="en-US" sz="2600" dirty="0"/>
          </a:p>
        </p:txBody>
      </p:sp>
      <p:sp>
        <p:nvSpPr>
          <p:cNvPr id="29" name="Shape 27"/>
          <p:cNvSpPr/>
          <p:nvPr/>
        </p:nvSpPr>
        <p:spPr>
          <a:xfrm>
            <a:off x="457200" y="713232"/>
            <a:ext cx="8229600" cy="0"/>
          </a:xfrm>
          <a:prstGeom prst="line">
            <a:avLst/>
          </a:prstGeom>
          <a:noFill/>
          <a:ln w="6350">
            <a:solidFill>
              <a:srgbClr val="252540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30" name="Shape 28"/>
          <p:cNvSpPr/>
          <p:nvPr/>
        </p:nvSpPr>
        <p:spPr>
          <a:xfrm>
            <a:off x="457200" y="841248"/>
            <a:ext cx="2606040" cy="960120"/>
          </a:xfrm>
          <a:prstGeom prst="rect">
            <a:avLst/>
          </a:prstGeom>
          <a:solidFill>
            <a:srgbClr val="0D0D18"/>
          </a:solidFill>
          <a:ln w="6350">
            <a:solidFill>
              <a:srgbClr val="1C1C30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31" name="Shape 29"/>
          <p:cNvSpPr/>
          <p:nvPr/>
        </p:nvSpPr>
        <p:spPr>
          <a:xfrm>
            <a:off x="457200" y="841248"/>
            <a:ext cx="2606040" cy="54864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32" name="Text 30"/>
          <p:cNvSpPr/>
          <p:nvPr/>
        </p:nvSpPr>
        <p:spPr>
          <a:xfrm>
            <a:off x="457200" y="932688"/>
            <a:ext cx="2606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E74C3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135 MB</a:t>
            </a:r>
            <a:endParaRPr lang="en-US" sz="2800" dirty="0"/>
          </a:p>
        </p:txBody>
      </p:sp>
      <p:sp>
        <p:nvSpPr>
          <p:cNvPr id="33" name="Text 31"/>
          <p:cNvSpPr/>
          <p:nvPr/>
        </p:nvSpPr>
        <p:spPr>
          <a:xfrm>
            <a:off x="457200" y="1435608"/>
            <a:ext cx="2606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kern="0" spc="150" dirty="0">
                <a:solidFill>
                  <a:srgbClr val="444455"/>
                </a:solidFill>
              </a:rPr>
              <a:t>CSV Boyutu</a:t>
            </a:r>
            <a:endParaRPr lang="en-US" sz="900" dirty="0"/>
          </a:p>
        </p:txBody>
      </p:sp>
      <p:sp>
        <p:nvSpPr>
          <p:cNvPr id="34" name="Shape 32"/>
          <p:cNvSpPr/>
          <p:nvPr/>
        </p:nvSpPr>
        <p:spPr>
          <a:xfrm>
            <a:off x="3337560" y="841248"/>
            <a:ext cx="2606040" cy="960120"/>
          </a:xfrm>
          <a:prstGeom prst="rect">
            <a:avLst/>
          </a:prstGeom>
          <a:solidFill>
            <a:srgbClr val="0D0D18"/>
          </a:solidFill>
          <a:ln w="6350">
            <a:solidFill>
              <a:srgbClr val="1C1C30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35" name="Shape 33"/>
          <p:cNvSpPr/>
          <p:nvPr/>
        </p:nvSpPr>
        <p:spPr>
          <a:xfrm>
            <a:off x="3337560" y="841248"/>
            <a:ext cx="2606040" cy="54864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36" name="Text 34"/>
          <p:cNvSpPr/>
          <p:nvPr/>
        </p:nvSpPr>
        <p:spPr>
          <a:xfrm>
            <a:off x="3337560" y="932688"/>
            <a:ext cx="2606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E74C3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900K+</a:t>
            </a:r>
            <a:endParaRPr lang="en-US" sz="2800" dirty="0"/>
          </a:p>
        </p:txBody>
      </p:sp>
      <p:sp>
        <p:nvSpPr>
          <p:cNvPr id="37" name="Text 35"/>
          <p:cNvSpPr/>
          <p:nvPr/>
        </p:nvSpPr>
        <p:spPr>
          <a:xfrm>
            <a:off x="3337560" y="1435608"/>
            <a:ext cx="2606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kern="0" spc="150" dirty="0">
                <a:solidFill>
                  <a:srgbClr val="444455"/>
                </a:solidFill>
              </a:rPr>
              <a:t>Film Kaydı</a:t>
            </a:r>
            <a:endParaRPr lang="en-US" sz="900" dirty="0"/>
          </a:p>
        </p:txBody>
      </p:sp>
      <p:sp>
        <p:nvSpPr>
          <p:cNvPr id="38" name="Shape 36"/>
          <p:cNvSpPr/>
          <p:nvPr/>
        </p:nvSpPr>
        <p:spPr>
          <a:xfrm>
            <a:off x="6217920" y="841248"/>
            <a:ext cx="2606040" cy="960120"/>
          </a:xfrm>
          <a:prstGeom prst="rect">
            <a:avLst/>
          </a:prstGeom>
          <a:solidFill>
            <a:srgbClr val="0D0D18"/>
          </a:solidFill>
          <a:ln w="6350">
            <a:solidFill>
              <a:srgbClr val="1C1C30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39" name="Shape 37"/>
          <p:cNvSpPr/>
          <p:nvPr/>
        </p:nvSpPr>
        <p:spPr>
          <a:xfrm>
            <a:off x="6217920" y="841248"/>
            <a:ext cx="2606040" cy="54864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40" name="Text 38"/>
          <p:cNvSpPr/>
          <p:nvPr/>
        </p:nvSpPr>
        <p:spPr>
          <a:xfrm>
            <a:off x="6217920" y="932688"/>
            <a:ext cx="2606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E74C3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~3.8 KB</a:t>
            </a:r>
            <a:endParaRPr lang="en-US" sz="2800" dirty="0"/>
          </a:p>
        </p:txBody>
      </p:sp>
      <p:sp>
        <p:nvSpPr>
          <p:cNvPr id="41" name="Text 39"/>
          <p:cNvSpPr/>
          <p:nvPr/>
        </p:nvSpPr>
        <p:spPr>
          <a:xfrm>
            <a:off x="6217920" y="1435608"/>
            <a:ext cx="2606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kern="0" spc="150" dirty="0">
                <a:solidFill>
                  <a:srgbClr val="444455"/>
                </a:solidFill>
              </a:rPr>
              <a:t>Film Başına Veri</a:t>
            </a:r>
            <a:endParaRPr lang="en-US" sz="900" dirty="0"/>
          </a:p>
        </p:txBody>
      </p:sp>
      <p:sp>
        <p:nvSpPr>
          <p:cNvPr id="42" name="Shape 40"/>
          <p:cNvSpPr/>
          <p:nvPr/>
        </p:nvSpPr>
        <p:spPr>
          <a:xfrm>
            <a:off x="365760" y="1965960"/>
            <a:ext cx="4114800" cy="2697480"/>
          </a:xfrm>
          <a:prstGeom prst="rect">
            <a:avLst/>
          </a:prstGeom>
          <a:solidFill>
            <a:srgbClr val="0D0D18"/>
          </a:solidFill>
          <a:ln w="6350">
            <a:solidFill>
              <a:srgbClr val="1C1C30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43" name="Shape 41"/>
          <p:cNvSpPr/>
          <p:nvPr/>
        </p:nvSpPr>
        <p:spPr>
          <a:xfrm>
            <a:off x="365760" y="1965960"/>
            <a:ext cx="54864" cy="2697480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44" name="Text 42"/>
          <p:cNvSpPr/>
          <p:nvPr/>
        </p:nvSpPr>
        <p:spPr>
          <a:xfrm>
            <a:off x="566928" y="2029968"/>
            <a:ext cx="3749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E8E8E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CSV Sütunları</a:t>
            </a:r>
            <a:endParaRPr lang="en-US" sz="1300" dirty="0"/>
          </a:p>
        </p:txBody>
      </p:sp>
      <p:sp>
        <p:nvSpPr>
          <p:cNvPr id="45" name="Shape 43"/>
          <p:cNvSpPr/>
          <p:nvPr/>
        </p:nvSpPr>
        <p:spPr>
          <a:xfrm>
            <a:off x="548640" y="2423160"/>
            <a:ext cx="1097280" cy="256032"/>
          </a:xfrm>
          <a:prstGeom prst="rect">
            <a:avLst/>
          </a:prstGeom>
          <a:solidFill>
            <a:srgbClr val="111120"/>
          </a:solidFill>
          <a:ln w="6350">
            <a:solidFill>
              <a:srgbClr val="1C1C30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46" name="Text 44"/>
          <p:cNvSpPr/>
          <p:nvPr/>
        </p:nvSpPr>
        <p:spPr>
          <a:xfrm>
            <a:off x="548640" y="2423160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movie_name</a:t>
            </a:r>
            <a:endParaRPr lang="en-US" sz="800" dirty="0"/>
          </a:p>
        </p:txBody>
      </p:sp>
      <p:sp>
        <p:nvSpPr>
          <p:cNvPr id="47" name="Text 45"/>
          <p:cNvSpPr/>
          <p:nvPr/>
        </p:nvSpPr>
        <p:spPr>
          <a:xfrm>
            <a:off x="1737360" y="2441448"/>
            <a:ext cx="25603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8888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Film adı (arama anahtarı)</a:t>
            </a:r>
            <a:endParaRPr lang="en-US" sz="850" dirty="0"/>
          </a:p>
        </p:txBody>
      </p:sp>
      <p:sp>
        <p:nvSpPr>
          <p:cNvPr id="48" name="Shape 46"/>
          <p:cNvSpPr/>
          <p:nvPr/>
        </p:nvSpPr>
        <p:spPr>
          <a:xfrm>
            <a:off x="548640" y="2770632"/>
            <a:ext cx="1097280" cy="256032"/>
          </a:xfrm>
          <a:prstGeom prst="rect">
            <a:avLst/>
          </a:prstGeom>
          <a:solidFill>
            <a:srgbClr val="111120"/>
          </a:solidFill>
          <a:ln w="6350">
            <a:solidFill>
              <a:srgbClr val="1C1C30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49" name="Text 47"/>
          <p:cNvSpPr/>
          <p:nvPr/>
        </p:nvSpPr>
        <p:spPr>
          <a:xfrm>
            <a:off x="548640" y="2770632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genre</a:t>
            </a:r>
            <a:endParaRPr lang="en-US" sz="800" dirty="0"/>
          </a:p>
        </p:txBody>
      </p:sp>
      <p:sp>
        <p:nvSpPr>
          <p:cNvPr id="50" name="Text 48"/>
          <p:cNvSpPr/>
          <p:nvPr/>
        </p:nvSpPr>
        <p:spPr>
          <a:xfrm>
            <a:off x="1737360" y="2788920"/>
            <a:ext cx="25603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8888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Tür listesi</a:t>
            </a:r>
            <a:endParaRPr lang="en-US" sz="850" dirty="0"/>
          </a:p>
        </p:txBody>
      </p:sp>
      <p:sp>
        <p:nvSpPr>
          <p:cNvPr id="51" name="Shape 49"/>
          <p:cNvSpPr/>
          <p:nvPr/>
        </p:nvSpPr>
        <p:spPr>
          <a:xfrm>
            <a:off x="548640" y="3118104"/>
            <a:ext cx="1097280" cy="256032"/>
          </a:xfrm>
          <a:prstGeom prst="rect">
            <a:avLst/>
          </a:prstGeom>
          <a:solidFill>
            <a:srgbClr val="111120"/>
          </a:solidFill>
          <a:ln w="6350">
            <a:solidFill>
              <a:srgbClr val="1C1C30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52" name="Text 50"/>
          <p:cNvSpPr/>
          <p:nvPr/>
        </p:nvSpPr>
        <p:spPr>
          <a:xfrm>
            <a:off x="548640" y="3118104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emotion</a:t>
            </a:r>
            <a:endParaRPr lang="en-US" sz="800" dirty="0"/>
          </a:p>
        </p:txBody>
      </p:sp>
      <p:sp>
        <p:nvSpPr>
          <p:cNvPr id="53" name="Text 51"/>
          <p:cNvSpPr/>
          <p:nvPr/>
        </p:nvSpPr>
        <p:spPr>
          <a:xfrm>
            <a:off x="1737360" y="3136392"/>
            <a:ext cx="25603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8888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Duygu etiketi</a:t>
            </a:r>
            <a:endParaRPr lang="en-US" sz="850" dirty="0"/>
          </a:p>
        </p:txBody>
      </p:sp>
      <p:sp>
        <p:nvSpPr>
          <p:cNvPr id="54" name="Shape 52"/>
          <p:cNvSpPr/>
          <p:nvPr/>
        </p:nvSpPr>
        <p:spPr>
          <a:xfrm>
            <a:off x="548640" y="3465576"/>
            <a:ext cx="1097280" cy="256032"/>
          </a:xfrm>
          <a:prstGeom prst="rect">
            <a:avLst/>
          </a:prstGeom>
          <a:solidFill>
            <a:srgbClr val="111120"/>
          </a:solidFill>
          <a:ln w="6350">
            <a:solidFill>
              <a:srgbClr val="1C1C30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55" name="Text 53"/>
          <p:cNvSpPr/>
          <p:nvPr/>
        </p:nvSpPr>
        <p:spPr>
          <a:xfrm>
            <a:off x="548640" y="3465576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Ratings</a:t>
            </a:r>
            <a:endParaRPr lang="en-US" sz="800" dirty="0"/>
          </a:p>
        </p:txBody>
      </p:sp>
      <p:sp>
        <p:nvSpPr>
          <p:cNvPr id="56" name="Text 54"/>
          <p:cNvSpPr/>
          <p:nvPr/>
        </p:nvSpPr>
        <p:spPr>
          <a:xfrm>
            <a:off x="1737360" y="3483864"/>
            <a:ext cx="25603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8888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Kullanıcı puanı</a:t>
            </a:r>
            <a:endParaRPr lang="en-US" sz="850" dirty="0"/>
          </a:p>
        </p:txBody>
      </p:sp>
      <p:sp>
        <p:nvSpPr>
          <p:cNvPr id="57" name="Shape 55"/>
          <p:cNvSpPr/>
          <p:nvPr/>
        </p:nvSpPr>
        <p:spPr>
          <a:xfrm>
            <a:off x="548640" y="3813048"/>
            <a:ext cx="1097280" cy="256032"/>
          </a:xfrm>
          <a:prstGeom prst="rect">
            <a:avLst/>
          </a:prstGeom>
          <a:solidFill>
            <a:srgbClr val="111120"/>
          </a:solidFill>
          <a:ln w="6350">
            <a:solidFill>
              <a:srgbClr val="1C1C30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58" name="Text 56"/>
          <p:cNvSpPr/>
          <p:nvPr/>
        </p:nvSpPr>
        <p:spPr>
          <a:xfrm>
            <a:off x="548640" y="3813048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overview</a:t>
            </a:r>
            <a:endParaRPr lang="en-US" sz="800" dirty="0"/>
          </a:p>
        </p:txBody>
      </p:sp>
      <p:sp>
        <p:nvSpPr>
          <p:cNvPr id="59" name="Text 57"/>
          <p:cNvSpPr/>
          <p:nvPr/>
        </p:nvSpPr>
        <p:spPr>
          <a:xfrm>
            <a:off x="1737360" y="3831336"/>
            <a:ext cx="25603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8888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Açıklama (embedding için)</a:t>
            </a:r>
            <a:endParaRPr lang="en-US" sz="850" dirty="0"/>
          </a:p>
        </p:txBody>
      </p:sp>
      <p:sp>
        <p:nvSpPr>
          <p:cNvPr id="60" name="Shape 58"/>
          <p:cNvSpPr/>
          <p:nvPr/>
        </p:nvSpPr>
        <p:spPr>
          <a:xfrm>
            <a:off x="548640" y="4160520"/>
            <a:ext cx="1097280" cy="256032"/>
          </a:xfrm>
          <a:prstGeom prst="rect">
            <a:avLst/>
          </a:prstGeom>
          <a:solidFill>
            <a:srgbClr val="111120"/>
          </a:solidFill>
          <a:ln w="6350">
            <a:solidFill>
              <a:srgbClr val="1C1C30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61" name="Text 59"/>
          <p:cNvSpPr/>
          <p:nvPr/>
        </p:nvSpPr>
        <p:spPr>
          <a:xfrm>
            <a:off x="548640" y="4160520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director / cast</a:t>
            </a:r>
            <a:endParaRPr lang="en-US" sz="800" dirty="0"/>
          </a:p>
        </p:txBody>
      </p:sp>
      <p:sp>
        <p:nvSpPr>
          <p:cNvPr id="62" name="Text 60"/>
          <p:cNvSpPr/>
          <p:nvPr/>
        </p:nvSpPr>
        <p:spPr>
          <a:xfrm>
            <a:off x="1737360" y="4178808"/>
            <a:ext cx="25603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8888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Yönetmen ve oyuncu bilgisi</a:t>
            </a:r>
            <a:endParaRPr lang="en-US" sz="850" dirty="0"/>
          </a:p>
        </p:txBody>
      </p:sp>
      <p:sp>
        <p:nvSpPr>
          <p:cNvPr id="63" name="Shape 61"/>
          <p:cNvSpPr/>
          <p:nvPr/>
        </p:nvSpPr>
        <p:spPr>
          <a:xfrm>
            <a:off x="4663440" y="1965960"/>
            <a:ext cx="4023360" cy="2697480"/>
          </a:xfrm>
          <a:prstGeom prst="rect">
            <a:avLst/>
          </a:prstGeom>
          <a:solidFill>
            <a:srgbClr val="0D0D18"/>
          </a:solidFill>
          <a:ln w="6350">
            <a:solidFill>
              <a:srgbClr val="1C1C30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64" name="Shape 62"/>
          <p:cNvSpPr/>
          <p:nvPr/>
        </p:nvSpPr>
        <p:spPr>
          <a:xfrm>
            <a:off x="4663440" y="1965960"/>
            <a:ext cx="54864" cy="2697480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65" name="Text 63"/>
          <p:cNvSpPr/>
          <p:nvPr/>
        </p:nvSpPr>
        <p:spPr>
          <a:xfrm>
            <a:off x="4864608" y="2029968"/>
            <a:ext cx="3657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E8E8E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Veri Nasıl Kullanılıyor?</a:t>
            </a:r>
            <a:endParaRPr lang="en-US" sz="1300" dirty="0"/>
          </a:p>
        </p:txBody>
      </p:sp>
      <p:sp>
        <p:nvSpPr>
          <p:cNvPr id="66" name="Shape 64"/>
          <p:cNvSpPr/>
          <p:nvPr/>
        </p:nvSpPr>
        <p:spPr>
          <a:xfrm>
            <a:off x="4864608" y="2459736"/>
            <a:ext cx="164592" cy="164592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67" name="Text 65"/>
          <p:cNvSpPr/>
          <p:nvPr/>
        </p:nvSpPr>
        <p:spPr>
          <a:xfrm>
            <a:off x="5120640" y="2423160"/>
            <a:ext cx="32918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E8E8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Embedding</a:t>
            </a:r>
            <a:endParaRPr lang="en-US" sz="950" dirty="0"/>
          </a:p>
        </p:txBody>
      </p:sp>
      <p:sp>
        <p:nvSpPr>
          <p:cNvPr id="68" name="Text 66"/>
          <p:cNvSpPr/>
          <p:nvPr/>
        </p:nvSpPr>
        <p:spPr>
          <a:xfrm>
            <a:off x="5120640" y="2642616"/>
            <a:ext cx="3291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8888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overview + genre + emotion birleştirilerek vektörleştirme yapılır.</a:t>
            </a:r>
            <a:endParaRPr lang="en-US" sz="850" dirty="0"/>
          </a:p>
        </p:txBody>
      </p:sp>
      <p:sp>
        <p:nvSpPr>
          <p:cNvPr id="69" name="Shape 67"/>
          <p:cNvSpPr/>
          <p:nvPr/>
        </p:nvSpPr>
        <p:spPr>
          <a:xfrm>
            <a:off x="4864608" y="3008376"/>
            <a:ext cx="164592" cy="164592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70" name="Text 68"/>
          <p:cNvSpPr/>
          <p:nvPr/>
        </p:nvSpPr>
        <p:spPr>
          <a:xfrm>
            <a:off x="5120640" y="2971800"/>
            <a:ext cx="32918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E8E8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Rating</a:t>
            </a:r>
            <a:endParaRPr lang="en-US" sz="950" dirty="0"/>
          </a:p>
        </p:txBody>
      </p:sp>
      <p:sp>
        <p:nvSpPr>
          <p:cNvPr id="71" name="Text 69"/>
          <p:cNvSpPr/>
          <p:nvPr/>
        </p:nvSpPr>
        <p:spPr>
          <a:xfrm>
            <a:off x="5120640" y="3191256"/>
            <a:ext cx="3291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8888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Tüm satırlar ortalanarak film başına tek bir skor elde edilir.</a:t>
            </a:r>
            <a:endParaRPr lang="en-US" sz="850" dirty="0"/>
          </a:p>
        </p:txBody>
      </p:sp>
      <p:sp>
        <p:nvSpPr>
          <p:cNvPr id="72" name="Shape 70"/>
          <p:cNvSpPr/>
          <p:nvPr/>
        </p:nvSpPr>
        <p:spPr>
          <a:xfrm>
            <a:off x="4864608" y="3557016"/>
            <a:ext cx="164592" cy="164592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73" name="Text 71"/>
          <p:cNvSpPr/>
          <p:nvPr/>
        </p:nvSpPr>
        <p:spPr>
          <a:xfrm>
            <a:off x="5120640" y="3520440"/>
            <a:ext cx="32918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E8E8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Metadata</a:t>
            </a:r>
            <a:endParaRPr lang="en-US" sz="950" dirty="0"/>
          </a:p>
        </p:txBody>
      </p:sp>
      <p:sp>
        <p:nvSpPr>
          <p:cNvPr id="74" name="Text 72"/>
          <p:cNvSpPr/>
          <p:nvPr/>
        </p:nvSpPr>
        <p:spPr>
          <a:xfrm>
            <a:off x="5120640" y="3739896"/>
            <a:ext cx="3291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8888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Kart arayüzünde tür, duygu ve puan olarak gösterilir.</a:t>
            </a:r>
            <a:endParaRPr lang="en-US" sz="850" dirty="0"/>
          </a:p>
        </p:txBody>
      </p:sp>
      <p:sp>
        <p:nvSpPr>
          <p:cNvPr id="75" name="Shape 73"/>
          <p:cNvSpPr/>
          <p:nvPr/>
        </p:nvSpPr>
        <p:spPr>
          <a:xfrm>
            <a:off x="4864608" y="4105656"/>
            <a:ext cx="164592" cy="164592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76" name="Text 74"/>
          <p:cNvSpPr/>
          <p:nvPr/>
        </p:nvSpPr>
        <p:spPr>
          <a:xfrm>
            <a:off x="5120640" y="4069080"/>
            <a:ext cx="32918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E8E8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Sorgu Zenginleştirme</a:t>
            </a:r>
            <a:endParaRPr lang="en-US" sz="950" dirty="0"/>
          </a:p>
        </p:txBody>
      </p:sp>
      <p:sp>
        <p:nvSpPr>
          <p:cNvPr id="77" name="Text 75"/>
          <p:cNvSpPr/>
          <p:nvPr/>
        </p:nvSpPr>
        <p:spPr>
          <a:xfrm>
            <a:off x="5120640" y="4288536"/>
            <a:ext cx="3291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8888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Sohbet geçmişindeki filmler CSV'den çekilerek yeni sorgu genişletilir.</a:t>
            </a:r>
            <a:endParaRPr lang="en-US" sz="8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8080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3" name="Shape 1"/>
          <p:cNvSpPr/>
          <p:nvPr/>
        </p:nvSpPr>
        <p:spPr>
          <a:xfrm>
            <a:off x="73152" y="18288"/>
            <a:ext cx="201168" cy="54864"/>
          </a:xfrm>
          <a:prstGeom prst="rect">
            <a:avLst/>
          </a:prstGeom>
          <a:solidFill>
            <a:srgbClr val="7B1A15"/>
          </a:solidFill>
          <a:ln w="12700">
            <a:solidFill>
              <a:srgbClr val="7B1A15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4" name="Shape 2"/>
          <p:cNvSpPr/>
          <p:nvPr/>
        </p:nvSpPr>
        <p:spPr>
          <a:xfrm>
            <a:off x="438912" y="18288"/>
            <a:ext cx="201168" cy="54864"/>
          </a:xfrm>
          <a:prstGeom prst="rect">
            <a:avLst/>
          </a:prstGeom>
          <a:solidFill>
            <a:srgbClr val="7B1A15"/>
          </a:solidFill>
          <a:ln w="12700">
            <a:solidFill>
              <a:srgbClr val="7B1A15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5" name="Shape 3"/>
          <p:cNvSpPr/>
          <p:nvPr/>
        </p:nvSpPr>
        <p:spPr>
          <a:xfrm>
            <a:off x="804672" y="18288"/>
            <a:ext cx="201168" cy="54864"/>
          </a:xfrm>
          <a:prstGeom prst="rect">
            <a:avLst/>
          </a:prstGeom>
          <a:solidFill>
            <a:srgbClr val="7B1A15"/>
          </a:solidFill>
          <a:ln w="12700">
            <a:solidFill>
              <a:srgbClr val="7B1A15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6" name="Shape 4"/>
          <p:cNvSpPr/>
          <p:nvPr/>
        </p:nvSpPr>
        <p:spPr>
          <a:xfrm>
            <a:off x="1170432" y="18288"/>
            <a:ext cx="201168" cy="54864"/>
          </a:xfrm>
          <a:prstGeom prst="rect">
            <a:avLst/>
          </a:prstGeom>
          <a:solidFill>
            <a:srgbClr val="7B1A15"/>
          </a:solidFill>
          <a:ln w="12700">
            <a:solidFill>
              <a:srgbClr val="7B1A15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7" name="Shape 5"/>
          <p:cNvSpPr/>
          <p:nvPr/>
        </p:nvSpPr>
        <p:spPr>
          <a:xfrm>
            <a:off x="1536192" y="18288"/>
            <a:ext cx="201168" cy="54864"/>
          </a:xfrm>
          <a:prstGeom prst="rect">
            <a:avLst/>
          </a:prstGeom>
          <a:solidFill>
            <a:srgbClr val="7B1A15"/>
          </a:solidFill>
          <a:ln w="12700">
            <a:solidFill>
              <a:srgbClr val="7B1A15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8" name="Shape 6"/>
          <p:cNvSpPr/>
          <p:nvPr/>
        </p:nvSpPr>
        <p:spPr>
          <a:xfrm>
            <a:off x="1901952" y="18288"/>
            <a:ext cx="201168" cy="54864"/>
          </a:xfrm>
          <a:prstGeom prst="rect">
            <a:avLst/>
          </a:prstGeom>
          <a:solidFill>
            <a:srgbClr val="7B1A15"/>
          </a:solidFill>
          <a:ln w="12700">
            <a:solidFill>
              <a:srgbClr val="7B1A15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9" name="Shape 7"/>
          <p:cNvSpPr/>
          <p:nvPr/>
        </p:nvSpPr>
        <p:spPr>
          <a:xfrm>
            <a:off x="2267712" y="18288"/>
            <a:ext cx="201168" cy="54864"/>
          </a:xfrm>
          <a:prstGeom prst="rect">
            <a:avLst/>
          </a:prstGeom>
          <a:solidFill>
            <a:srgbClr val="7B1A15"/>
          </a:solidFill>
          <a:ln w="12700">
            <a:solidFill>
              <a:srgbClr val="7B1A15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10" name="Shape 8"/>
          <p:cNvSpPr/>
          <p:nvPr/>
        </p:nvSpPr>
        <p:spPr>
          <a:xfrm>
            <a:off x="2633472" y="18288"/>
            <a:ext cx="201168" cy="54864"/>
          </a:xfrm>
          <a:prstGeom prst="rect">
            <a:avLst/>
          </a:prstGeom>
          <a:solidFill>
            <a:srgbClr val="7B1A15"/>
          </a:solidFill>
          <a:ln w="12700">
            <a:solidFill>
              <a:srgbClr val="7B1A15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11" name="Shape 9"/>
          <p:cNvSpPr/>
          <p:nvPr/>
        </p:nvSpPr>
        <p:spPr>
          <a:xfrm>
            <a:off x="2999232" y="18288"/>
            <a:ext cx="201168" cy="54864"/>
          </a:xfrm>
          <a:prstGeom prst="rect">
            <a:avLst/>
          </a:prstGeom>
          <a:solidFill>
            <a:srgbClr val="7B1A15"/>
          </a:solidFill>
          <a:ln w="12700">
            <a:solidFill>
              <a:srgbClr val="7B1A15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12" name="Shape 10"/>
          <p:cNvSpPr/>
          <p:nvPr/>
        </p:nvSpPr>
        <p:spPr>
          <a:xfrm>
            <a:off x="3364992" y="18288"/>
            <a:ext cx="201168" cy="54864"/>
          </a:xfrm>
          <a:prstGeom prst="rect">
            <a:avLst/>
          </a:prstGeom>
          <a:solidFill>
            <a:srgbClr val="7B1A15"/>
          </a:solidFill>
          <a:ln w="12700">
            <a:solidFill>
              <a:srgbClr val="7B1A15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13" name="Shape 11"/>
          <p:cNvSpPr/>
          <p:nvPr/>
        </p:nvSpPr>
        <p:spPr>
          <a:xfrm>
            <a:off x="3730752" y="18288"/>
            <a:ext cx="201168" cy="54864"/>
          </a:xfrm>
          <a:prstGeom prst="rect">
            <a:avLst/>
          </a:prstGeom>
          <a:solidFill>
            <a:srgbClr val="7B1A15"/>
          </a:solidFill>
          <a:ln w="12700">
            <a:solidFill>
              <a:srgbClr val="7B1A15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14" name="Shape 12"/>
          <p:cNvSpPr/>
          <p:nvPr/>
        </p:nvSpPr>
        <p:spPr>
          <a:xfrm>
            <a:off x="4096512" y="18288"/>
            <a:ext cx="201168" cy="54864"/>
          </a:xfrm>
          <a:prstGeom prst="rect">
            <a:avLst/>
          </a:prstGeom>
          <a:solidFill>
            <a:srgbClr val="7B1A15"/>
          </a:solidFill>
          <a:ln w="12700">
            <a:solidFill>
              <a:srgbClr val="7B1A15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15" name="Shape 13"/>
          <p:cNvSpPr/>
          <p:nvPr/>
        </p:nvSpPr>
        <p:spPr>
          <a:xfrm>
            <a:off x="4462272" y="18288"/>
            <a:ext cx="201168" cy="54864"/>
          </a:xfrm>
          <a:prstGeom prst="rect">
            <a:avLst/>
          </a:prstGeom>
          <a:solidFill>
            <a:srgbClr val="7B1A15"/>
          </a:solidFill>
          <a:ln w="12700">
            <a:solidFill>
              <a:srgbClr val="7B1A15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16" name="Shape 14"/>
          <p:cNvSpPr/>
          <p:nvPr/>
        </p:nvSpPr>
        <p:spPr>
          <a:xfrm>
            <a:off x="4828032" y="18288"/>
            <a:ext cx="201168" cy="54864"/>
          </a:xfrm>
          <a:prstGeom prst="rect">
            <a:avLst/>
          </a:prstGeom>
          <a:solidFill>
            <a:srgbClr val="7B1A15"/>
          </a:solidFill>
          <a:ln w="12700">
            <a:solidFill>
              <a:srgbClr val="7B1A15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17" name="Shape 15"/>
          <p:cNvSpPr/>
          <p:nvPr/>
        </p:nvSpPr>
        <p:spPr>
          <a:xfrm>
            <a:off x="5193792" y="18288"/>
            <a:ext cx="201168" cy="54864"/>
          </a:xfrm>
          <a:prstGeom prst="rect">
            <a:avLst/>
          </a:prstGeom>
          <a:solidFill>
            <a:srgbClr val="7B1A15"/>
          </a:solidFill>
          <a:ln w="12700">
            <a:solidFill>
              <a:srgbClr val="7B1A15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18" name="Shape 16"/>
          <p:cNvSpPr/>
          <p:nvPr/>
        </p:nvSpPr>
        <p:spPr>
          <a:xfrm>
            <a:off x="5559552" y="18288"/>
            <a:ext cx="201168" cy="54864"/>
          </a:xfrm>
          <a:prstGeom prst="rect">
            <a:avLst/>
          </a:prstGeom>
          <a:solidFill>
            <a:srgbClr val="7B1A15"/>
          </a:solidFill>
          <a:ln w="12700">
            <a:solidFill>
              <a:srgbClr val="7B1A15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19" name="Shape 17"/>
          <p:cNvSpPr/>
          <p:nvPr/>
        </p:nvSpPr>
        <p:spPr>
          <a:xfrm>
            <a:off x="5925312" y="18288"/>
            <a:ext cx="201168" cy="54864"/>
          </a:xfrm>
          <a:prstGeom prst="rect">
            <a:avLst/>
          </a:prstGeom>
          <a:solidFill>
            <a:srgbClr val="7B1A15"/>
          </a:solidFill>
          <a:ln w="12700">
            <a:solidFill>
              <a:srgbClr val="7B1A15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20" name="Shape 18"/>
          <p:cNvSpPr/>
          <p:nvPr/>
        </p:nvSpPr>
        <p:spPr>
          <a:xfrm>
            <a:off x="6291072" y="18288"/>
            <a:ext cx="201168" cy="54864"/>
          </a:xfrm>
          <a:prstGeom prst="rect">
            <a:avLst/>
          </a:prstGeom>
          <a:solidFill>
            <a:srgbClr val="7B1A15"/>
          </a:solidFill>
          <a:ln w="12700">
            <a:solidFill>
              <a:srgbClr val="7B1A15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21" name="Shape 19"/>
          <p:cNvSpPr/>
          <p:nvPr/>
        </p:nvSpPr>
        <p:spPr>
          <a:xfrm>
            <a:off x="6656832" y="18288"/>
            <a:ext cx="201168" cy="54864"/>
          </a:xfrm>
          <a:prstGeom prst="rect">
            <a:avLst/>
          </a:prstGeom>
          <a:solidFill>
            <a:srgbClr val="7B1A15"/>
          </a:solidFill>
          <a:ln w="12700">
            <a:solidFill>
              <a:srgbClr val="7B1A15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22" name="Shape 20"/>
          <p:cNvSpPr/>
          <p:nvPr/>
        </p:nvSpPr>
        <p:spPr>
          <a:xfrm>
            <a:off x="7022592" y="18288"/>
            <a:ext cx="201168" cy="54864"/>
          </a:xfrm>
          <a:prstGeom prst="rect">
            <a:avLst/>
          </a:prstGeom>
          <a:solidFill>
            <a:srgbClr val="7B1A15"/>
          </a:solidFill>
          <a:ln w="12700">
            <a:solidFill>
              <a:srgbClr val="7B1A15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23" name="Shape 21"/>
          <p:cNvSpPr/>
          <p:nvPr/>
        </p:nvSpPr>
        <p:spPr>
          <a:xfrm>
            <a:off x="7388352" y="18288"/>
            <a:ext cx="201168" cy="54864"/>
          </a:xfrm>
          <a:prstGeom prst="rect">
            <a:avLst/>
          </a:prstGeom>
          <a:solidFill>
            <a:srgbClr val="7B1A15"/>
          </a:solidFill>
          <a:ln w="12700">
            <a:solidFill>
              <a:srgbClr val="7B1A15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24" name="Shape 22"/>
          <p:cNvSpPr/>
          <p:nvPr/>
        </p:nvSpPr>
        <p:spPr>
          <a:xfrm>
            <a:off x="7754112" y="18288"/>
            <a:ext cx="201168" cy="54864"/>
          </a:xfrm>
          <a:prstGeom prst="rect">
            <a:avLst/>
          </a:prstGeom>
          <a:solidFill>
            <a:srgbClr val="7B1A15"/>
          </a:solidFill>
          <a:ln w="12700">
            <a:solidFill>
              <a:srgbClr val="7B1A15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25" name="Shape 23"/>
          <p:cNvSpPr/>
          <p:nvPr/>
        </p:nvSpPr>
        <p:spPr>
          <a:xfrm>
            <a:off x="8119872" y="18288"/>
            <a:ext cx="201168" cy="54864"/>
          </a:xfrm>
          <a:prstGeom prst="rect">
            <a:avLst/>
          </a:prstGeom>
          <a:solidFill>
            <a:srgbClr val="7B1A15"/>
          </a:solidFill>
          <a:ln w="12700">
            <a:solidFill>
              <a:srgbClr val="7B1A15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26" name="Shape 24"/>
          <p:cNvSpPr/>
          <p:nvPr/>
        </p:nvSpPr>
        <p:spPr>
          <a:xfrm>
            <a:off x="8485632" y="18288"/>
            <a:ext cx="201168" cy="54864"/>
          </a:xfrm>
          <a:prstGeom prst="rect">
            <a:avLst/>
          </a:prstGeom>
          <a:solidFill>
            <a:srgbClr val="7B1A15"/>
          </a:solidFill>
          <a:ln w="12700">
            <a:solidFill>
              <a:srgbClr val="7B1A15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27" name="Shape 25"/>
          <p:cNvSpPr/>
          <p:nvPr/>
        </p:nvSpPr>
        <p:spPr>
          <a:xfrm>
            <a:off x="8851392" y="18288"/>
            <a:ext cx="201168" cy="54864"/>
          </a:xfrm>
          <a:prstGeom prst="rect">
            <a:avLst/>
          </a:prstGeom>
          <a:solidFill>
            <a:srgbClr val="7B1A15"/>
          </a:solidFill>
          <a:ln w="12700">
            <a:solidFill>
              <a:srgbClr val="7B1A15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28" name="Text 26"/>
          <p:cNvSpPr/>
          <p:nvPr/>
        </p:nvSpPr>
        <p:spPr>
          <a:xfrm>
            <a:off x="457200" y="201168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E8E8E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Arayüz ve Özellikler</a:t>
            </a:r>
            <a:endParaRPr lang="en-US" sz="2600" dirty="0"/>
          </a:p>
        </p:txBody>
      </p:sp>
      <p:sp>
        <p:nvSpPr>
          <p:cNvPr id="29" name="Shape 27"/>
          <p:cNvSpPr/>
          <p:nvPr/>
        </p:nvSpPr>
        <p:spPr>
          <a:xfrm>
            <a:off x="457200" y="713232"/>
            <a:ext cx="8229600" cy="0"/>
          </a:xfrm>
          <a:prstGeom prst="line">
            <a:avLst/>
          </a:prstGeom>
          <a:noFill/>
          <a:ln w="6350">
            <a:solidFill>
              <a:srgbClr val="252540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30" name="Shape 28"/>
          <p:cNvSpPr/>
          <p:nvPr/>
        </p:nvSpPr>
        <p:spPr>
          <a:xfrm>
            <a:off x="365760" y="841248"/>
            <a:ext cx="4754880" cy="3886200"/>
          </a:xfrm>
          <a:prstGeom prst="rect">
            <a:avLst/>
          </a:prstGeom>
          <a:solidFill>
            <a:srgbClr val="0D0D18"/>
          </a:solidFill>
          <a:ln w="6350">
            <a:solidFill>
              <a:srgbClr val="1C1C30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31" name="Shape 29"/>
          <p:cNvSpPr/>
          <p:nvPr/>
        </p:nvSpPr>
        <p:spPr>
          <a:xfrm>
            <a:off x="365760" y="841248"/>
            <a:ext cx="4754880" cy="292608"/>
          </a:xfrm>
          <a:prstGeom prst="rect">
            <a:avLst/>
          </a:prstGeom>
          <a:solidFill>
            <a:srgbClr val="111120"/>
          </a:solidFill>
          <a:ln w="12700">
            <a:solidFill>
              <a:srgbClr val="1C1C30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32" name="Shape 30"/>
          <p:cNvSpPr/>
          <p:nvPr/>
        </p:nvSpPr>
        <p:spPr>
          <a:xfrm>
            <a:off x="502920" y="914400"/>
            <a:ext cx="109728" cy="109728"/>
          </a:xfrm>
          <a:prstGeom prst="ellipse">
            <a:avLst/>
          </a:prstGeom>
          <a:solidFill>
            <a:srgbClr val="E74C3C"/>
          </a:solidFill>
          <a:ln w="12700">
            <a:solidFill>
              <a:srgbClr val="E74C3C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33" name="Shape 31"/>
          <p:cNvSpPr/>
          <p:nvPr/>
        </p:nvSpPr>
        <p:spPr>
          <a:xfrm>
            <a:off x="704088" y="914400"/>
            <a:ext cx="109728" cy="109728"/>
          </a:xfrm>
          <a:prstGeom prst="ellipse">
            <a:avLst/>
          </a:prstGeom>
          <a:solidFill>
            <a:srgbClr val="F39C12"/>
          </a:solidFill>
          <a:ln w="12700">
            <a:solidFill>
              <a:srgbClr val="F39C12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34" name="Shape 32"/>
          <p:cNvSpPr/>
          <p:nvPr/>
        </p:nvSpPr>
        <p:spPr>
          <a:xfrm>
            <a:off x="905256" y="914400"/>
            <a:ext cx="109728" cy="109728"/>
          </a:xfrm>
          <a:prstGeom prst="ellipse">
            <a:avLst/>
          </a:prstGeom>
          <a:solidFill>
            <a:srgbClr val="2ECC71"/>
          </a:solidFill>
          <a:ln w="12700">
            <a:solidFill>
              <a:srgbClr val="2ECC71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35" name="Text 33"/>
          <p:cNvSpPr/>
          <p:nvPr/>
        </p:nvSpPr>
        <p:spPr>
          <a:xfrm>
            <a:off x="365760" y="868680"/>
            <a:ext cx="47548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444455"/>
                </a:solidFill>
              </a:rPr>
              <a:t>CineBot — AI Film Asistanı</a:t>
            </a:r>
            <a:endParaRPr lang="en-US" sz="800" dirty="0"/>
          </a:p>
        </p:txBody>
      </p:sp>
      <p:sp>
        <p:nvSpPr>
          <p:cNvPr id="36" name="Shape 34"/>
          <p:cNvSpPr/>
          <p:nvPr/>
        </p:nvSpPr>
        <p:spPr>
          <a:xfrm>
            <a:off x="365760" y="1133856"/>
            <a:ext cx="4754880" cy="329184"/>
          </a:xfrm>
          <a:prstGeom prst="rect">
            <a:avLst/>
          </a:prstGeom>
          <a:solidFill>
            <a:srgbClr val="08080E"/>
          </a:solidFill>
          <a:ln w="6350">
            <a:solidFill>
              <a:srgbClr val="1C1C30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37" name="Shape 35"/>
          <p:cNvSpPr/>
          <p:nvPr/>
        </p:nvSpPr>
        <p:spPr>
          <a:xfrm>
            <a:off x="457200" y="1207008"/>
            <a:ext cx="73152" cy="109728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38" name="Shape 36"/>
          <p:cNvSpPr/>
          <p:nvPr/>
        </p:nvSpPr>
        <p:spPr>
          <a:xfrm>
            <a:off x="576072" y="1207008"/>
            <a:ext cx="73152" cy="109728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39" name="Shape 37"/>
          <p:cNvSpPr/>
          <p:nvPr/>
        </p:nvSpPr>
        <p:spPr>
          <a:xfrm>
            <a:off x="694944" y="1207008"/>
            <a:ext cx="73152" cy="109728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40" name="Text 38"/>
          <p:cNvSpPr/>
          <p:nvPr/>
        </p:nvSpPr>
        <p:spPr>
          <a:xfrm>
            <a:off x="658368" y="1170432"/>
            <a:ext cx="1828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E8E8E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CineBot</a:t>
            </a:r>
            <a:endParaRPr lang="en-US" sz="1000" dirty="0"/>
          </a:p>
        </p:txBody>
      </p:sp>
      <p:sp>
        <p:nvSpPr>
          <p:cNvPr id="41" name="Text 39"/>
          <p:cNvSpPr/>
          <p:nvPr/>
        </p:nvSpPr>
        <p:spPr>
          <a:xfrm>
            <a:off x="3017520" y="1188720"/>
            <a:ext cx="731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00" dirty="0">
                <a:solidFill>
                  <a:srgbClr val="E74C3C"/>
                </a:solidFill>
              </a:rPr>
              <a:t>900K+ Film</a:t>
            </a:r>
            <a:endParaRPr lang="en-US" sz="700" dirty="0"/>
          </a:p>
        </p:txBody>
      </p:sp>
      <p:sp>
        <p:nvSpPr>
          <p:cNvPr id="42" name="Text 40"/>
          <p:cNvSpPr/>
          <p:nvPr/>
        </p:nvSpPr>
        <p:spPr>
          <a:xfrm>
            <a:off x="3749040" y="1188720"/>
            <a:ext cx="731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00" dirty="0">
                <a:solidFill>
                  <a:srgbClr val="E74C3C"/>
                </a:solidFill>
              </a:rPr>
              <a:t>0 Sohbet</a:t>
            </a:r>
            <a:endParaRPr lang="en-US" sz="700" dirty="0"/>
          </a:p>
        </p:txBody>
      </p:sp>
      <p:sp>
        <p:nvSpPr>
          <p:cNvPr id="43" name="Text 41"/>
          <p:cNvSpPr/>
          <p:nvPr/>
        </p:nvSpPr>
        <p:spPr>
          <a:xfrm>
            <a:off x="4480560" y="1188720"/>
            <a:ext cx="731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00" dirty="0">
                <a:solidFill>
                  <a:srgbClr val="E74C3C"/>
                </a:solidFill>
              </a:rPr>
              <a:t>0 Öneri</a:t>
            </a:r>
            <a:endParaRPr lang="en-US" sz="700" dirty="0"/>
          </a:p>
        </p:txBody>
      </p:sp>
      <p:sp>
        <p:nvSpPr>
          <p:cNvPr id="44" name="Shape 42"/>
          <p:cNvSpPr/>
          <p:nvPr/>
        </p:nvSpPr>
        <p:spPr>
          <a:xfrm>
            <a:off x="365760" y="1463040"/>
            <a:ext cx="960120" cy="2651760"/>
          </a:xfrm>
          <a:prstGeom prst="rect">
            <a:avLst/>
          </a:prstGeom>
          <a:solidFill>
            <a:srgbClr val="111120"/>
          </a:solidFill>
          <a:ln w="6350">
            <a:solidFill>
              <a:srgbClr val="1C1C30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45" name="Text 43"/>
          <p:cNvSpPr/>
          <p:nvPr/>
        </p:nvSpPr>
        <p:spPr>
          <a:xfrm>
            <a:off x="384048" y="1508760"/>
            <a:ext cx="89611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888890"/>
                </a:solidFill>
              </a:rPr>
              <a:t>Komik Aksiyon</a:t>
            </a:r>
            <a:endParaRPr lang="en-US" sz="700" dirty="0"/>
          </a:p>
        </p:txBody>
      </p:sp>
      <p:sp>
        <p:nvSpPr>
          <p:cNvPr id="46" name="Text 44"/>
          <p:cNvSpPr/>
          <p:nvPr/>
        </p:nvSpPr>
        <p:spPr>
          <a:xfrm>
            <a:off x="384048" y="1911096"/>
            <a:ext cx="89611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888890"/>
                </a:solidFill>
              </a:rPr>
              <a:t>Duygusal Drama</a:t>
            </a:r>
            <a:endParaRPr lang="en-US" sz="700" dirty="0"/>
          </a:p>
        </p:txBody>
      </p:sp>
      <p:sp>
        <p:nvSpPr>
          <p:cNvPr id="47" name="Text 45"/>
          <p:cNvSpPr/>
          <p:nvPr/>
        </p:nvSpPr>
        <p:spPr>
          <a:xfrm>
            <a:off x="384048" y="2313432"/>
            <a:ext cx="89611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888890"/>
                </a:solidFill>
              </a:rPr>
              <a:t>Macera</a:t>
            </a:r>
            <a:endParaRPr lang="en-US" sz="700" dirty="0"/>
          </a:p>
        </p:txBody>
      </p:sp>
      <p:sp>
        <p:nvSpPr>
          <p:cNvPr id="48" name="Text 46"/>
          <p:cNvSpPr/>
          <p:nvPr/>
        </p:nvSpPr>
        <p:spPr>
          <a:xfrm>
            <a:off x="384048" y="2715768"/>
            <a:ext cx="89611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888890"/>
                </a:solidFill>
              </a:rPr>
              <a:t>Romantik Komedi</a:t>
            </a:r>
            <a:endParaRPr lang="en-US" sz="700" dirty="0"/>
          </a:p>
        </p:txBody>
      </p:sp>
      <p:sp>
        <p:nvSpPr>
          <p:cNvPr id="49" name="Text 47"/>
          <p:cNvSpPr/>
          <p:nvPr/>
        </p:nvSpPr>
        <p:spPr>
          <a:xfrm>
            <a:off x="384048" y="3118104"/>
            <a:ext cx="89611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888890"/>
                </a:solidFill>
              </a:rPr>
              <a:t>Gerilim</a:t>
            </a:r>
            <a:endParaRPr lang="en-US" sz="700" dirty="0"/>
          </a:p>
        </p:txBody>
      </p:sp>
      <p:sp>
        <p:nvSpPr>
          <p:cNvPr id="50" name="Text 48"/>
          <p:cNvSpPr/>
          <p:nvPr/>
        </p:nvSpPr>
        <p:spPr>
          <a:xfrm>
            <a:off x="384048" y="3520440"/>
            <a:ext cx="89611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888890"/>
                </a:solidFill>
              </a:rPr>
              <a:t>Korku</a:t>
            </a:r>
            <a:endParaRPr lang="en-US" sz="700" dirty="0"/>
          </a:p>
        </p:txBody>
      </p:sp>
      <p:sp>
        <p:nvSpPr>
          <p:cNvPr id="51" name="Shape 49"/>
          <p:cNvSpPr/>
          <p:nvPr/>
        </p:nvSpPr>
        <p:spPr>
          <a:xfrm>
            <a:off x="1371600" y="1463040"/>
            <a:ext cx="3749040" cy="2194560"/>
          </a:xfrm>
          <a:prstGeom prst="rect">
            <a:avLst/>
          </a:prstGeom>
          <a:solidFill>
            <a:srgbClr val="08080E"/>
          </a:solidFill>
          <a:ln w="6350">
            <a:solidFill>
              <a:srgbClr val="1C1C30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52" name="Shape 50"/>
          <p:cNvSpPr/>
          <p:nvPr/>
        </p:nvSpPr>
        <p:spPr>
          <a:xfrm>
            <a:off x="1463040" y="1536192"/>
            <a:ext cx="3200400" cy="329184"/>
          </a:xfrm>
          <a:prstGeom prst="rect">
            <a:avLst/>
          </a:prstGeom>
          <a:solidFill>
            <a:srgbClr val="111120"/>
          </a:solidFill>
          <a:ln w="6350">
            <a:solidFill>
              <a:srgbClr val="1C1C30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53" name="Text 51"/>
          <p:cNvSpPr/>
          <p:nvPr/>
        </p:nvSpPr>
        <p:spPr>
          <a:xfrm>
            <a:off x="1481328" y="1572768"/>
            <a:ext cx="10972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C0392B"/>
                </a:solidFill>
              </a:rPr>
              <a:t>◼  CineBot</a:t>
            </a:r>
            <a:endParaRPr lang="en-US" sz="700" dirty="0"/>
          </a:p>
        </p:txBody>
      </p:sp>
      <p:sp>
        <p:nvSpPr>
          <p:cNvPr id="54" name="Text 52"/>
          <p:cNvSpPr/>
          <p:nvPr/>
        </p:nvSpPr>
        <p:spPr>
          <a:xfrm>
            <a:off x="1481328" y="1664208"/>
            <a:ext cx="31089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888890"/>
                </a:solidFill>
              </a:rPr>
              <a:t>Macera türünde 3 film öneririm:</a:t>
            </a:r>
            <a:endParaRPr lang="en-US" sz="750" dirty="0"/>
          </a:p>
        </p:txBody>
      </p:sp>
      <p:sp>
        <p:nvSpPr>
          <p:cNvPr id="55" name="Shape 53"/>
          <p:cNvSpPr/>
          <p:nvPr/>
        </p:nvSpPr>
        <p:spPr>
          <a:xfrm>
            <a:off x="1463040" y="1920240"/>
            <a:ext cx="3200400" cy="438912"/>
          </a:xfrm>
          <a:prstGeom prst="rect">
            <a:avLst/>
          </a:prstGeom>
          <a:solidFill>
            <a:srgbClr val="0D0D18"/>
          </a:solidFill>
          <a:ln w="6350">
            <a:solidFill>
              <a:srgbClr val="1C1C30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56" name="Shape 54"/>
          <p:cNvSpPr/>
          <p:nvPr/>
        </p:nvSpPr>
        <p:spPr>
          <a:xfrm>
            <a:off x="1463040" y="1920240"/>
            <a:ext cx="256032" cy="438912"/>
          </a:xfrm>
          <a:prstGeom prst="rect">
            <a:avLst/>
          </a:prstGeom>
          <a:solidFill>
            <a:srgbClr val="111120"/>
          </a:solidFill>
          <a:ln w="12700">
            <a:solidFill>
              <a:srgbClr val="1C1C30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57" name="Text 55"/>
          <p:cNvSpPr/>
          <p:nvPr/>
        </p:nvSpPr>
        <p:spPr>
          <a:xfrm>
            <a:off x="1463040" y="1920240"/>
            <a:ext cx="25603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444455"/>
                </a:solidFill>
              </a:rPr>
              <a:t>▶</a:t>
            </a:r>
            <a:endParaRPr lang="en-US" sz="1000" dirty="0"/>
          </a:p>
        </p:txBody>
      </p:sp>
      <p:sp>
        <p:nvSpPr>
          <p:cNvPr id="58" name="Text 56"/>
          <p:cNvSpPr/>
          <p:nvPr/>
        </p:nvSpPr>
        <p:spPr>
          <a:xfrm>
            <a:off x="1773936" y="1956816"/>
            <a:ext cx="21945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E8E8E0"/>
                </a:solidFill>
              </a:rPr>
              <a:t>Indiana Jones</a:t>
            </a:r>
            <a:endParaRPr lang="en-US" sz="850" dirty="0"/>
          </a:p>
        </p:txBody>
      </p:sp>
      <p:sp>
        <p:nvSpPr>
          <p:cNvPr id="59" name="Text 57"/>
          <p:cNvSpPr/>
          <p:nvPr/>
        </p:nvSpPr>
        <p:spPr>
          <a:xfrm>
            <a:off x="1773936" y="2139696"/>
            <a:ext cx="91440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444455"/>
                </a:solidFill>
              </a:rPr>
              <a:t>Macera</a:t>
            </a:r>
            <a:endParaRPr lang="en-US" sz="700" dirty="0"/>
          </a:p>
        </p:txBody>
      </p:sp>
      <p:sp>
        <p:nvSpPr>
          <p:cNvPr id="60" name="Text 58"/>
          <p:cNvSpPr/>
          <p:nvPr/>
        </p:nvSpPr>
        <p:spPr>
          <a:xfrm>
            <a:off x="4206240" y="1993392"/>
            <a:ext cx="3840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b="1" dirty="0">
                <a:solidFill>
                  <a:srgbClr val="E8E8E0"/>
                </a:solidFill>
              </a:rPr>
              <a:t>8.4</a:t>
            </a:r>
            <a:endParaRPr lang="en-US" sz="1200" dirty="0"/>
          </a:p>
        </p:txBody>
      </p:sp>
      <p:sp>
        <p:nvSpPr>
          <p:cNvPr id="61" name="Shape 59"/>
          <p:cNvSpPr/>
          <p:nvPr/>
        </p:nvSpPr>
        <p:spPr>
          <a:xfrm>
            <a:off x="1463040" y="2423160"/>
            <a:ext cx="3200400" cy="438912"/>
          </a:xfrm>
          <a:prstGeom prst="rect">
            <a:avLst/>
          </a:prstGeom>
          <a:solidFill>
            <a:srgbClr val="0D0D18"/>
          </a:solidFill>
          <a:ln w="6350">
            <a:solidFill>
              <a:srgbClr val="1C1C30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62" name="Shape 60"/>
          <p:cNvSpPr/>
          <p:nvPr/>
        </p:nvSpPr>
        <p:spPr>
          <a:xfrm>
            <a:off x="1463040" y="2423160"/>
            <a:ext cx="256032" cy="438912"/>
          </a:xfrm>
          <a:prstGeom prst="rect">
            <a:avLst/>
          </a:prstGeom>
          <a:solidFill>
            <a:srgbClr val="111120"/>
          </a:solidFill>
          <a:ln w="12700">
            <a:solidFill>
              <a:srgbClr val="1C1C30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63" name="Text 61"/>
          <p:cNvSpPr/>
          <p:nvPr/>
        </p:nvSpPr>
        <p:spPr>
          <a:xfrm>
            <a:off x="1463040" y="2423160"/>
            <a:ext cx="25603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444455"/>
                </a:solidFill>
              </a:rPr>
              <a:t>▶</a:t>
            </a:r>
            <a:endParaRPr lang="en-US" sz="1000" dirty="0"/>
          </a:p>
        </p:txBody>
      </p:sp>
      <p:sp>
        <p:nvSpPr>
          <p:cNvPr id="64" name="Text 62"/>
          <p:cNvSpPr/>
          <p:nvPr/>
        </p:nvSpPr>
        <p:spPr>
          <a:xfrm>
            <a:off x="1773936" y="2459736"/>
            <a:ext cx="21945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E8E8E0"/>
                </a:solidFill>
              </a:rPr>
              <a:t>Mad Max</a:t>
            </a:r>
            <a:endParaRPr lang="en-US" sz="850" dirty="0"/>
          </a:p>
        </p:txBody>
      </p:sp>
      <p:sp>
        <p:nvSpPr>
          <p:cNvPr id="65" name="Text 63"/>
          <p:cNvSpPr/>
          <p:nvPr/>
        </p:nvSpPr>
        <p:spPr>
          <a:xfrm>
            <a:off x="1773936" y="2642616"/>
            <a:ext cx="91440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444455"/>
                </a:solidFill>
              </a:rPr>
              <a:t>Aksiyon</a:t>
            </a:r>
            <a:endParaRPr lang="en-US" sz="700" dirty="0"/>
          </a:p>
        </p:txBody>
      </p:sp>
      <p:sp>
        <p:nvSpPr>
          <p:cNvPr id="66" name="Text 64"/>
          <p:cNvSpPr/>
          <p:nvPr/>
        </p:nvSpPr>
        <p:spPr>
          <a:xfrm>
            <a:off x="4206240" y="2496312"/>
            <a:ext cx="3840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b="1" dirty="0">
                <a:solidFill>
                  <a:srgbClr val="E8E8E0"/>
                </a:solidFill>
              </a:rPr>
              <a:t>8.1</a:t>
            </a:r>
            <a:endParaRPr lang="en-US" sz="1200" dirty="0"/>
          </a:p>
        </p:txBody>
      </p:sp>
      <p:sp>
        <p:nvSpPr>
          <p:cNvPr id="67" name="Shape 65"/>
          <p:cNvSpPr/>
          <p:nvPr/>
        </p:nvSpPr>
        <p:spPr>
          <a:xfrm>
            <a:off x="1463040" y="2926080"/>
            <a:ext cx="3200400" cy="438912"/>
          </a:xfrm>
          <a:prstGeom prst="rect">
            <a:avLst/>
          </a:prstGeom>
          <a:solidFill>
            <a:srgbClr val="0D0D18"/>
          </a:solidFill>
          <a:ln w="6350">
            <a:solidFill>
              <a:srgbClr val="1C1C30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68" name="Shape 66"/>
          <p:cNvSpPr/>
          <p:nvPr/>
        </p:nvSpPr>
        <p:spPr>
          <a:xfrm>
            <a:off x="1463040" y="2926080"/>
            <a:ext cx="256032" cy="438912"/>
          </a:xfrm>
          <a:prstGeom prst="rect">
            <a:avLst/>
          </a:prstGeom>
          <a:solidFill>
            <a:srgbClr val="111120"/>
          </a:solidFill>
          <a:ln w="12700">
            <a:solidFill>
              <a:srgbClr val="1C1C30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69" name="Text 67"/>
          <p:cNvSpPr/>
          <p:nvPr/>
        </p:nvSpPr>
        <p:spPr>
          <a:xfrm>
            <a:off x="1463040" y="2926080"/>
            <a:ext cx="25603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444455"/>
                </a:solidFill>
              </a:rPr>
              <a:t>▶</a:t>
            </a:r>
            <a:endParaRPr lang="en-US" sz="1000" dirty="0"/>
          </a:p>
        </p:txBody>
      </p:sp>
      <p:sp>
        <p:nvSpPr>
          <p:cNvPr id="70" name="Text 68"/>
          <p:cNvSpPr/>
          <p:nvPr/>
        </p:nvSpPr>
        <p:spPr>
          <a:xfrm>
            <a:off x="1773936" y="2962656"/>
            <a:ext cx="21945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E8E8E0"/>
                </a:solidFill>
              </a:rPr>
              <a:t>The Revenant</a:t>
            </a:r>
            <a:endParaRPr lang="en-US" sz="850" dirty="0"/>
          </a:p>
        </p:txBody>
      </p:sp>
      <p:sp>
        <p:nvSpPr>
          <p:cNvPr id="71" name="Text 69"/>
          <p:cNvSpPr/>
          <p:nvPr/>
        </p:nvSpPr>
        <p:spPr>
          <a:xfrm>
            <a:off x="1773936" y="3145536"/>
            <a:ext cx="91440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444455"/>
                </a:solidFill>
              </a:rPr>
              <a:t>Dram</a:t>
            </a:r>
            <a:endParaRPr lang="en-US" sz="700" dirty="0"/>
          </a:p>
        </p:txBody>
      </p:sp>
      <p:sp>
        <p:nvSpPr>
          <p:cNvPr id="72" name="Text 70"/>
          <p:cNvSpPr/>
          <p:nvPr/>
        </p:nvSpPr>
        <p:spPr>
          <a:xfrm>
            <a:off x="4206240" y="2999232"/>
            <a:ext cx="3840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b="1" dirty="0">
                <a:solidFill>
                  <a:srgbClr val="E8E8E0"/>
                </a:solidFill>
              </a:rPr>
              <a:t>8.0</a:t>
            </a:r>
            <a:endParaRPr lang="en-US" sz="1200" dirty="0"/>
          </a:p>
        </p:txBody>
      </p:sp>
      <p:sp>
        <p:nvSpPr>
          <p:cNvPr id="73" name="Shape 71"/>
          <p:cNvSpPr/>
          <p:nvPr/>
        </p:nvSpPr>
        <p:spPr>
          <a:xfrm>
            <a:off x="1371600" y="3337560"/>
            <a:ext cx="3749040" cy="347472"/>
          </a:xfrm>
          <a:prstGeom prst="rect">
            <a:avLst/>
          </a:prstGeom>
          <a:solidFill>
            <a:srgbClr val="111120"/>
          </a:solidFill>
          <a:ln w="6350">
            <a:solidFill>
              <a:srgbClr val="1C1C30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74" name="Text 72"/>
          <p:cNvSpPr/>
          <p:nvPr/>
        </p:nvSpPr>
        <p:spPr>
          <a:xfrm>
            <a:off x="1481328" y="3383280"/>
            <a:ext cx="2926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444455"/>
                </a:solidFill>
              </a:rPr>
              <a:t>Ne izlemek istiyorsunuz?</a:t>
            </a:r>
            <a:endParaRPr lang="en-US" sz="800" dirty="0"/>
          </a:p>
        </p:txBody>
      </p:sp>
      <p:sp>
        <p:nvSpPr>
          <p:cNvPr id="75" name="Shape 73"/>
          <p:cNvSpPr/>
          <p:nvPr/>
        </p:nvSpPr>
        <p:spPr>
          <a:xfrm>
            <a:off x="4736592" y="3364992"/>
            <a:ext cx="256032" cy="256032"/>
          </a:xfrm>
          <a:prstGeom prst="ellipse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76" name="Shape 74"/>
          <p:cNvSpPr/>
          <p:nvPr/>
        </p:nvSpPr>
        <p:spPr>
          <a:xfrm>
            <a:off x="5321808" y="868680"/>
            <a:ext cx="3383280" cy="685800"/>
          </a:xfrm>
          <a:prstGeom prst="rect">
            <a:avLst/>
          </a:prstGeom>
          <a:solidFill>
            <a:srgbClr val="0D0D18"/>
          </a:solidFill>
          <a:ln w="6350">
            <a:solidFill>
              <a:srgbClr val="1C1C30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77" name="Text 75"/>
          <p:cNvSpPr/>
          <p:nvPr/>
        </p:nvSpPr>
        <p:spPr>
          <a:xfrm>
            <a:off x="5376672" y="96012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000000"/>
                </a:solidFill>
              </a:rPr>
              <a:t>🎬</a:t>
            </a:r>
            <a:endParaRPr lang="en-US" sz="1600" dirty="0"/>
          </a:p>
        </p:txBody>
      </p:sp>
      <p:sp>
        <p:nvSpPr>
          <p:cNvPr id="78" name="Text 76"/>
          <p:cNvSpPr/>
          <p:nvPr/>
        </p:nvSpPr>
        <p:spPr>
          <a:xfrm>
            <a:off x="5779008" y="923544"/>
            <a:ext cx="2834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E8E8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Film Kart Bileşeni</a:t>
            </a:r>
            <a:endParaRPr lang="en-US" sz="950" dirty="0"/>
          </a:p>
        </p:txBody>
      </p:sp>
      <p:sp>
        <p:nvSpPr>
          <p:cNvPr id="79" name="Text 77"/>
          <p:cNvSpPr/>
          <p:nvPr/>
        </p:nvSpPr>
        <p:spPr>
          <a:xfrm>
            <a:off x="5779008" y="1143000"/>
            <a:ext cx="2834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8888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Başlık, tür, duygu etiketi ve kullanıcı puanı görsel kart olarak gösterilir.</a:t>
            </a:r>
            <a:endParaRPr lang="en-US" sz="850" dirty="0"/>
          </a:p>
        </p:txBody>
      </p:sp>
      <p:sp>
        <p:nvSpPr>
          <p:cNvPr id="80" name="Shape 78"/>
          <p:cNvSpPr/>
          <p:nvPr/>
        </p:nvSpPr>
        <p:spPr>
          <a:xfrm>
            <a:off x="5321808" y="1645920"/>
            <a:ext cx="3383280" cy="685800"/>
          </a:xfrm>
          <a:prstGeom prst="rect">
            <a:avLst/>
          </a:prstGeom>
          <a:solidFill>
            <a:srgbClr val="0D0D18"/>
          </a:solidFill>
          <a:ln w="6350">
            <a:solidFill>
              <a:srgbClr val="1C1C30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81" name="Text 79"/>
          <p:cNvSpPr/>
          <p:nvPr/>
        </p:nvSpPr>
        <p:spPr>
          <a:xfrm>
            <a:off x="5376672" y="173736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000000"/>
                </a:solidFill>
              </a:rPr>
              <a:t>💬</a:t>
            </a:r>
            <a:endParaRPr lang="en-US" sz="1600" dirty="0"/>
          </a:p>
        </p:txBody>
      </p:sp>
      <p:sp>
        <p:nvSpPr>
          <p:cNvPr id="82" name="Text 80"/>
          <p:cNvSpPr/>
          <p:nvPr/>
        </p:nvSpPr>
        <p:spPr>
          <a:xfrm>
            <a:off x="5779008" y="1700784"/>
            <a:ext cx="2834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E8E8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Sohbet Hafızası</a:t>
            </a:r>
            <a:endParaRPr lang="en-US" sz="950" dirty="0"/>
          </a:p>
        </p:txBody>
      </p:sp>
      <p:sp>
        <p:nvSpPr>
          <p:cNvPr id="83" name="Text 81"/>
          <p:cNvSpPr/>
          <p:nvPr/>
        </p:nvSpPr>
        <p:spPr>
          <a:xfrm>
            <a:off x="5779008" y="1920240"/>
            <a:ext cx="2834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8888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Son 7 mesaj frontend'de tutulur; sorgu zenginleştirme için backend'e iletilir.</a:t>
            </a:r>
            <a:endParaRPr lang="en-US" sz="850" dirty="0"/>
          </a:p>
        </p:txBody>
      </p:sp>
      <p:sp>
        <p:nvSpPr>
          <p:cNvPr id="84" name="Shape 82"/>
          <p:cNvSpPr/>
          <p:nvPr/>
        </p:nvSpPr>
        <p:spPr>
          <a:xfrm>
            <a:off x="5321808" y="2423160"/>
            <a:ext cx="3383280" cy="685800"/>
          </a:xfrm>
          <a:prstGeom prst="rect">
            <a:avLst/>
          </a:prstGeom>
          <a:solidFill>
            <a:srgbClr val="0D0D18"/>
          </a:solidFill>
          <a:ln w="6350">
            <a:solidFill>
              <a:srgbClr val="1C1C30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85" name="Text 83"/>
          <p:cNvSpPr/>
          <p:nvPr/>
        </p:nvSpPr>
        <p:spPr>
          <a:xfrm>
            <a:off x="5376672" y="251460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000000"/>
                </a:solidFill>
              </a:rPr>
              <a:t>📊</a:t>
            </a:r>
            <a:endParaRPr lang="en-US" sz="1600" dirty="0"/>
          </a:p>
        </p:txBody>
      </p:sp>
      <p:sp>
        <p:nvSpPr>
          <p:cNvPr id="86" name="Text 84"/>
          <p:cNvSpPr/>
          <p:nvPr/>
        </p:nvSpPr>
        <p:spPr>
          <a:xfrm>
            <a:off x="5779008" y="2478024"/>
            <a:ext cx="2834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E8E8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Rating Görselleştirme</a:t>
            </a:r>
            <a:endParaRPr lang="en-US" sz="950" dirty="0"/>
          </a:p>
        </p:txBody>
      </p:sp>
      <p:sp>
        <p:nvSpPr>
          <p:cNvPr id="87" name="Text 85"/>
          <p:cNvSpPr/>
          <p:nvPr/>
        </p:nvSpPr>
        <p:spPr>
          <a:xfrm>
            <a:off x="5779008" y="2697480"/>
            <a:ext cx="2834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8888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Ortalama puan hem sayısal hem progress-bar olarak gösterilir.</a:t>
            </a:r>
            <a:endParaRPr lang="en-US" sz="850" dirty="0"/>
          </a:p>
        </p:txBody>
      </p:sp>
      <p:sp>
        <p:nvSpPr>
          <p:cNvPr id="88" name="Shape 86"/>
          <p:cNvSpPr/>
          <p:nvPr/>
        </p:nvSpPr>
        <p:spPr>
          <a:xfrm>
            <a:off x="5321808" y="3200400"/>
            <a:ext cx="3383280" cy="685800"/>
          </a:xfrm>
          <a:prstGeom prst="rect">
            <a:avLst/>
          </a:prstGeom>
          <a:solidFill>
            <a:srgbClr val="0D0D18"/>
          </a:solidFill>
          <a:ln w="6350">
            <a:solidFill>
              <a:srgbClr val="1C1C30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89" name="Text 87"/>
          <p:cNvSpPr/>
          <p:nvPr/>
        </p:nvSpPr>
        <p:spPr>
          <a:xfrm>
            <a:off x="5376672" y="329184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000000"/>
                </a:solidFill>
              </a:rPr>
              <a:t>🗂️</a:t>
            </a:r>
            <a:endParaRPr lang="en-US" sz="1600" dirty="0"/>
          </a:p>
        </p:txBody>
      </p:sp>
      <p:sp>
        <p:nvSpPr>
          <p:cNvPr id="90" name="Text 88"/>
          <p:cNvSpPr/>
          <p:nvPr/>
        </p:nvSpPr>
        <p:spPr>
          <a:xfrm>
            <a:off x="5779008" y="3255264"/>
            <a:ext cx="2834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E8E8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Kenar Çubuğu</a:t>
            </a:r>
            <a:endParaRPr lang="en-US" sz="950" dirty="0"/>
          </a:p>
        </p:txBody>
      </p:sp>
      <p:sp>
        <p:nvSpPr>
          <p:cNvPr id="91" name="Text 89"/>
          <p:cNvSpPr/>
          <p:nvPr/>
        </p:nvSpPr>
        <p:spPr>
          <a:xfrm>
            <a:off x="5779008" y="3474720"/>
            <a:ext cx="2834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8888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 hazır kategori ve ruh hali butonu tek tıkla sorgu gönderir.</a:t>
            </a:r>
            <a:endParaRPr lang="en-US" sz="850" dirty="0"/>
          </a:p>
        </p:txBody>
      </p:sp>
      <p:sp>
        <p:nvSpPr>
          <p:cNvPr id="92" name="Shape 90"/>
          <p:cNvSpPr/>
          <p:nvPr/>
        </p:nvSpPr>
        <p:spPr>
          <a:xfrm>
            <a:off x="5321808" y="3977640"/>
            <a:ext cx="3383280" cy="685800"/>
          </a:xfrm>
          <a:prstGeom prst="rect">
            <a:avLst/>
          </a:prstGeom>
          <a:solidFill>
            <a:srgbClr val="0D0D18"/>
          </a:solidFill>
          <a:ln w="6350">
            <a:solidFill>
              <a:srgbClr val="1C1C30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93" name="Text 91"/>
          <p:cNvSpPr/>
          <p:nvPr/>
        </p:nvSpPr>
        <p:spPr>
          <a:xfrm>
            <a:off x="5376672" y="406908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000000"/>
                </a:solidFill>
              </a:rPr>
              <a:t>🔄</a:t>
            </a:r>
            <a:endParaRPr lang="en-US" sz="1600" dirty="0"/>
          </a:p>
        </p:txBody>
      </p:sp>
      <p:sp>
        <p:nvSpPr>
          <p:cNvPr id="94" name="Text 92"/>
          <p:cNvSpPr/>
          <p:nvPr/>
        </p:nvSpPr>
        <p:spPr>
          <a:xfrm>
            <a:off x="5779008" y="4032504"/>
            <a:ext cx="2834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E8E8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Sohbet Temizle</a:t>
            </a:r>
            <a:endParaRPr lang="en-US" sz="950" dirty="0"/>
          </a:p>
        </p:txBody>
      </p:sp>
      <p:sp>
        <p:nvSpPr>
          <p:cNvPr id="95" name="Text 93"/>
          <p:cNvSpPr/>
          <p:nvPr/>
        </p:nvSpPr>
        <p:spPr>
          <a:xfrm>
            <a:off x="5779008" y="4251960"/>
            <a:ext cx="2834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8888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Geçmiş sıfırlanır, istatistik sayaçları güncellenir.</a:t>
            </a:r>
            <a:endParaRPr lang="en-US" sz="8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8080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3" name="Shape 1"/>
          <p:cNvSpPr/>
          <p:nvPr/>
        </p:nvSpPr>
        <p:spPr>
          <a:xfrm>
            <a:off x="73152" y="18288"/>
            <a:ext cx="201168" cy="54864"/>
          </a:xfrm>
          <a:prstGeom prst="rect">
            <a:avLst/>
          </a:prstGeom>
          <a:solidFill>
            <a:srgbClr val="7B1A15"/>
          </a:solidFill>
          <a:ln w="12700">
            <a:solidFill>
              <a:srgbClr val="7B1A15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4" name="Shape 2"/>
          <p:cNvSpPr/>
          <p:nvPr/>
        </p:nvSpPr>
        <p:spPr>
          <a:xfrm>
            <a:off x="438912" y="18288"/>
            <a:ext cx="201168" cy="54864"/>
          </a:xfrm>
          <a:prstGeom prst="rect">
            <a:avLst/>
          </a:prstGeom>
          <a:solidFill>
            <a:srgbClr val="7B1A15"/>
          </a:solidFill>
          <a:ln w="12700">
            <a:solidFill>
              <a:srgbClr val="7B1A15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5" name="Shape 3"/>
          <p:cNvSpPr/>
          <p:nvPr/>
        </p:nvSpPr>
        <p:spPr>
          <a:xfrm>
            <a:off x="804672" y="18288"/>
            <a:ext cx="201168" cy="54864"/>
          </a:xfrm>
          <a:prstGeom prst="rect">
            <a:avLst/>
          </a:prstGeom>
          <a:solidFill>
            <a:srgbClr val="7B1A15"/>
          </a:solidFill>
          <a:ln w="12700">
            <a:solidFill>
              <a:srgbClr val="7B1A15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6" name="Shape 4"/>
          <p:cNvSpPr/>
          <p:nvPr/>
        </p:nvSpPr>
        <p:spPr>
          <a:xfrm>
            <a:off x="1170432" y="18288"/>
            <a:ext cx="201168" cy="54864"/>
          </a:xfrm>
          <a:prstGeom prst="rect">
            <a:avLst/>
          </a:prstGeom>
          <a:solidFill>
            <a:srgbClr val="7B1A15"/>
          </a:solidFill>
          <a:ln w="12700">
            <a:solidFill>
              <a:srgbClr val="7B1A15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7" name="Shape 5"/>
          <p:cNvSpPr/>
          <p:nvPr/>
        </p:nvSpPr>
        <p:spPr>
          <a:xfrm>
            <a:off x="1536192" y="18288"/>
            <a:ext cx="201168" cy="54864"/>
          </a:xfrm>
          <a:prstGeom prst="rect">
            <a:avLst/>
          </a:prstGeom>
          <a:solidFill>
            <a:srgbClr val="7B1A15"/>
          </a:solidFill>
          <a:ln w="12700">
            <a:solidFill>
              <a:srgbClr val="7B1A15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8" name="Shape 6"/>
          <p:cNvSpPr/>
          <p:nvPr/>
        </p:nvSpPr>
        <p:spPr>
          <a:xfrm>
            <a:off x="1901952" y="18288"/>
            <a:ext cx="201168" cy="54864"/>
          </a:xfrm>
          <a:prstGeom prst="rect">
            <a:avLst/>
          </a:prstGeom>
          <a:solidFill>
            <a:srgbClr val="7B1A15"/>
          </a:solidFill>
          <a:ln w="12700">
            <a:solidFill>
              <a:srgbClr val="7B1A15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9" name="Shape 7"/>
          <p:cNvSpPr/>
          <p:nvPr/>
        </p:nvSpPr>
        <p:spPr>
          <a:xfrm>
            <a:off x="2267712" y="18288"/>
            <a:ext cx="201168" cy="54864"/>
          </a:xfrm>
          <a:prstGeom prst="rect">
            <a:avLst/>
          </a:prstGeom>
          <a:solidFill>
            <a:srgbClr val="7B1A15"/>
          </a:solidFill>
          <a:ln w="12700">
            <a:solidFill>
              <a:srgbClr val="7B1A15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10" name="Shape 8"/>
          <p:cNvSpPr/>
          <p:nvPr/>
        </p:nvSpPr>
        <p:spPr>
          <a:xfrm>
            <a:off x="2633472" y="18288"/>
            <a:ext cx="201168" cy="54864"/>
          </a:xfrm>
          <a:prstGeom prst="rect">
            <a:avLst/>
          </a:prstGeom>
          <a:solidFill>
            <a:srgbClr val="7B1A15"/>
          </a:solidFill>
          <a:ln w="12700">
            <a:solidFill>
              <a:srgbClr val="7B1A15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11" name="Shape 9"/>
          <p:cNvSpPr/>
          <p:nvPr/>
        </p:nvSpPr>
        <p:spPr>
          <a:xfrm>
            <a:off x="2999232" y="18288"/>
            <a:ext cx="201168" cy="54864"/>
          </a:xfrm>
          <a:prstGeom prst="rect">
            <a:avLst/>
          </a:prstGeom>
          <a:solidFill>
            <a:srgbClr val="7B1A15"/>
          </a:solidFill>
          <a:ln w="12700">
            <a:solidFill>
              <a:srgbClr val="7B1A15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12" name="Shape 10"/>
          <p:cNvSpPr/>
          <p:nvPr/>
        </p:nvSpPr>
        <p:spPr>
          <a:xfrm>
            <a:off x="3364992" y="18288"/>
            <a:ext cx="201168" cy="54864"/>
          </a:xfrm>
          <a:prstGeom prst="rect">
            <a:avLst/>
          </a:prstGeom>
          <a:solidFill>
            <a:srgbClr val="7B1A15"/>
          </a:solidFill>
          <a:ln w="12700">
            <a:solidFill>
              <a:srgbClr val="7B1A15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13" name="Shape 11"/>
          <p:cNvSpPr/>
          <p:nvPr/>
        </p:nvSpPr>
        <p:spPr>
          <a:xfrm>
            <a:off x="3730752" y="18288"/>
            <a:ext cx="201168" cy="54864"/>
          </a:xfrm>
          <a:prstGeom prst="rect">
            <a:avLst/>
          </a:prstGeom>
          <a:solidFill>
            <a:srgbClr val="7B1A15"/>
          </a:solidFill>
          <a:ln w="12700">
            <a:solidFill>
              <a:srgbClr val="7B1A15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14" name="Shape 12"/>
          <p:cNvSpPr/>
          <p:nvPr/>
        </p:nvSpPr>
        <p:spPr>
          <a:xfrm>
            <a:off x="4096512" y="18288"/>
            <a:ext cx="201168" cy="54864"/>
          </a:xfrm>
          <a:prstGeom prst="rect">
            <a:avLst/>
          </a:prstGeom>
          <a:solidFill>
            <a:srgbClr val="7B1A15"/>
          </a:solidFill>
          <a:ln w="12700">
            <a:solidFill>
              <a:srgbClr val="7B1A15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15" name="Shape 13"/>
          <p:cNvSpPr/>
          <p:nvPr/>
        </p:nvSpPr>
        <p:spPr>
          <a:xfrm>
            <a:off x="4462272" y="18288"/>
            <a:ext cx="201168" cy="54864"/>
          </a:xfrm>
          <a:prstGeom prst="rect">
            <a:avLst/>
          </a:prstGeom>
          <a:solidFill>
            <a:srgbClr val="7B1A15"/>
          </a:solidFill>
          <a:ln w="12700">
            <a:solidFill>
              <a:srgbClr val="7B1A15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16" name="Shape 14"/>
          <p:cNvSpPr/>
          <p:nvPr/>
        </p:nvSpPr>
        <p:spPr>
          <a:xfrm>
            <a:off x="4828032" y="18288"/>
            <a:ext cx="201168" cy="54864"/>
          </a:xfrm>
          <a:prstGeom prst="rect">
            <a:avLst/>
          </a:prstGeom>
          <a:solidFill>
            <a:srgbClr val="7B1A15"/>
          </a:solidFill>
          <a:ln w="12700">
            <a:solidFill>
              <a:srgbClr val="7B1A15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17" name="Shape 15"/>
          <p:cNvSpPr/>
          <p:nvPr/>
        </p:nvSpPr>
        <p:spPr>
          <a:xfrm>
            <a:off x="5193792" y="18288"/>
            <a:ext cx="201168" cy="54864"/>
          </a:xfrm>
          <a:prstGeom prst="rect">
            <a:avLst/>
          </a:prstGeom>
          <a:solidFill>
            <a:srgbClr val="7B1A15"/>
          </a:solidFill>
          <a:ln w="12700">
            <a:solidFill>
              <a:srgbClr val="7B1A15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18" name="Shape 16"/>
          <p:cNvSpPr/>
          <p:nvPr/>
        </p:nvSpPr>
        <p:spPr>
          <a:xfrm>
            <a:off x="5559552" y="18288"/>
            <a:ext cx="201168" cy="54864"/>
          </a:xfrm>
          <a:prstGeom prst="rect">
            <a:avLst/>
          </a:prstGeom>
          <a:solidFill>
            <a:srgbClr val="7B1A15"/>
          </a:solidFill>
          <a:ln w="12700">
            <a:solidFill>
              <a:srgbClr val="7B1A15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19" name="Shape 17"/>
          <p:cNvSpPr/>
          <p:nvPr/>
        </p:nvSpPr>
        <p:spPr>
          <a:xfrm>
            <a:off x="5925312" y="18288"/>
            <a:ext cx="201168" cy="54864"/>
          </a:xfrm>
          <a:prstGeom prst="rect">
            <a:avLst/>
          </a:prstGeom>
          <a:solidFill>
            <a:srgbClr val="7B1A15"/>
          </a:solidFill>
          <a:ln w="12700">
            <a:solidFill>
              <a:srgbClr val="7B1A15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20" name="Shape 18"/>
          <p:cNvSpPr/>
          <p:nvPr/>
        </p:nvSpPr>
        <p:spPr>
          <a:xfrm>
            <a:off x="6291072" y="18288"/>
            <a:ext cx="201168" cy="54864"/>
          </a:xfrm>
          <a:prstGeom prst="rect">
            <a:avLst/>
          </a:prstGeom>
          <a:solidFill>
            <a:srgbClr val="7B1A15"/>
          </a:solidFill>
          <a:ln w="12700">
            <a:solidFill>
              <a:srgbClr val="7B1A15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21" name="Shape 19"/>
          <p:cNvSpPr/>
          <p:nvPr/>
        </p:nvSpPr>
        <p:spPr>
          <a:xfrm>
            <a:off x="6656832" y="18288"/>
            <a:ext cx="201168" cy="54864"/>
          </a:xfrm>
          <a:prstGeom prst="rect">
            <a:avLst/>
          </a:prstGeom>
          <a:solidFill>
            <a:srgbClr val="7B1A15"/>
          </a:solidFill>
          <a:ln w="12700">
            <a:solidFill>
              <a:srgbClr val="7B1A15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22" name="Shape 20"/>
          <p:cNvSpPr/>
          <p:nvPr/>
        </p:nvSpPr>
        <p:spPr>
          <a:xfrm>
            <a:off x="7022592" y="18288"/>
            <a:ext cx="201168" cy="54864"/>
          </a:xfrm>
          <a:prstGeom prst="rect">
            <a:avLst/>
          </a:prstGeom>
          <a:solidFill>
            <a:srgbClr val="7B1A15"/>
          </a:solidFill>
          <a:ln w="12700">
            <a:solidFill>
              <a:srgbClr val="7B1A15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23" name="Shape 21"/>
          <p:cNvSpPr/>
          <p:nvPr/>
        </p:nvSpPr>
        <p:spPr>
          <a:xfrm>
            <a:off x="7388352" y="18288"/>
            <a:ext cx="201168" cy="54864"/>
          </a:xfrm>
          <a:prstGeom prst="rect">
            <a:avLst/>
          </a:prstGeom>
          <a:solidFill>
            <a:srgbClr val="7B1A15"/>
          </a:solidFill>
          <a:ln w="12700">
            <a:solidFill>
              <a:srgbClr val="7B1A15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24" name="Shape 22"/>
          <p:cNvSpPr/>
          <p:nvPr/>
        </p:nvSpPr>
        <p:spPr>
          <a:xfrm>
            <a:off x="7754112" y="18288"/>
            <a:ext cx="201168" cy="54864"/>
          </a:xfrm>
          <a:prstGeom prst="rect">
            <a:avLst/>
          </a:prstGeom>
          <a:solidFill>
            <a:srgbClr val="7B1A15"/>
          </a:solidFill>
          <a:ln w="12700">
            <a:solidFill>
              <a:srgbClr val="7B1A15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25" name="Shape 23"/>
          <p:cNvSpPr/>
          <p:nvPr/>
        </p:nvSpPr>
        <p:spPr>
          <a:xfrm>
            <a:off x="8119872" y="18288"/>
            <a:ext cx="201168" cy="54864"/>
          </a:xfrm>
          <a:prstGeom prst="rect">
            <a:avLst/>
          </a:prstGeom>
          <a:solidFill>
            <a:srgbClr val="7B1A15"/>
          </a:solidFill>
          <a:ln w="12700">
            <a:solidFill>
              <a:srgbClr val="7B1A15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26" name="Shape 24"/>
          <p:cNvSpPr/>
          <p:nvPr/>
        </p:nvSpPr>
        <p:spPr>
          <a:xfrm>
            <a:off x="8485632" y="18288"/>
            <a:ext cx="201168" cy="54864"/>
          </a:xfrm>
          <a:prstGeom prst="rect">
            <a:avLst/>
          </a:prstGeom>
          <a:solidFill>
            <a:srgbClr val="7B1A15"/>
          </a:solidFill>
          <a:ln w="12700">
            <a:solidFill>
              <a:srgbClr val="7B1A15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27" name="Shape 25"/>
          <p:cNvSpPr/>
          <p:nvPr/>
        </p:nvSpPr>
        <p:spPr>
          <a:xfrm>
            <a:off x="8851392" y="18288"/>
            <a:ext cx="201168" cy="54864"/>
          </a:xfrm>
          <a:prstGeom prst="rect">
            <a:avLst/>
          </a:prstGeom>
          <a:solidFill>
            <a:srgbClr val="7B1A15"/>
          </a:solidFill>
          <a:ln w="12700">
            <a:solidFill>
              <a:srgbClr val="7B1A15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28" name="Text 26"/>
          <p:cNvSpPr/>
          <p:nvPr/>
        </p:nvSpPr>
        <p:spPr>
          <a:xfrm>
            <a:off x="457200" y="201168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E8E8E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Canlı Sohbet Akışı</a:t>
            </a:r>
            <a:endParaRPr lang="en-US" sz="2600" dirty="0"/>
          </a:p>
        </p:txBody>
      </p:sp>
      <p:sp>
        <p:nvSpPr>
          <p:cNvPr id="29" name="Shape 27"/>
          <p:cNvSpPr/>
          <p:nvPr/>
        </p:nvSpPr>
        <p:spPr>
          <a:xfrm>
            <a:off x="457200" y="713232"/>
            <a:ext cx="8229600" cy="0"/>
          </a:xfrm>
          <a:prstGeom prst="line">
            <a:avLst/>
          </a:prstGeom>
          <a:noFill/>
          <a:ln w="6350">
            <a:solidFill>
              <a:srgbClr val="252540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30" name="Shape 28"/>
          <p:cNvSpPr/>
          <p:nvPr/>
        </p:nvSpPr>
        <p:spPr>
          <a:xfrm>
            <a:off x="3657600" y="868680"/>
            <a:ext cx="5029200" cy="502920"/>
          </a:xfrm>
          <a:prstGeom prst="rect">
            <a:avLst/>
          </a:prstGeom>
          <a:solidFill>
            <a:srgbClr val="1C0B08"/>
          </a:solidFill>
          <a:ln w="6350">
            <a:solidFill>
              <a:srgbClr val="1C1C30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31" name="Shape 29"/>
          <p:cNvSpPr/>
          <p:nvPr/>
        </p:nvSpPr>
        <p:spPr>
          <a:xfrm>
            <a:off x="3657600" y="868680"/>
            <a:ext cx="5029200" cy="502920"/>
          </a:xfrm>
          <a:prstGeom prst="rect">
            <a:avLst/>
          </a:prstGeom>
          <a:solidFill>
            <a:srgbClr val="1C0B08"/>
          </a:solidFill>
          <a:ln w="6350">
            <a:solidFill>
              <a:srgbClr val="3A1510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32" name="Text 30"/>
          <p:cNvSpPr/>
          <p:nvPr/>
        </p:nvSpPr>
        <p:spPr>
          <a:xfrm>
            <a:off x="3749040" y="941832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DE8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Yalnızlık temalı, düşündürücü bir film öner.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365760" y="1508760"/>
            <a:ext cx="5943600" cy="777240"/>
          </a:xfrm>
          <a:prstGeom prst="rect">
            <a:avLst/>
          </a:prstGeom>
          <a:solidFill>
            <a:srgbClr val="0D0D18"/>
          </a:solidFill>
          <a:ln w="6350">
            <a:solidFill>
              <a:srgbClr val="1C1C30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34" name="Text 32"/>
          <p:cNvSpPr/>
          <p:nvPr/>
        </p:nvSpPr>
        <p:spPr>
          <a:xfrm>
            <a:off x="457200" y="1563624"/>
            <a:ext cx="1828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C0392B"/>
                </a:solidFill>
              </a:rPr>
              <a:t>◼  CineBot</a:t>
            </a:r>
            <a:endParaRPr lang="en-US" sz="800" dirty="0"/>
          </a:p>
        </p:txBody>
      </p:sp>
      <p:sp>
        <p:nvSpPr>
          <p:cNvPr id="35" name="Text 33"/>
          <p:cNvSpPr/>
          <p:nvPr/>
        </p:nvSpPr>
        <p:spPr>
          <a:xfrm>
            <a:off x="457200" y="1764792"/>
            <a:ext cx="5669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8888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Cast Away (2000) — tek başına hayatta kalma üzerine derin bir varoluş hikayesi.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8888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Into the Wild (2007) — medeniyetten kaçış ve iç yolculuk.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8888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Moon (2009) — yalnızlık ve kimlik üzerine bilim-kurgu şaheseri.</a:t>
            </a:r>
            <a:endParaRPr lang="en-US" sz="950" dirty="0"/>
          </a:p>
        </p:txBody>
      </p:sp>
      <p:sp>
        <p:nvSpPr>
          <p:cNvPr id="36" name="Shape 34"/>
          <p:cNvSpPr/>
          <p:nvPr/>
        </p:nvSpPr>
        <p:spPr>
          <a:xfrm>
            <a:off x="3657600" y="2423160"/>
            <a:ext cx="5029200" cy="502920"/>
          </a:xfrm>
          <a:prstGeom prst="rect">
            <a:avLst/>
          </a:prstGeom>
          <a:solidFill>
            <a:srgbClr val="1C0B08"/>
          </a:solidFill>
          <a:ln w="6350">
            <a:solidFill>
              <a:srgbClr val="1C1C30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37" name="Shape 35"/>
          <p:cNvSpPr/>
          <p:nvPr/>
        </p:nvSpPr>
        <p:spPr>
          <a:xfrm>
            <a:off x="3657600" y="2423160"/>
            <a:ext cx="5029200" cy="502920"/>
          </a:xfrm>
          <a:prstGeom prst="rect">
            <a:avLst/>
          </a:prstGeom>
          <a:solidFill>
            <a:srgbClr val="1C0B08"/>
          </a:solidFill>
          <a:ln w="6350">
            <a:solidFill>
              <a:srgbClr val="3A1510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38" name="Text 36"/>
          <p:cNvSpPr/>
          <p:nvPr/>
        </p:nvSpPr>
        <p:spPr>
          <a:xfrm>
            <a:off x="3749040" y="2496312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DE8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Into the Wild gibi başka bir şey var mı?</a:t>
            </a:r>
            <a:endParaRPr lang="en-US" sz="1000" dirty="0"/>
          </a:p>
        </p:txBody>
      </p:sp>
      <p:sp>
        <p:nvSpPr>
          <p:cNvPr id="39" name="Shape 37"/>
          <p:cNvSpPr/>
          <p:nvPr/>
        </p:nvSpPr>
        <p:spPr>
          <a:xfrm>
            <a:off x="365760" y="3063240"/>
            <a:ext cx="5943600" cy="777240"/>
          </a:xfrm>
          <a:prstGeom prst="rect">
            <a:avLst/>
          </a:prstGeom>
          <a:solidFill>
            <a:srgbClr val="0D0D18"/>
          </a:solidFill>
          <a:ln w="6350">
            <a:solidFill>
              <a:srgbClr val="1C1C30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40" name="Text 38"/>
          <p:cNvSpPr/>
          <p:nvPr/>
        </p:nvSpPr>
        <p:spPr>
          <a:xfrm>
            <a:off x="457200" y="3118104"/>
            <a:ext cx="1828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C0392B"/>
                </a:solidFill>
              </a:rPr>
              <a:t>◼  CineBot</a:t>
            </a:r>
            <a:endParaRPr lang="en-US" sz="800" dirty="0"/>
          </a:p>
        </p:txBody>
      </p:sp>
      <p:sp>
        <p:nvSpPr>
          <p:cNvPr id="41" name="Text 39"/>
          <p:cNvSpPr/>
          <p:nvPr/>
        </p:nvSpPr>
        <p:spPr>
          <a:xfrm>
            <a:off x="457200" y="3319272"/>
            <a:ext cx="5669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8888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Wild (2014) — Reese Witherspoon'un yürüyüş yolculuğu, aynı keşif ruhu.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8888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Walkabout (1971) — doğa ve medeniyetle yüzleşme, sinematografisi nefes kesici.</a:t>
            </a:r>
            <a:endParaRPr lang="en-US" sz="950" dirty="0"/>
          </a:p>
        </p:txBody>
      </p:sp>
      <p:sp>
        <p:nvSpPr>
          <p:cNvPr id="42" name="Shape 40"/>
          <p:cNvSpPr/>
          <p:nvPr/>
        </p:nvSpPr>
        <p:spPr>
          <a:xfrm>
            <a:off x="6217920" y="841248"/>
            <a:ext cx="2560320" cy="3840480"/>
          </a:xfrm>
          <a:prstGeom prst="rect">
            <a:avLst/>
          </a:prstGeom>
          <a:solidFill>
            <a:srgbClr val="111120"/>
          </a:solidFill>
          <a:ln w="6350">
            <a:solidFill>
              <a:srgbClr val="1C1C30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43" name="Shape 41"/>
          <p:cNvSpPr/>
          <p:nvPr/>
        </p:nvSpPr>
        <p:spPr>
          <a:xfrm>
            <a:off x="6217920" y="841248"/>
            <a:ext cx="2560320" cy="54864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44" name="Text 42"/>
          <p:cNvSpPr/>
          <p:nvPr/>
        </p:nvSpPr>
        <p:spPr>
          <a:xfrm>
            <a:off x="6309360" y="96012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E8E8E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Bu akışta ne oluyor?</a:t>
            </a:r>
            <a:endParaRPr lang="en-US" sz="1100" dirty="0"/>
          </a:p>
        </p:txBody>
      </p:sp>
      <p:sp>
        <p:nvSpPr>
          <p:cNvPr id="45" name="Shape 43"/>
          <p:cNvSpPr/>
          <p:nvPr/>
        </p:nvSpPr>
        <p:spPr>
          <a:xfrm>
            <a:off x="6309360" y="1353312"/>
            <a:ext cx="201168" cy="201168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46" name="Text 44"/>
          <p:cNvSpPr/>
          <p:nvPr/>
        </p:nvSpPr>
        <p:spPr>
          <a:xfrm>
            <a:off x="6309360" y="1353312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E8E8E0"/>
                </a:solidFill>
              </a:rPr>
              <a:t>1</a:t>
            </a:r>
            <a:endParaRPr lang="en-US" sz="800" dirty="0"/>
          </a:p>
        </p:txBody>
      </p:sp>
      <p:sp>
        <p:nvSpPr>
          <p:cNvPr id="47" name="Text 45"/>
          <p:cNvSpPr/>
          <p:nvPr/>
        </p:nvSpPr>
        <p:spPr>
          <a:xfrm>
            <a:off x="6565392" y="1353312"/>
            <a:ext cx="2011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E8E8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Sorgu Analizi</a:t>
            </a:r>
            <a:endParaRPr lang="en-US" sz="850" dirty="0"/>
          </a:p>
        </p:txBody>
      </p:sp>
      <p:sp>
        <p:nvSpPr>
          <p:cNvPr id="48" name="Text 46"/>
          <p:cNvSpPr/>
          <p:nvPr/>
        </p:nvSpPr>
        <p:spPr>
          <a:xfrm>
            <a:off x="6565392" y="1554480"/>
            <a:ext cx="20116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8888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"Yalnızlık" → duygu &amp; tema vektörü oluşturulur.</a:t>
            </a:r>
            <a:endParaRPr lang="en-US" sz="800" dirty="0"/>
          </a:p>
        </p:txBody>
      </p:sp>
      <p:sp>
        <p:nvSpPr>
          <p:cNvPr id="49" name="Shape 47"/>
          <p:cNvSpPr/>
          <p:nvPr/>
        </p:nvSpPr>
        <p:spPr>
          <a:xfrm>
            <a:off x="6309360" y="1975104"/>
            <a:ext cx="201168" cy="201168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50" name="Text 48"/>
          <p:cNvSpPr/>
          <p:nvPr/>
        </p:nvSpPr>
        <p:spPr>
          <a:xfrm>
            <a:off x="6309360" y="1975104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E8E8E0"/>
                </a:solidFill>
              </a:rPr>
              <a:t>2</a:t>
            </a:r>
            <a:endParaRPr lang="en-US" sz="800" dirty="0"/>
          </a:p>
        </p:txBody>
      </p:sp>
      <p:sp>
        <p:nvSpPr>
          <p:cNvPr id="51" name="Text 49"/>
          <p:cNvSpPr/>
          <p:nvPr/>
        </p:nvSpPr>
        <p:spPr>
          <a:xfrm>
            <a:off x="6565392" y="1975104"/>
            <a:ext cx="2011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E8E8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FAISS Arama</a:t>
            </a:r>
            <a:endParaRPr lang="en-US" sz="850" dirty="0"/>
          </a:p>
        </p:txBody>
      </p:sp>
      <p:sp>
        <p:nvSpPr>
          <p:cNvPr id="52" name="Text 50"/>
          <p:cNvSpPr/>
          <p:nvPr/>
        </p:nvSpPr>
        <p:spPr>
          <a:xfrm>
            <a:off x="6565392" y="2176272"/>
            <a:ext cx="20116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8888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yakın 30 film çekilir, MMR ile 10'a düşer.</a:t>
            </a:r>
            <a:endParaRPr lang="en-US" sz="800" dirty="0"/>
          </a:p>
        </p:txBody>
      </p:sp>
      <p:sp>
        <p:nvSpPr>
          <p:cNvPr id="53" name="Shape 51"/>
          <p:cNvSpPr/>
          <p:nvPr/>
        </p:nvSpPr>
        <p:spPr>
          <a:xfrm>
            <a:off x="6309360" y="2596896"/>
            <a:ext cx="201168" cy="201168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54" name="Text 52"/>
          <p:cNvSpPr/>
          <p:nvPr/>
        </p:nvSpPr>
        <p:spPr>
          <a:xfrm>
            <a:off x="6309360" y="2596896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E8E8E0"/>
                </a:solidFill>
              </a:rPr>
              <a:t>3</a:t>
            </a:r>
            <a:endParaRPr lang="en-US" sz="800" dirty="0"/>
          </a:p>
        </p:txBody>
      </p:sp>
      <p:sp>
        <p:nvSpPr>
          <p:cNvPr id="55" name="Text 53"/>
          <p:cNvSpPr/>
          <p:nvPr/>
        </p:nvSpPr>
        <p:spPr>
          <a:xfrm>
            <a:off x="6565392" y="2596896"/>
            <a:ext cx="2011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E8E8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Bağlam Aktarımı</a:t>
            </a:r>
            <a:endParaRPr lang="en-US" sz="850" dirty="0"/>
          </a:p>
        </p:txBody>
      </p:sp>
      <p:sp>
        <p:nvSpPr>
          <p:cNvPr id="56" name="Text 54"/>
          <p:cNvSpPr/>
          <p:nvPr/>
        </p:nvSpPr>
        <p:spPr>
          <a:xfrm>
            <a:off x="6565392" y="2798064"/>
            <a:ext cx="20116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8888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İlk öneri (Into the Wild) ikinci sorguya eklenir.</a:t>
            </a:r>
            <a:endParaRPr lang="en-US" sz="800" dirty="0"/>
          </a:p>
        </p:txBody>
      </p:sp>
      <p:sp>
        <p:nvSpPr>
          <p:cNvPr id="57" name="Shape 55"/>
          <p:cNvSpPr/>
          <p:nvPr/>
        </p:nvSpPr>
        <p:spPr>
          <a:xfrm>
            <a:off x="6309360" y="3218688"/>
            <a:ext cx="201168" cy="201168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58" name="Text 56"/>
          <p:cNvSpPr/>
          <p:nvPr/>
        </p:nvSpPr>
        <p:spPr>
          <a:xfrm>
            <a:off x="6309360" y="3218688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E8E8E0"/>
                </a:solidFill>
              </a:rPr>
              <a:t>4</a:t>
            </a:r>
            <a:endParaRPr lang="en-US" sz="800" dirty="0"/>
          </a:p>
        </p:txBody>
      </p:sp>
      <p:sp>
        <p:nvSpPr>
          <p:cNvPr id="59" name="Text 57"/>
          <p:cNvSpPr/>
          <p:nvPr/>
        </p:nvSpPr>
        <p:spPr>
          <a:xfrm>
            <a:off x="6565392" y="3218688"/>
            <a:ext cx="2011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E8E8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Sorgu Genişletme</a:t>
            </a:r>
            <a:endParaRPr lang="en-US" sz="850" dirty="0"/>
          </a:p>
        </p:txBody>
      </p:sp>
      <p:sp>
        <p:nvSpPr>
          <p:cNvPr id="60" name="Text 58"/>
          <p:cNvSpPr/>
          <p:nvPr/>
        </p:nvSpPr>
        <p:spPr>
          <a:xfrm>
            <a:off x="6565392" y="3419856"/>
            <a:ext cx="20116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8888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adventure · introspective vektörü eklenerek arama iyileştirilir.</a:t>
            </a:r>
            <a:endParaRPr lang="en-US" sz="800" dirty="0"/>
          </a:p>
        </p:txBody>
      </p:sp>
      <p:sp>
        <p:nvSpPr>
          <p:cNvPr id="61" name="Shape 59"/>
          <p:cNvSpPr/>
          <p:nvPr/>
        </p:nvSpPr>
        <p:spPr>
          <a:xfrm>
            <a:off x="6309360" y="3840480"/>
            <a:ext cx="201168" cy="201168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62" name="Text 60"/>
          <p:cNvSpPr/>
          <p:nvPr/>
        </p:nvSpPr>
        <p:spPr>
          <a:xfrm>
            <a:off x="6309360" y="3840480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E8E8E0"/>
                </a:solidFill>
              </a:rPr>
              <a:t>5</a:t>
            </a:r>
            <a:endParaRPr lang="en-US" sz="800" dirty="0"/>
          </a:p>
        </p:txBody>
      </p:sp>
      <p:sp>
        <p:nvSpPr>
          <p:cNvPr id="63" name="Text 61"/>
          <p:cNvSpPr/>
          <p:nvPr/>
        </p:nvSpPr>
        <p:spPr>
          <a:xfrm>
            <a:off x="6565392" y="3840480"/>
            <a:ext cx="2011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E8E8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Yanıt Üretimi</a:t>
            </a:r>
            <a:endParaRPr lang="en-US" sz="850" dirty="0"/>
          </a:p>
        </p:txBody>
      </p:sp>
      <p:sp>
        <p:nvSpPr>
          <p:cNvPr id="64" name="Text 62"/>
          <p:cNvSpPr/>
          <p:nvPr/>
        </p:nvSpPr>
        <p:spPr>
          <a:xfrm>
            <a:off x="6565392" y="4041648"/>
            <a:ext cx="20116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8888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GPT-4o-mini Türkçe, samimi format ile yanıt yazar.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8080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3" name="Shape 1"/>
          <p:cNvSpPr/>
          <p:nvPr/>
        </p:nvSpPr>
        <p:spPr>
          <a:xfrm>
            <a:off x="73152" y="18288"/>
            <a:ext cx="201168" cy="54864"/>
          </a:xfrm>
          <a:prstGeom prst="rect">
            <a:avLst/>
          </a:prstGeom>
          <a:solidFill>
            <a:srgbClr val="7B1A15"/>
          </a:solidFill>
          <a:ln w="12700">
            <a:solidFill>
              <a:srgbClr val="7B1A15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4" name="Shape 2"/>
          <p:cNvSpPr/>
          <p:nvPr/>
        </p:nvSpPr>
        <p:spPr>
          <a:xfrm>
            <a:off x="438912" y="18288"/>
            <a:ext cx="201168" cy="54864"/>
          </a:xfrm>
          <a:prstGeom prst="rect">
            <a:avLst/>
          </a:prstGeom>
          <a:solidFill>
            <a:srgbClr val="7B1A15"/>
          </a:solidFill>
          <a:ln w="12700">
            <a:solidFill>
              <a:srgbClr val="7B1A15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5" name="Shape 3"/>
          <p:cNvSpPr/>
          <p:nvPr/>
        </p:nvSpPr>
        <p:spPr>
          <a:xfrm>
            <a:off x="804672" y="18288"/>
            <a:ext cx="201168" cy="54864"/>
          </a:xfrm>
          <a:prstGeom prst="rect">
            <a:avLst/>
          </a:prstGeom>
          <a:solidFill>
            <a:srgbClr val="7B1A15"/>
          </a:solidFill>
          <a:ln w="12700">
            <a:solidFill>
              <a:srgbClr val="7B1A15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6" name="Shape 4"/>
          <p:cNvSpPr/>
          <p:nvPr/>
        </p:nvSpPr>
        <p:spPr>
          <a:xfrm>
            <a:off x="1170432" y="18288"/>
            <a:ext cx="201168" cy="54864"/>
          </a:xfrm>
          <a:prstGeom prst="rect">
            <a:avLst/>
          </a:prstGeom>
          <a:solidFill>
            <a:srgbClr val="7B1A15"/>
          </a:solidFill>
          <a:ln w="12700">
            <a:solidFill>
              <a:srgbClr val="7B1A15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7" name="Shape 5"/>
          <p:cNvSpPr/>
          <p:nvPr/>
        </p:nvSpPr>
        <p:spPr>
          <a:xfrm>
            <a:off x="1536192" y="18288"/>
            <a:ext cx="201168" cy="54864"/>
          </a:xfrm>
          <a:prstGeom prst="rect">
            <a:avLst/>
          </a:prstGeom>
          <a:solidFill>
            <a:srgbClr val="7B1A15"/>
          </a:solidFill>
          <a:ln w="12700">
            <a:solidFill>
              <a:srgbClr val="7B1A15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8" name="Shape 6"/>
          <p:cNvSpPr/>
          <p:nvPr/>
        </p:nvSpPr>
        <p:spPr>
          <a:xfrm>
            <a:off x="1901952" y="18288"/>
            <a:ext cx="201168" cy="54864"/>
          </a:xfrm>
          <a:prstGeom prst="rect">
            <a:avLst/>
          </a:prstGeom>
          <a:solidFill>
            <a:srgbClr val="7B1A15"/>
          </a:solidFill>
          <a:ln w="12700">
            <a:solidFill>
              <a:srgbClr val="7B1A15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9" name="Shape 7"/>
          <p:cNvSpPr/>
          <p:nvPr/>
        </p:nvSpPr>
        <p:spPr>
          <a:xfrm>
            <a:off x="2267712" y="18288"/>
            <a:ext cx="201168" cy="54864"/>
          </a:xfrm>
          <a:prstGeom prst="rect">
            <a:avLst/>
          </a:prstGeom>
          <a:solidFill>
            <a:srgbClr val="7B1A15"/>
          </a:solidFill>
          <a:ln w="12700">
            <a:solidFill>
              <a:srgbClr val="7B1A15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10" name="Shape 8"/>
          <p:cNvSpPr/>
          <p:nvPr/>
        </p:nvSpPr>
        <p:spPr>
          <a:xfrm>
            <a:off x="2633472" y="18288"/>
            <a:ext cx="201168" cy="54864"/>
          </a:xfrm>
          <a:prstGeom prst="rect">
            <a:avLst/>
          </a:prstGeom>
          <a:solidFill>
            <a:srgbClr val="7B1A15"/>
          </a:solidFill>
          <a:ln w="12700">
            <a:solidFill>
              <a:srgbClr val="7B1A15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11" name="Shape 9"/>
          <p:cNvSpPr/>
          <p:nvPr/>
        </p:nvSpPr>
        <p:spPr>
          <a:xfrm>
            <a:off x="2999232" y="18288"/>
            <a:ext cx="201168" cy="54864"/>
          </a:xfrm>
          <a:prstGeom prst="rect">
            <a:avLst/>
          </a:prstGeom>
          <a:solidFill>
            <a:srgbClr val="7B1A15"/>
          </a:solidFill>
          <a:ln w="12700">
            <a:solidFill>
              <a:srgbClr val="7B1A15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12" name="Shape 10"/>
          <p:cNvSpPr/>
          <p:nvPr/>
        </p:nvSpPr>
        <p:spPr>
          <a:xfrm>
            <a:off x="3364992" y="18288"/>
            <a:ext cx="201168" cy="54864"/>
          </a:xfrm>
          <a:prstGeom prst="rect">
            <a:avLst/>
          </a:prstGeom>
          <a:solidFill>
            <a:srgbClr val="7B1A15"/>
          </a:solidFill>
          <a:ln w="12700">
            <a:solidFill>
              <a:srgbClr val="7B1A15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13" name="Shape 11"/>
          <p:cNvSpPr/>
          <p:nvPr/>
        </p:nvSpPr>
        <p:spPr>
          <a:xfrm>
            <a:off x="3730752" y="18288"/>
            <a:ext cx="201168" cy="54864"/>
          </a:xfrm>
          <a:prstGeom prst="rect">
            <a:avLst/>
          </a:prstGeom>
          <a:solidFill>
            <a:srgbClr val="7B1A15"/>
          </a:solidFill>
          <a:ln w="12700">
            <a:solidFill>
              <a:srgbClr val="7B1A15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14" name="Shape 12"/>
          <p:cNvSpPr/>
          <p:nvPr/>
        </p:nvSpPr>
        <p:spPr>
          <a:xfrm>
            <a:off x="4096512" y="18288"/>
            <a:ext cx="201168" cy="54864"/>
          </a:xfrm>
          <a:prstGeom prst="rect">
            <a:avLst/>
          </a:prstGeom>
          <a:solidFill>
            <a:srgbClr val="7B1A15"/>
          </a:solidFill>
          <a:ln w="12700">
            <a:solidFill>
              <a:srgbClr val="7B1A15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15" name="Shape 13"/>
          <p:cNvSpPr/>
          <p:nvPr/>
        </p:nvSpPr>
        <p:spPr>
          <a:xfrm>
            <a:off x="4462272" y="18288"/>
            <a:ext cx="201168" cy="54864"/>
          </a:xfrm>
          <a:prstGeom prst="rect">
            <a:avLst/>
          </a:prstGeom>
          <a:solidFill>
            <a:srgbClr val="7B1A15"/>
          </a:solidFill>
          <a:ln w="12700">
            <a:solidFill>
              <a:srgbClr val="7B1A15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16" name="Shape 14"/>
          <p:cNvSpPr/>
          <p:nvPr/>
        </p:nvSpPr>
        <p:spPr>
          <a:xfrm>
            <a:off x="4828032" y="18288"/>
            <a:ext cx="201168" cy="54864"/>
          </a:xfrm>
          <a:prstGeom prst="rect">
            <a:avLst/>
          </a:prstGeom>
          <a:solidFill>
            <a:srgbClr val="7B1A15"/>
          </a:solidFill>
          <a:ln w="12700">
            <a:solidFill>
              <a:srgbClr val="7B1A15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17" name="Shape 15"/>
          <p:cNvSpPr/>
          <p:nvPr/>
        </p:nvSpPr>
        <p:spPr>
          <a:xfrm>
            <a:off x="5193792" y="18288"/>
            <a:ext cx="201168" cy="54864"/>
          </a:xfrm>
          <a:prstGeom prst="rect">
            <a:avLst/>
          </a:prstGeom>
          <a:solidFill>
            <a:srgbClr val="7B1A15"/>
          </a:solidFill>
          <a:ln w="12700">
            <a:solidFill>
              <a:srgbClr val="7B1A15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18" name="Shape 16"/>
          <p:cNvSpPr/>
          <p:nvPr/>
        </p:nvSpPr>
        <p:spPr>
          <a:xfrm>
            <a:off x="5559552" y="18288"/>
            <a:ext cx="201168" cy="54864"/>
          </a:xfrm>
          <a:prstGeom prst="rect">
            <a:avLst/>
          </a:prstGeom>
          <a:solidFill>
            <a:srgbClr val="7B1A15"/>
          </a:solidFill>
          <a:ln w="12700">
            <a:solidFill>
              <a:srgbClr val="7B1A15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19" name="Shape 17"/>
          <p:cNvSpPr/>
          <p:nvPr/>
        </p:nvSpPr>
        <p:spPr>
          <a:xfrm>
            <a:off x="5925312" y="18288"/>
            <a:ext cx="201168" cy="54864"/>
          </a:xfrm>
          <a:prstGeom prst="rect">
            <a:avLst/>
          </a:prstGeom>
          <a:solidFill>
            <a:srgbClr val="7B1A15"/>
          </a:solidFill>
          <a:ln w="12700">
            <a:solidFill>
              <a:srgbClr val="7B1A15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20" name="Shape 18"/>
          <p:cNvSpPr/>
          <p:nvPr/>
        </p:nvSpPr>
        <p:spPr>
          <a:xfrm>
            <a:off x="6291072" y="18288"/>
            <a:ext cx="201168" cy="54864"/>
          </a:xfrm>
          <a:prstGeom prst="rect">
            <a:avLst/>
          </a:prstGeom>
          <a:solidFill>
            <a:srgbClr val="7B1A15"/>
          </a:solidFill>
          <a:ln w="12700">
            <a:solidFill>
              <a:srgbClr val="7B1A15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21" name="Shape 19"/>
          <p:cNvSpPr/>
          <p:nvPr/>
        </p:nvSpPr>
        <p:spPr>
          <a:xfrm>
            <a:off x="6656832" y="18288"/>
            <a:ext cx="201168" cy="54864"/>
          </a:xfrm>
          <a:prstGeom prst="rect">
            <a:avLst/>
          </a:prstGeom>
          <a:solidFill>
            <a:srgbClr val="7B1A15"/>
          </a:solidFill>
          <a:ln w="12700">
            <a:solidFill>
              <a:srgbClr val="7B1A15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22" name="Shape 20"/>
          <p:cNvSpPr/>
          <p:nvPr/>
        </p:nvSpPr>
        <p:spPr>
          <a:xfrm>
            <a:off x="7022592" y="18288"/>
            <a:ext cx="201168" cy="54864"/>
          </a:xfrm>
          <a:prstGeom prst="rect">
            <a:avLst/>
          </a:prstGeom>
          <a:solidFill>
            <a:srgbClr val="7B1A15"/>
          </a:solidFill>
          <a:ln w="12700">
            <a:solidFill>
              <a:srgbClr val="7B1A15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23" name="Shape 21"/>
          <p:cNvSpPr/>
          <p:nvPr/>
        </p:nvSpPr>
        <p:spPr>
          <a:xfrm>
            <a:off x="7388352" y="18288"/>
            <a:ext cx="201168" cy="54864"/>
          </a:xfrm>
          <a:prstGeom prst="rect">
            <a:avLst/>
          </a:prstGeom>
          <a:solidFill>
            <a:srgbClr val="7B1A15"/>
          </a:solidFill>
          <a:ln w="12700">
            <a:solidFill>
              <a:srgbClr val="7B1A15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24" name="Shape 22"/>
          <p:cNvSpPr/>
          <p:nvPr/>
        </p:nvSpPr>
        <p:spPr>
          <a:xfrm>
            <a:off x="7754112" y="18288"/>
            <a:ext cx="201168" cy="54864"/>
          </a:xfrm>
          <a:prstGeom prst="rect">
            <a:avLst/>
          </a:prstGeom>
          <a:solidFill>
            <a:srgbClr val="7B1A15"/>
          </a:solidFill>
          <a:ln w="12700">
            <a:solidFill>
              <a:srgbClr val="7B1A15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25" name="Shape 23"/>
          <p:cNvSpPr/>
          <p:nvPr/>
        </p:nvSpPr>
        <p:spPr>
          <a:xfrm>
            <a:off x="8119872" y="18288"/>
            <a:ext cx="201168" cy="54864"/>
          </a:xfrm>
          <a:prstGeom prst="rect">
            <a:avLst/>
          </a:prstGeom>
          <a:solidFill>
            <a:srgbClr val="7B1A15"/>
          </a:solidFill>
          <a:ln w="12700">
            <a:solidFill>
              <a:srgbClr val="7B1A15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26" name="Shape 24"/>
          <p:cNvSpPr/>
          <p:nvPr/>
        </p:nvSpPr>
        <p:spPr>
          <a:xfrm>
            <a:off x="8485632" y="18288"/>
            <a:ext cx="201168" cy="54864"/>
          </a:xfrm>
          <a:prstGeom prst="rect">
            <a:avLst/>
          </a:prstGeom>
          <a:solidFill>
            <a:srgbClr val="7B1A15"/>
          </a:solidFill>
          <a:ln w="12700">
            <a:solidFill>
              <a:srgbClr val="7B1A15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27" name="Shape 25"/>
          <p:cNvSpPr/>
          <p:nvPr/>
        </p:nvSpPr>
        <p:spPr>
          <a:xfrm>
            <a:off x="8851392" y="18288"/>
            <a:ext cx="201168" cy="54864"/>
          </a:xfrm>
          <a:prstGeom prst="rect">
            <a:avLst/>
          </a:prstGeom>
          <a:solidFill>
            <a:srgbClr val="7B1A15"/>
          </a:solidFill>
          <a:ln w="12700">
            <a:solidFill>
              <a:srgbClr val="7B1A15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28" name="Text 26"/>
          <p:cNvSpPr/>
          <p:nvPr/>
        </p:nvSpPr>
        <p:spPr>
          <a:xfrm>
            <a:off x="457200" y="201168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E8E8E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Teknoloji Yığını</a:t>
            </a:r>
            <a:endParaRPr lang="en-US" sz="2600" dirty="0"/>
          </a:p>
        </p:txBody>
      </p:sp>
      <p:sp>
        <p:nvSpPr>
          <p:cNvPr id="29" name="Shape 27"/>
          <p:cNvSpPr/>
          <p:nvPr/>
        </p:nvSpPr>
        <p:spPr>
          <a:xfrm>
            <a:off x="457200" y="713232"/>
            <a:ext cx="8229600" cy="0"/>
          </a:xfrm>
          <a:prstGeom prst="line">
            <a:avLst/>
          </a:prstGeom>
          <a:noFill/>
          <a:ln w="6350">
            <a:solidFill>
              <a:srgbClr val="252540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30" name="Shape 28"/>
          <p:cNvSpPr/>
          <p:nvPr/>
        </p:nvSpPr>
        <p:spPr>
          <a:xfrm>
            <a:off x="411480" y="896112"/>
            <a:ext cx="2651760" cy="1234440"/>
          </a:xfrm>
          <a:prstGeom prst="rect">
            <a:avLst/>
          </a:prstGeom>
          <a:solidFill>
            <a:srgbClr val="0D0D18"/>
          </a:solidFill>
          <a:ln w="6350">
            <a:solidFill>
              <a:srgbClr val="1C1C30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31" name="Shape 29"/>
          <p:cNvSpPr/>
          <p:nvPr/>
        </p:nvSpPr>
        <p:spPr>
          <a:xfrm>
            <a:off x="411480" y="896112"/>
            <a:ext cx="2651760" cy="64008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32" name="Text 30"/>
          <p:cNvSpPr/>
          <p:nvPr/>
        </p:nvSpPr>
        <p:spPr>
          <a:xfrm>
            <a:off x="411480" y="1005840"/>
            <a:ext cx="2651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kern="0" spc="150" dirty="0">
                <a:solidFill>
                  <a:srgbClr val="C0392B"/>
                </a:solidFill>
              </a:rPr>
              <a:t>Dil</a:t>
            </a:r>
            <a:endParaRPr lang="en-US" sz="800" dirty="0"/>
          </a:p>
        </p:txBody>
      </p:sp>
      <p:sp>
        <p:nvSpPr>
          <p:cNvPr id="33" name="Text 31"/>
          <p:cNvSpPr/>
          <p:nvPr/>
        </p:nvSpPr>
        <p:spPr>
          <a:xfrm>
            <a:off x="411480" y="1207008"/>
            <a:ext cx="2651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E8E8E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Python 3.11</a:t>
            </a:r>
            <a:endParaRPr lang="en-US" sz="1600" dirty="0"/>
          </a:p>
        </p:txBody>
      </p:sp>
      <p:sp>
        <p:nvSpPr>
          <p:cNvPr id="34" name="Text 32"/>
          <p:cNvSpPr/>
          <p:nvPr/>
        </p:nvSpPr>
        <p:spPr>
          <a:xfrm>
            <a:off x="411480" y="1609344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8888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 ana dili</a:t>
            </a:r>
            <a:endParaRPr lang="en-US" sz="900" dirty="0"/>
          </a:p>
        </p:txBody>
      </p:sp>
      <p:sp>
        <p:nvSpPr>
          <p:cNvPr id="35" name="Shape 33"/>
          <p:cNvSpPr/>
          <p:nvPr/>
        </p:nvSpPr>
        <p:spPr>
          <a:xfrm>
            <a:off x="3227832" y="896112"/>
            <a:ext cx="2651760" cy="1234440"/>
          </a:xfrm>
          <a:prstGeom prst="rect">
            <a:avLst/>
          </a:prstGeom>
          <a:solidFill>
            <a:srgbClr val="0D0D18"/>
          </a:solidFill>
          <a:ln w="6350">
            <a:solidFill>
              <a:srgbClr val="1C1C30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36" name="Shape 34"/>
          <p:cNvSpPr/>
          <p:nvPr/>
        </p:nvSpPr>
        <p:spPr>
          <a:xfrm>
            <a:off x="3227832" y="896112"/>
            <a:ext cx="2651760" cy="64008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37" name="Text 35"/>
          <p:cNvSpPr/>
          <p:nvPr/>
        </p:nvSpPr>
        <p:spPr>
          <a:xfrm>
            <a:off x="3227832" y="1005840"/>
            <a:ext cx="2651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kern="0" spc="150" dirty="0">
                <a:solidFill>
                  <a:srgbClr val="C0392B"/>
                </a:solidFill>
              </a:rPr>
              <a:t>Backend</a:t>
            </a:r>
            <a:endParaRPr lang="en-US" sz="800" dirty="0"/>
          </a:p>
        </p:txBody>
      </p:sp>
      <p:sp>
        <p:nvSpPr>
          <p:cNvPr id="38" name="Text 36"/>
          <p:cNvSpPr/>
          <p:nvPr/>
        </p:nvSpPr>
        <p:spPr>
          <a:xfrm>
            <a:off x="3227832" y="1207008"/>
            <a:ext cx="2651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E8E8E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FastAPI</a:t>
            </a:r>
            <a:endParaRPr lang="en-US" sz="1600" dirty="0"/>
          </a:p>
        </p:txBody>
      </p:sp>
      <p:sp>
        <p:nvSpPr>
          <p:cNvPr id="39" name="Text 37"/>
          <p:cNvSpPr/>
          <p:nvPr/>
        </p:nvSpPr>
        <p:spPr>
          <a:xfrm>
            <a:off x="3227832" y="1609344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8888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Asenkron REST API sunucusu</a:t>
            </a:r>
            <a:endParaRPr lang="en-US" sz="900" dirty="0"/>
          </a:p>
        </p:txBody>
      </p:sp>
      <p:sp>
        <p:nvSpPr>
          <p:cNvPr id="40" name="Shape 38"/>
          <p:cNvSpPr/>
          <p:nvPr/>
        </p:nvSpPr>
        <p:spPr>
          <a:xfrm>
            <a:off x="6044184" y="896112"/>
            <a:ext cx="2651760" cy="1234440"/>
          </a:xfrm>
          <a:prstGeom prst="rect">
            <a:avLst/>
          </a:prstGeom>
          <a:solidFill>
            <a:srgbClr val="0D0D18"/>
          </a:solidFill>
          <a:ln w="6350">
            <a:solidFill>
              <a:srgbClr val="1C1C30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41" name="Shape 39"/>
          <p:cNvSpPr/>
          <p:nvPr/>
        </p:nvSpPr>
        <p:spPr>
          <a:xfrm>
            <a:off x="6044184" y="896112"/>
            <a:ext cx="2651760" cy="64008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42" name="Text 40"/>
          <p:cNvSpPr/>
          <p:nvPr/>
        </p:nvSpPr>
        <p:spPr>
          <a:xfrm>
            <a:off x="6044184" y="1005840"/>
            <a:ext cx="2651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kern="0" spc="150" dirty="0">
                <a:solidFill>
                  <a:srgbClr val="C0392B"/>
                </a:solidFill>
              </a:rPr>
              <a:t>Orkestrasyon</a:t>
            </a:r>
            <a:endParaRPr lang="en-US" sz="800" dirty="0"/>
          </a:p>
        </p:txBody>
      </p:sp>
      <p:sp>
        <p:nvSpPr>
          <p:cNvPr id="43" name="Text 41"/>
          <p:cNvSpPr/>
          <p:nvPr/>
        </p:nvSpPr>
        <p:spPr>
          <a:xfrm>
            <a:off x="6044184" y="1207008"/>
            <a:ext cx="2651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E8E8E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LangChain</a:t>
            </a:r>
            <a:endParaRPr lang="en-US" sz="1600" dirty="0"/>
          </a:p>
        </p:txBody>
      </p:sp>
      <p:sp>
        <p:nvSpPr>
          <p:cNvPr id="44" name="Text 42"/>
          <p:cNvSpPr/>
          <p:nvPr/>
        </p:nvSpPr>
        <p:spPr>
          <a:xfrm>
            <a:off x="6044184" y="1609344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8888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RAG zinciri, prompt yönetimi</a:t>
            </a:r>
            <a:endParaRPr lang="en-US" sz="900" dirty="0"/>
          </a:p>
        </p:txBody>
      </p:sp>
      <p:sp>
        <p:nvSpPr>
          <p:cNvPr id="45" name="Shape 43"/>
          <p:cNvSpPr/>
          <p:nvPr/>
        </p:nvSpPr>
        <p:spPr>
          <a:xfrm>
            <a:off x="411480" y="2313432"/>
            <a:ext cx="2651760" cy="1234440"/>
          </a:xfrm>
          <a:prstGeom prst="rect">
            <a:avLst/>
          </a:prstGeom>
          <a:solidFill>
            <a:srgbClr val="0D0D18"/>
          </a:solidFill>
          <a:ln w="6350">
            <a:solidFill>
              <a:srgbClr val="1C1C30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46" name="Shape 44"/>
          <p:cNvSpPr/>
          <p:nvPr/>
        </p:nvSpPr>
        <p:spPr>
          <a:xfrm>
            <a:off x="411480" y="2313432"/>
            <a:ext cx="2651760" cy="64008"/>
          </a:xfrm>
          <a:prstGeom prst="rect">
            <a:avLst/>
          </a:prstGeom>
          <a:solidFill>
            <a:srgbClr val="6060AA"/>
          </a:solidFill>
          <a:ln w="12700">
            <a:solidFill>
              <a:srgbClr val="6060AA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47" name="Text 45"/>
          <p:cNvSpPr/>
          <p:nvPr/>
        </p:nvSpPr>
        <p:spPr>
          <a:xfrm>
            <a:off x="411480" y="2423160"/>
            <a:ext cx="2651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kern="0" spc="150" dirty="0">
                <a:solidFill>
                  <a:srgbClr val="6060AA"/>
                </a:solidFill>
              </a:rPr>
              <a:t>Vektörleştirme</a:t>
            </a:r>
            <a:endParaRPr lang="en-US" sz="800" dirty="0"/>
          </a:p>
        </p:txBody>
      </p:sp>
      <p:sp>
        <p:nvSpPr>
          <p:cNvPr id="48" name="Text 46"/>
          <p:cNvSpPr/>
          <p:nvPr/>
        </p:nvSpPr>
        <p:spPr>
          <a:xfrm>
            <a:off x="411480" y="2624328"/>
            <a:ext cx="2651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E8E8E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OpenAI Embeddings</a:t>
            </a:r>
            <a:endParaRPr lang="en-US" sz="1600" dirty="0"/>
          </a:p>
        </p:txBody>
      </p:sp>
      <p:sp>
        <p:nvSpPr>
          <p:cNvPr id="49" name="Text 47"/>
          <p:cNvSpPr/>
          <p:nvPr/>
        </p:nvSpPr>
        <p:spPr>
          <a:xfrm>
            <a:off x="411480" y="3026664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8888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text-embedding-3-small modeli</a:t>
            </a:r>
            <a:endParaRPr lang="en-US" sz="900" dirty="0"/>
          </a:p>
        </p:txBody>
      </p:sp>
      <p:sp>
        <p:nvSpPr>
          <p:cNvPr id="50" name="Shape 48"/>
          <p:cNvSpPr/>
          <p:nvPr/>
        </p:nvSpPr>
        <p:spPr>
          <a:xfrm>
            <a:off x="3227832" y="2313432"/>
            <a:ext cx="2651760" cy="1234440"/>
          </a:xfrm>
          <a:prstGeom prst="rect">
            <a:avLst/>
          </a:prstGeom>
          <a:solidFill>
            <a:srgbClr val="0D0D18"/>
          </a:solidFill>
          <a:ln w="6350">
            <a:solidFill>
              <a:srgbClr val="1C1C30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51" name="Shape 49"/>
          <p:cNvSpPr/>
          <p:nvPr/>
        </p:nvSpPr>
        <p:spPr>
          <a:xfrm>
            <a:off x="3227832" y="2313432"/>
            <a:ext cx="2651760" cy="64008"/>
          </a:xfrm>
          <a:prstGeom prst="rect">
            <a:avLst/>
          </a:prstGeom>
          <a:solidFill>
            <a:srgbClr val="6060AA"/>
          </a:solidFill>
          <a:ln w="12700">
            <a:solidFill>
              <a:srgbClr val="6060AA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52" name="Text 50"/>
          <p:cNvSpPr/>
          <p:nvPr/>
        </p:nvSpPr>
        <p:spPr>
          <a:xfrm>
            <a:off x="3227832" y="2423160"/>
            <a:ext cx="2651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kern="0" spc="150" dirty="0">
                <a:solidFill>
                  <a:srgbClr val="6060AA"/>
                </a:solidFill>
              </a:rPr>
              <a:t>LLM</a:t>
            </a:r>
            <a:endParaRPr lang="en-US" sz="800" dirty="0"/>
          </a:p>
        </p:txBody>
      </p:sp>
      <p:sp>
        <p:nvSpPr>
          <p:cNvPr id="53" name="Text 51"/>
          <p:cNvSpPr/>
          <p:nvPr/>
        </p:nvSpPr>
        <p:spPr>
          <a:xfrm>
            <a:off x="3227832" y="2624328"/>
            <a:ext cx="2651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E8E8E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GPT-4o-mini</a:t>
            </a:r>
            <a:endParaRPr lang="en-US" sz="1600" dirty="0"/>
          </a:p>
        </p:txBody>
      </p:sp>
      <p:sp>
        <p:nvSpPr>
          <p:cNvPr id="54" name="Text 52"/>
          <p:cNvSpPr/>
          <p:nvPr/>
        </p:nvSpPr>
        <p:spPr>
          <a:xfrm>
            <a:off x="3227832" y="3026664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8888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Öneri metni üretimi</a:t>
            </a:r>
            <a:endParaRPr lang="en-US" sz="900" dirty="0"/>
          </a:p>
        </p:txBody>
      </p:sp>
      <p:sp>
        <p:nvSpPr>
          <p:cNvPr id="55" name="Shape 53"/>
          <p:cNvSpPr/>
          <p:nvPr/>
        </p:nvSpPr>
        <p:spPr>
          <a:xfrm>
            <a:off x="6044184" y="2313432"/>
            <a:ext cx="2651760" cy="1234440"/>
          </a:xfrm>
          <a:prstGeom prst="rect">
            <a:avLst/>
          </a:prstGeom>
          <a:solidFill>
            <a:srgbClr val="0D0D18"/>
          </a:solidFill>
          <a:ln w="6350">
            <a:solidFill>
              <a:srgbClr val="1C1C30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56" name="Shape 54"/>
          <p:cNvSpPr/>
          <p:nvPr/>
        </p:nvSpPr>
        <p:spPr>
          <a:xfrm>
            <a:off x="6044184" y="2313432"/>
            <a:ext cx="2651760" cy="64008"/>
          </a:xfrm>
          <a:prstGeom prst="rect">
            <a:avLst/>
          </a:prstGeom>
          <a:solidFill>
            <a:srgbClr val="4488AA"/>
          </a:solidFill>
          <a:ln w="12700">
            <a:solidFill>
              <a:srgbClr val="4488AA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57" name="Text 55"/>
          <p:cNvSpPr/>
          <p:nvPr/>
        </p:nvSpPr>
        <p:spPr>
          <a:xfrm>
            <a:off x="6044184" y="2423160"/>
            <a:ext cx="2651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kern="0" spc="150" dirty="0">
                <a:solidFill>
                  <a:srgbClr val="4488AA"/>
                </a:solidFill>
              </a:rPr>
              <a:t>Vektör DB</a:t>
            </a:r>
            <a:endParaRPr lang="en-US" sz="800" dirty="0"/>
          </a:p>
        </p:txBody>
      </p:sp>
      <p:sp>
        <p:nvSpPr>
          <p:cNvPr id="58" name="Text 56"/>
          <p:cNvSpPr/>
          <p:nvPr/>
        </p:nvSpPr>
        <p:spPr>
          <a:xfrm>
            <a:off x="6044184" y="2624328"/>
            <a:ext cx="2651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E8E8E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FAISS</a:t>
            </a:r>
            <a:endParaRPr lang="en-US" sz="1600" dirty="0"/>
          </a:p>
        </p:txBody>
      </p:sp>
      <p:sp>
        <p:nvSpPr>
          <p:cNvPr id="59" name="Text 57"/>
          <p:cNvSpPr/>
          <p:nvPr/>
        </p:nvSpPr>
        <p:spPr>
          <a:xfrm>
            <a:off x="6044184" y="3026664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8888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MMR destekli anlamsal arama</a:t>
            </a:r>
            <a:endParaRPr lang="en-US" sz="900" dirty="0"/>
          </a:p>
        </p:txBody>
      </p:sp>
      <p:sp>
        <p:nvSpPr>
          <p:cNvPr id="60" name="Shape 58"/>
          <p:cNvSpPr/>
          <p:nvPr/>
        </p:nvSpPr>
        <p:spPr>
          <a:xfrm>
            <a:off x="411480" y="3730752"/>
            <a:ext cx="2651760" cy="1234440"/>
          </a:xfrm>
          <a:prstGeom prst="rect">
            <a:avLst/>
          </a:prstGeom>
          <a:solidFill>
            <a:srgbClr val="0D0D18"/>
          </a:solidFill>
          <a:ln w="6350">
            <a:solidFill>
              <a:srgbClr val="1C1C30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61" name="Shape 59"/>
          <p:cNvSpPr/>
          <p:nvPr/>
        </p:nvSpPr>
        <p:spPr>
          <a:xfrm>
            <a:off x="411480" y="3730752"/>
            <a:ext cx="2651760" cy="64008"/>
          </a:xfrm>
          <a:prstGeom prst="rect">
            <a:avLst/>
          </a:prstGeom>
          <a:solidFill>
            <a:srgbClr val="44AA88"/>
          </a:solidFill>
          <a:ln w="12700">
            <a:solidFill>
              <a:srgbClr val="44AA88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62" name="Text 60"/>
          <p:cNvSpPr/>
          <p:nvPr/>
        </p:nvSpPr>
        <p:spPr>
          <a:xfrm>
            <a:off x="411480" y="3840480"/>
            <a:ext cx="2651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kern="0" spc="150" dirty="0">
                <a:solidFill>
                  <a:srgbClr val="44AA88"/>
                </a:solidFill>
              </a:rPr>
              <a:t>Veri Doğrulama</a:t>
            </a:r>
            <a:endParaRPr lang="en-US" sz="800" dirty="0"/>
          </a:p>
        </p:txBody>
      </p:sp>
      <p:sp>
        <p:nvSpPr>
          <p:cNvPr id="63" name="Text 61"/>
          <p:cNvSpPr/>
          <p:nvPr/>
        </p:nvSpPr>
        <p:spPr>
          <a:xfrm>
            <a:off x="411480" y="4041648"/>
            <a:ext cx="2651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E8E8E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Pydantic</a:t>
            </a:r>
            <a:endParaRPr lang="en-US" sz="1600" dirty="0"/>
          </a:p>
        </p:txBody>
      </p:sp>
      <p:sp>
        <p:nvSpPr>
          <p:cNvPr id="64" name="Text 62"/>
          <p:cNvSpPr/>
          <p:nvPr/>
        </p:nvSpPr>
        <p:spPr>
          <a:xfrm>
            <a:off x="411480" y="4443984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8888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Request/Response şeması</a:t>
            </a:r>
            <a:endParaRPr lang="en-US" sz="900" dirty="0"/>
          </a:p>
        </p:txBody>
      </p:sp>
      <p:sp>
        <p:nvSpPr>
          <p:cNvPr id="65" name="Shape 63"/>
          <p:cNvSpPr/>
          <p:nvPr/>
        </p:nvSpPr>
        <p:spPr>
          <a:xfrm>
            <a:off x="3227832" y="3730752"/>
            <a:ext cx="2651760" cy="1234440"/>
          </a:xfrm>
          <a:prstGeom prst="rect">
            <a:avLst/>
          </a:prstGeom>
          <a:solidFill>
            <a:srgbClr val="0D0D18"/>
          </a:solidFill>
          <a:ln w="6350">
            <a:solidFill>
              <a:srgbClr val="1C1C30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66" name="Shape 64"/>
          <p:cNvSpPr/>
          <p:nvPr/>
        </p:nvSpPr>
        <p:spPr>
          <a:xfrm>
            <a:off x="3227832" y="3730752"/>
            <a:ext cx="2651760" cy="64008"/>
          </a:xfrm>
          <a:prstGeom prst="rect">
            <a:avLst/>
          </a:prstGeom>
          <a:solidFill>
            <a:srgbClr val="44AA88"/>
          </a:solidFill>
          <a:ln w="12700">
            <a:solidFill>
              <a:srgbClr val="44AA88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67" name="Text 65"/>
          <p:cNvSpPr/>
          <p:nvPr/>
        </p:nvSpPr>
        <p:spPr>
          <a:xfrm>
            <a:off x="3227832" y="3840480"/>
            <a:ext cx="2651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kern="0" spc="150" dirty="0">
                <a:solidFill>
                  <a:srgbClr val="44AA88"/>
                </a:solidFill>
              </a:rPr>
              <a:t>Frontend</a:t>
            </a:r>
            <a:endParaRPr lang="en-US" sz="800" dirty="0"/>
          </a:p>
        </p:txBody>
      </p:sp>
      <p:sp>
        <p:nvSpPr>
          <p:cNvPr id="68" name="Text 66"/>
          <p:cNvSpPr/>
          <p:nvPr/>
        </p:nvSpPr>
        <p:spPr>
          <a:xfrm>
            <a:off x="3227832" y="4041648"/>
            <a:ext cx="2651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E8E8E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HTML/CSS/JS</a:t>
            </a:r>
            <a:endParaRPr lang="en-US" sz="1600" dirty="0"/>
          </a:p>
        </p:txBody>
      </p:sp>
      <p:sp>
        <p:nvSpPr>
          <p:cNvPr id="69" name="Text 67"/>
          <p:cNvSpPr/>
          <p:nvPr/>
        </p:nvSpPr>
        <p:spPr>
          <a:xfrm>
            <a:off x="3227832" y="4443984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8888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Sade, bağımlılıksız arayüz</a:t>
            </a:r>
            <a:endParaRPr lang="en-US" sz="900" dirty="0"/>
          </a:p>
        </p:txBody>
      </p:sp>
      <p:sp>
        <p:nvSpPr>
          <p:cNvPr id="70" name="Shape 68"/>
          <p:cNvSpPr/>
          <p:nvPr/>
        </p:nvSpPr>
        <p:spPr>
          <a:xfrm>
            <a:off x="6044184" y="3730752"/>
            <a:ext cx="2651760" cy="1234440"/>
          </a:xfrm>
          <a:prstGeom prst="rect">
            <a:avLst/>
          </a:prstGeom>
          <a:solidFill>
            <a:srgbClr val="0D0D18"/>
          </a:solidFill>
          <a:ln w="6350">
            <a:solidFill>
              <a:srgbClr val="1C1C30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71" name="Shape 69"/>
          <p:cNvSpPr/>
          <p:nvPr/>
        </p:nvSpPr>
        <p:spPr>
          <a:xfrm>
            <a:off x="6044184" y="3730752"/>
            <a:ext cx="2651760" cy="64008"/>
          </a:xfrm>
          <a:prstGeom prst="rect">
            <a:avLst/>
          </a:prstGeom>
          <a:solidFill>
            <a:srgbClr val="444455"/>
          </a:solidFill>
          <a:ln w="12700">
            <a:solidFill>
              <a:srgbClr val="444455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72" name="Text 70"/>
          <p:cNvSpPr/>
          <p:nvPr/>
        </p:nvSpPr>
        <p:spPr>
          <a:xfrm>
            <a:off x="6044184" y="3840480"/>
            <a:ext cx="2651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kern="0" spc="150" dirty="0">
                <a:solidFill>
                  <a:srgbClr val="444455"/>
                </a:solidFill>
              </a:rPr>
              <a:t>Konfigürasyon</a:t>
            </a:r>
            <a:endParaRPr lang="en-US" sz="800" dirty="0"/>
          </a:p>
        </p:txBody>
      </p:sp>
      <p:sp>
        <p:nvSpPr>
          <p:cNvPr id="73" name="Text 71"/>
          <p:cNvSpPr/>
          <p:nvPr/>
        </p:nvSpPr>
        <p:spPr>
          <a:xfrm>
            <a:off x="6044184" y="4041648"/>
            <a:ext cx="2651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E8E8E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python-dotenv</a:t>
            </a:r>
            <a:endParaRPr lang="en-US" sz="1600" dirty="0"/>
          </a:p>
        </p:txBody>
      </p:sp>
      <p:sp>
        <p:nvSpPr>
          <p:cNvPr id="74" name="Text 72"/>
          <p:cNvSpPr/>
          <p:nvPr/>
        </p:nvSpPr>
        <p:spPr>
          <a:xfrm>
            <a:off x="6044184" y="4443984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8888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anahtarı yönetimi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8080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3" name="Shape 1"/>
          <p:cNvSpPr/>
          <p:nvPr/>
        </p:nvSpPr>
        <p:spPr>
          <a:xfrm>
            <a:off x="73152" y="18288"/>
            <a:ext cx="201168" cy="54864"/>
          </a:xfrm>
          <a:prstGeom prst="rect">
            <a:avLst/>
          </a:prstGeom>
          <a:solidFill>
            <a:srgbClr val="7B1A15"/>
          </a:solidFill>
          <a:ln w="12700">
            <a:solidFill>
              <a:srgbClr val="7B1A15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4" name="Shape 2"/>
          <p:cNvSpPr/>
          <p:nvPr/>
        </p:nvSpPr>
        <p:spPr>
          <a:xfrm>
            <a:off x="438912" y="18288"/>
            <a:ext cx="201168" cy="54864"/>
          </a:xfrm>
          <a:prstGeom prst="rect">
            <a:avLst/>
          </a:prstGeom>
          <a:solidFill>
            <a:srgbClr val="7B1A15"/>
          </a:solidFill>
          <a:ln w="12700">
            <a:solidFill>
              <a:srgbClr val="7B1A15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5" name="Shape 3"/>
          <p:cNvSpPr/>
          <p:nvPr/>
        </p:nvSpPr>
        <p:spPr>
          <a:xfrm>
            <a:off x="804672" y="18288"/>
            <a:ext cx="201168" cy="54864"/>
          </a:xfrm>
          <a:prstGeom prst="rect">
            <a:avLst/>
          </a:prstGeom>
          <a:solidFill>
            <a:srgbClr val="7B1A15"/>
          </a:solidFill>
          <a:ln w="12700">
            <a:solidFill>
              <a:srgbClr val="7B1A15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6" name="Shape 4"/>
          <p:cNvSpPr/>
          <p:nvPr/>
        </p:nvSpPr>
        <p:spPr>
          <a:xfrm>
            <a:off x="1170432" y="18288"/>
            <a:ext cx="201168" cy="54864"/>
          </a:xfrm>
          <a:prstGeom prst="rect">
            <a:avLst/>
          </a:prstGeom>
          <a:solidFill>
            <a:srgbClr val="7B1A15"/>
          </a:solidFill>
          <a:ln w="12700">
            <a:solidFill>
              <a:srgbClr val="7B1A15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7" name="Shape 5"/>
          <p:cNvSpPr/>
          <p:nvPr/>
        </p:nvSpPr>
        <p:spPr>
          <a:xfrm>
            <a:off x="1536192" y="18288"/>
            <a:ext cx="201168" cy="54864"/>
          </a:xfrm>
          <a:prstGeom prst="rect">
            <a:avLst/>
          </a:prstGeom>
          <a:solidFill>
            <a:srgbClr val="7B1A15"/>
          </a:solidFill>
          <a:ln w="12700">
            <a:solidFill>
              <a:srgbClr val="7B1A15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8" name="Shape 6"/>
          <p:cNvSpPr/>
          <p:nvPr/>
        </p:nvSpPr>
        <p:spPr>
          <a:xfrm>
            <a:off x="1901952" y="18288"/>
            <a:ext cx="201168" cy="54864"/>
          </a:xfrm>
          <a:prstGeom prst="rect">
            <a:avLst/>
          </a:prstGeom>
          <a:solidFill>
            <a:srgbClr val="7B1A15"/>
          </a:solidFill>
          <a:ln w="12700">
            <a:solidFill>
              <a:srgbClr val="7B1A15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9" name="Shape 7"/>
          <p:cNvSpPr/>
          <p:nvPr/>
        </p:nvSpPr>
        <p:spPr>
          <a:xfrm>
            <a:off x="2267712" y="18288"/>
            <a:ext cx="201168" cy="54864"/>
          </a:xfrm>
          <a:prstGeom prst="rect">
            <a:avLst/>
          </a:prstGeom>
          <a:solidFill>
            <a:srgbClr val="7B1A15"/>
          </a:solidFill>
          <a:ln w="12700">
            <a:solidFill>
              <a:srgbClr val="7B1A15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10" name="Shape 8"/>
          <p:cNvSpPr/>
          <p:nvPr/>
        </p:nvSpPr>
        <p:spPr>
          <a:xfrm>
            <a:off x="2633472" y="18288"/>
            <a:ext cx="201168" cy="54864"/>
          </a:xfrm>
          <a:prstGeom prst="rect">
            <a:avLst/>
          </a:prstGeom>
          <a:solidFill>
            <a:srgbClr val="7B1A15"/>
          </a:solidFill>
          <a:ln w="12700">
            <a:solidFill>
              <a:srgbClr val="7B1A15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11" name="Shape 9"/>
          <p:cNvSpPr/>
          <p:nvPr/>
        </p:nvSpPr>
        <p:spPr>
          <a:xfrm>
            <a:off x="2999232" y="18288"/>
            <a:ext cx="201168" cy="54864"/>
          </a:xfrm>
          <a:prstGeom prst="rect">
            <a:avLst/>
          </a:prstGeom>
          <a:solidFill>
            <a:srgbClr val="7B1A15"/>
          </a:solidFill>
          <a:ln w="12700">
            <a:solidFill>
              <a:srgbClr val="7B1A15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12" name="Shape 10"/>
          <p:cNvSpPr/>
          <p:nvPr/>
        </p:nvSpPr>
        <p:spPr>
          <a:xfrm>
            <a:off x="3364992" y="18288"/>
            <a:ext cx="201168" cy="54864"/>
          </a:xfrm>
          <a:prstGeom prst="rect">
            <a:avLst/>
          </a:prstGeom>
          <a:solidFill>
            <a:srgbClr val="7B1A15"/>
          </a:solidFill>
          <a:ln w="12700">
            <a:solidFill>
              <a:srgbClr val="7B1A15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13" name="Shape 11"/>
          <p:cNvSpPr/>
          <p:nvPr/>
        </p:nvSpPr>
        <p:spPr>
          <a:xfrm>
            <a:off x="3730752" y="18288"/>
            <a:ext cx="201168" cy="54864"/>
          </a:xfrm>
          <a:prstGeom prst="rect">
            <a:avLst/>
          </a:prstGeom>
          <a:solidFill>
            <a:srgbClr val="7B1A15"/>
          </a:solidFill>
          <a:ln w="12700">
            <a:solidFill>
              <a:srgbClr val="7B1A15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14" name="Shape 12"/>
          <p:cNvSpPr/>
          <p:nvPr/>
        </p:nvSpPr>
        <p:spPr>
          <a:xfrm>
            <a:off x="4096512" y="18288"/>
            <a:ext cx="201168" cy="54864"/>
          </a:xfrm>
          <a:prstGeom prst="rect">
            <a:avLst/>
          </a:prstGeom>
          <a:solidFill>
            <a:srgbClr val="7B1A15"/>
          </a:solidFill>
          <a:ln w="12700">
            <a:solidFill>
              <a:srgbClr val="7B1A15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15" name="Shape 13"/>
          <p:cNvSpPr/>
          <p:nvPr/>
        </p:nvSpPr>
        <p:spPr>
          <a:xfrm>
            <a:off x="4462272" y="18288"/>
            <a:ext cx="201168" cy="54864"/>
          </a:xfrm>
          <a:prstGeom prst="rect">
            <a:avLst/>
          </a:prstGeom>
          <a:solidFill>
            <a:srgbClr val="7B1A15"/>
          </a:solidFill>
          <a:ln w="12700">
            <a:solidFill>
              <a:srgbClr val="7B1A15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16" name="Shape 14"/>
          <p:cNvSpPr/>
          <p:nvPr/>
        </p:nvSpPr>
        <p:spPr>
          <a:xfrm>
            <a:off x="4828032" y="18288"/>
            <a:ext cx="201168" cy="54864"/>
          </a:xfrm>
          <a:prstGeom prst="rect">
            <a:avLst/>
          </a:prstGeom>
          <a:solidFill>
            <a:srgbClr val="7B1A15"/>
          </a:solidFill>
          <a:ln w="12700">
            <a:solidFill>
              <a:srgbClr val="7B1A15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17" name="Shape 15"/>
          <p:cNvSpPr/>
          <p:nvPr/>
        </p:nvSpPr>
        <p:spPr>
          <a:xfrm>
            <a:off x="5193792" y="18288"/>
            <a:ext cx="201168" cy="54864"/>
          </a:xfrm>
          <a:prstGeom prst="rect">
            <a:avLst/>
          </a:prstGeom>
          <a:solidFill>
            <a:srgbClr val="7B1A15"/>
          </a:solidFill>
          <a:ln w="12700">
            <a:solidFill>
              <a:srgbClr val="7B1A15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18" name="Shape 16"/>
          <p:cNvSpPr/>
          <p:nvPr/>
        </p:nvSpPr>
        <p:spPr>
          <a:xfrm>
            <a:off x="5559552" y="18288"/>
            <a:ext cx="201168" cy="54864"/>
          </a:xfrm>
          <a:prstGeom prst="rect">
            <a:avLst/>
          </a:prstGeom>
          <a:solidFill>
            <a:srgbClr val="7B1A15"/>
          </a:solidFill>
          <a:ln w="12700">
            <a:solidFill>
              <a:srgbClr val="7B1A15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19" name="Shape 17"/>
          <p:cNvSpPr/>
          <p:nvPr/>
        </p:nvSpPr>
        <p:spPr>
          <a:xfrm>
            <a:off x="5925312" y="18288"/>
            <a:ext cx="201168" cy="54864"/>
          </a:xfrm>
          <a:prstGeom prst="rect">
            <a:avLst/>
          </a:prstGeom>
          <a:solidFill>
            <a:srgbClr val="7B1A15"/>
          </a:solidFill>
          <a:ln w="12700">
            <a:solidFill>
              <a:srgbClr val="7B1A15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20" name="Shape 18"/>
          <p:cNvSpPr/>
          <p:nvPr/>
        </p:nvSpPr>
        <p:spPr>
          <a:xfrm>
            <a:off x="6291072" y="18288"/>
            <a:ext cx="201168" cy="54864"/>
          </a:xfrm>
          <a:prstGeom prst="rect">
            <a:avLst/>
          </a:prstGeom>
          <a:solidFill>
            <a:srgbClr val="7B1A15"/>
          </a:solidFill>
          <a:ln w="12700">
            <a:solidFill>
              <a:srgbClr val="7B1A15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21" name="Shape 19"/>
          <p:cNvSpPr/>
          <p:nvPr/>
        </p:nvSpPr>
        <p:spPr>
          <a:xfrm>
            <a:off x="6656832" y="18288"/>
            <a:ext cx="201168" cy="54864"/>
          </a:xfrm>
          <a:prstGeom prst="rect">
            <a:avLst/>
          </a:prstGeom>
          <a:solidFill>
            <a:srgbClr val="7B1A15"/>
          </a:solidFill>
          <a:ln w="12700">
            <a:solidFill>
              <a:srgbClr val="7B1A15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22" name="Shape 20"/>
          <p:cNvSpPr/>
          <p:nvPr/>
        </p:nvSpPr>
        <p:spPr>
          <a:xfrm>
            <a:off x="7022592" y="18288"/>
            <a:ext cx="201168" cy="54864"/>
          </a:xfrm>
          <a:prstGeom prst="rect">
            <a:avLst/>
          </a:prstGeom>
          <a:solidFill>
            <a:srgbClr val="7B1A15"/>
          </a:solidFill>
          <a:ln w="12700">
            <a:solidFill>
              <a:srgbClr val="7B1A15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23" name="Shape 21"/>
          <p:cNvSpPr/>
          <p:nvPr/>
        </p:nvSpPr>
        <p:spPr>
          <a:xfrm>
            <a:off x="7388352" y="18288"/>
            <a:ext cx="201168" cy="54864"/>
          </a:xfrm>
          <a:prstGeom prst="rect">
            <a:avLst/>
          </a:prstGeom>
          <a:solidFill>
            <a:srgbClr val="7B1A15"/>
          </a:solidFill>
          <a:ln w="12700">
            <a:solidFill>
              <a:srgbClr val="7B1A15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24" name="Shape 22"/>
          <p:cNvSpPr/>
          <p:nvPr/>
        </p:nvSpPr>
        <p:spPr>
          <a:xfrm>
            <a:off x="7754112" y="18288"/>
            <a:ext cx="201168" cy="54864"/>
          </a:xfrm>
          <a:prstGeom prst="rect">
            <a:avLst/>
          </a:prstGeom>
          <a:solidFill>
            <a:srgbClr val="7B1A15"/>
          </a:solidFill>
          <a:ln w="12700">
            <a:solidFill>
              <a:srgbClr val="7B1A15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25" name="Shape 23"/>
          <p:cNvSpPr/>
          <p:nvPr/>
        </p:nvSpPr>
        <p:spPr>
          <a:xfrm>
            <a:off x="8119872" y="18288"/>
            <a:ext cx="201168" cy="54864"/>
          </a:xfrm>
          <a:prstGeom prst="rect">
            <a:avLst/>
          </a:prstGeom>
          <a:solidFill>
            <a:srgbClr val="7B1A15"/>
          </a:solidFill>
          <a:ln w="12700">
            <a:solidFill>
              <a:srgbClr val="7B1A15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26" name="Shape 24"/>
          <p:cNvSpPr/>
          <p:nvPr/>
        </p:nvSpPr>
        <p:spPr>
          <a:xfrm>
            <a:off x="8485632" y="18288"/>
            <a:ext cx="201168" cy="54864"/>
          </a:xfrm>
          <a:prstGeom prst="rect">
            <a:avLst/>
          </a:prstGeom>
          <a:solidFill>
            <a:srgbClr val="7B1A15"/>
          </a:solidFill>
          <a:ln w="12700">
            <a:solidFill>
              <a:srgbClr val="7B1A15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27" name="Shape 25"/>
          <p:cNvSpPr/>
          <p:nvPr/>
        </p:nvSpPr>
        <p:spPr>
          <a:xfrm>
            <a:off x="8851392" y="18288"/>
            <a:ext cx="201168" cy="54864"/>
          </a:xfrm>
          <a:prstGeom prst="rect">
            <a:avLst/>
          </a:prstGeom>
          <a:solidFill>
            <a:srgbClr val="7B1A15"/>
          </a:solidFill>
          <a:ln w="12700">
            <a:solidFill>
              <a:srgbClr val="7B1A15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28" name="Text 26"/>
          <p:cNvSpPr/>
          <p:nvPr/>
        </p:nvSpPr>
        <p:spPr>
          <a:xfrm>
            <a:off x="457200" y="201168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E8E8E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Çıkarılan Dersler &amp; Zorluklar</a:t>
            </a:r>
            <a:endParaRPr lang="en-US" sz="2600" dirty="0"/>
          </a:p>
        </p:txBody>
      </p:sp>
      <p:sp>
        <p:nvSpPr>
          <p:cNvPr id="29" name="Shape 27"/>
          <p:cNvSpPr/>
          <p:nvPr/>
        </p:nvSpPr>
        <p:spPr>
          <a:xfrm>
            <a:off x="457200" y="713232"/>
            <a:ext cx="8229600" cy="0"/>
          </a:xfrm>
          <a:prstGeom prst="line">
            <a:avLst/>
          </a:prstGeom>
          <a:noFill/>
          <a:ln w="6350">
            <a:solidFill>
              <a:srgbClr val="252540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30" name="Shape 28"/>
          <p:cNvSpPr/>
          <p:nvPr/>
        </p:nvSpPr>
        <p:spPr>
          <a:xfrm>
            <a:off x="365760" y="868680"/>
            <a:ext cx="4114800" cy="914400"/>
          </a:xfrm>
          <a:prstGeom prst="rect">
            <a:avLst/>
          </a:prstGeom>
          <a:solidFill>
            <a:srgbClr val="0D0D18"/>
          </a:solidFill>
          <a:ln w="6350">
            <a:solidFill>
              <a:srgbClr val="1C1C30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31" name="Shape 29"/>
          <p:cNvSpPr/>
          <p:nvPr/>
        </p:nvSpPr>
        <p:spPr>
          <a:xfrm>
            <a:off x="365760" y="868680"/>
            <a:ext cx="73152" cy="914400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32" name="Text 30"/>
          <p:cNvSpPr/>
          <p:nvPr/>
        </p:nvSpPr>
        <p:spPr>
          <a:xfrm>
            <a:off x="530352" y="960120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E8E8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Büyük CSV ile Rating Hesabı</a:t>
            </a:r>
            <a:endParaRPr lang="en-US" sz="1050" dirty="0"/>
          </a:p>
        </p:txBody>
      </p:sp>
      <p:sp>
        <p:nvSpPr>
          <p:cNvPr id="33" name="Text 31"/>
          <p:cNvSpPr/>
          <p:nvPr/>
        </p:nvSpPr>
        <p:spPr>
          <a:xfrm>
            <a:off x="530352" y="1234440"/>
            <a:ext cx="3840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888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135 MB CSV'yi satır satır okumak yavaştı. defaultdict ile tek geçişte ortalama hesaplandı.</a:t>
            </a:r>
            <a:endParaRPr lang="en-US" sz="900" dirty="0"/>
          </a:p>
        </p:txBody>
      </p:sp>
      <p:sp>
        <p:nvSpPr>
          <p:cNvPr id="34" name="Shape 32"/>
          <p:cNvSpPr/>
          <p:nvPr/>
        </p:nvSpPr>
        <p:spPr>
          <a:xfrm>
            <a:off x="365760" y="1892808"/>
            <a:ext cx="4114800" cy="914400"/>
          </a:xfrm>
          <a:prstGeom prst="rect">
            <a:avLst/>
          </a:prstGeom>
          <a:solidFill>
            <a:srgbClr val="0D0D18"/>
          </a:solidFill>
          <a:ln w="6350">
            <a:solidFill>
              <a:srgbClr val="1C1C30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35" name="Shape 33"/>
          <p:cNvSpPr/>
          <p:nvPr/>
        </p:nvSpPr>
        <p:spPr>
          <a:xfrm>
            <a:off x="365760" y="1892808"/>
            <a:ext cx="73152" cy="914400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36" name="Text 34"/>
          <p:cNvSpPr/>
          <p:nvPr/>
        </p:nvSpPr>
        <p:spPr>
          <a:xfrm>
            <a:off x="530352" y="1984248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E8E8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FAISS İndeks Hızı</a:t>
            </a:r>
            <a:endParaRPr lang="en-US" sz="1050" dirty="0"/>
          </a:p>
        </p:txBody>
      </p:sp>
      <p:sp>
        <p:nvSpPr>
          <p:cNvPr id="37" name="Text 35"/>
          <p:cNvSpPr/>
          <p:nvPr/>
        </p:nvSpPr>
        <p:spPr>
          <a:xfrm>
            <a:off x="530352" y="2258568"/>
            <a:ext cx="3840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888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900K+ film için indeks oluşturma uzun sürdü; önceden oluşturulmuş indeks dosya ile kaydedildi.</a:t>
            </a:r>
            <a:endParaRPr lang="en-US" sz="900" dirty="0"/>
          </a:p>
        </p:txBody>
      </p:sp>
      <p:sp>
        <p:nvSpPr>
          <p:cNvPr id="38" name="Shape 36"/>
          <p:cNvSpPr/>
          <p:nvPr/>
        </p:nvSpPr>
        <p:spPr>
          <a:xfrm>
            <a:off x="365760" y="2916936"/>
            <a:ext cx="4114800" cy="914400"/>
          </a:xfrm>
          <a:prstGeom prst="rect">
            <a:avLst/>
          </a:prstGeom>
          <a:solidFill>
            <a:srgbClr val="0D0D18"/>
          </a:solidFill>
          <a:ln w="6350">
            <a:solidFill>
              <a:srgbClr val="1C1C30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39" name="Shape 37"/>
          <p:cNvSpPr/>
          <p:nvPr/>
        </p:nvSpPr>
        <p:spPr>
          <a:xfrm>
            <a:off x="365760" y="2916936"/>
            <a:ext cx="73152" cy="914400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40" name="Text 38"/>
          <p:cNvSpPr/>
          <p:nvPr/>
        </p:nvSpPr>
        <p:spPr>
          <a:xfrm>
            <a:off x="530352" y="3008376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E8E8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Sohbet Bağlamı</a:t>
            </a:r>
            <a:endParaRPr lang="en-US" sz="1050" dirty="0"/>
          </a:p>
        </p:txBody>
      </p:sp>
      <p:sp>
        <p:nvSpPr>
          <p:cNvPr id="41" name="Text 39"/>
          <p:cNvSpPr/>
          <p:nvPr/>
        </p:nvSpPr>
        <p:spPr>
          <a:xfrm>
            <a:off x="530352" y="3282696"/>
            <a:ext cx="3840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888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Kullanıcının bahsettiği filmleri metadata üzerinden bulmak ve sorguya eklemek birkaç iterasyon gerektirdi.</a:t>
            </a:r>
            <a:endParaRPr lang="en-US" sz="900" dirty="0"/>
          </a:p>
        </p:txBody>
      </p:sp>
      <p:sp>
        <p:nvSpPr>
          <p:cNvPr id="42" name="Shape 40"/>
          <p:cNvSpPr/>
          <p:nvPr/>
        </p:nvSpPr>
        <p:spPr>
          <a:xfrm>
            <a:off x="365760" y="3941064"/>
            <a:ext cx="4114800" cy="914400"/>
          </a:xfrm>
          <a:prstGeom prst="rect">
            <a:avLst/>
          </a:prstGeom>
          <a:solidFill>
            <a:srgbClr val="0D0D18"/>
          </a:solidFill>
          <a:ln w="6350">
            <a:solidFill>
              <a:srgbClr val="1C1C30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43" name="Shape 41"/>
          <p:cNvSpPr/>
          <p:nvPr/>
        </p:nvSpPr>
        <p:spPr>
          <a:xfrm>
            <a:off x="365760" y="3941064"/>
            <a:ext cx="73152" cy="914400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44" name="Text 42"/>
          <p:cNvSpPr/>
          <p:nvPr/>
        </p:nvSpPr>
        <p:spPr>
          <a:xfrm>
            <a:off x="530352" y="4032504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E8E8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Duygu Etiketleri</a:t>
            </a:r>
            <a:endParaRPr lang="en-US" sz="1050" dirty="0"/>
          </a:p>
        </p:txBody>
      </p:sp>
      <p:sp>
        <p:nvSpPr>
          <p:cNvPr id="45" name="Text 43"/>
          <p:cNvSpPr/>
          <p:nvPr/>
        </p:nvSpPr>
        <p:spPr>
          <a:xfrm>
            <a:off x="530352" y="4306824"/>
            <a:ext cx="3840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888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Duygu verisi eksik filmlerde UI'da boş alan çıkıyordu; null güvenli erişim eklendi.</a:t>
            </a:r>
            <a:endParaRPr lang="en-US" sz="900" dirty="0"/>
          </a:p>
        </p:txBody>
      </p:sp>
      <p:sp>
        <p:nvSpPr>
          <p:cNvPr id="46" name="Shape 44"/>
          <p:cNvSpPr/>
          <p:nvPr/>
        </p:nvSpPr>
        <p:spPr>
          <a:xfrm>
            <a:off x="4709160" y="868680"/>
            <a:ext cx="4114800" cy="914400"/>
          </a:xfrm>
          <a:prstGeom prst="rect">
            <a:avLst/>
          </a:prstGeom>
          <a:solidFill>
            <a:srgbClr val="0D0D18"/>
          </a:solidFill>
          <a:ln w="6350">
            <a:solidFill>
              <a:srgbClr val="1C1C30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47" name="Shape 45"/>
          <p:cNvSpPr/>
          <p:nvPr/>
        </p:nvSpPr>
        <p:spPr>
          <a:xfrm>
            <a:off x="4709160" y="868680"/>
            <a:ext cx="73152" cy="914400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48" name="Text 46"/>
          <p:cNvSpPr/>
          <p:nvPr/>
        </p:nvSpPr>
        <p:spPr>
          <a:xfrm>
            <a:off x="4873752" y="960120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E8E8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MMR Parametreleri</a:t>
            </a:r>
            <a:endParaRPr lang="en-US" sz="1050" dirty="0"/>
          </a:p>
        </p:txBody>
      </p:sp>
      <p:sp>
        <p:nvSpPr>
          <p:cNvPr id="49" name="Text 47"/>
          <p:cNvSpPr/>
          <p:nvPr/>
        </p:nvSpPr>
        <p:spPr>
          <a:xfrm>
            <a:off x="4873752" y="1234440"/>
            <a:ext cx="3840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888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λ=0.5 denge noktası; düşük değer çok çeşitli ama az alakalı sonuçlar verdi.</a:t>
            </a:r>
            <a:endParaRPr lang="en-US" sz="900" dirty="0"/>
          </a:p>
        </p:txBody>
      </p:sp>
      <p:sp>
        <p:nvSpPr>
          <p:cNvPr id="50" name="Shape 48"/>
          <p:cNvSpPr/>
          <p:nvPr/>
        </p:nvSpPr>
        <p:spPr>
          <a:xfrm>
            <a:off x="4709160" y="1892808"/>
            <a:ext cx="4114800" cy="914400"/>
          </a:xfrm>
          <a:prstGeom prst="rect">
            <a:avLst/>
          </a:prstGeom>
          <a:solidFill>
            <a:srgbClr val="0D0D18"/>
          </a:solidFill>
          <a:ln w="6350">
            <a:solidFill>
              <a:srgbClr val="1C1C30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51" name="Shape 49"/>
          <p:cNvSpPr/>
          <p:nvPr/>
        </p:nvSpPr>
        <p:spPr>
          <a:xfrm>
            <a:off x="4709160" y="1892808"/>
            <a:ext cx="73152" cy="914400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52" name="Text 50"/>
          <p:cNvSpPr/>
          <p:nvPr/>
        </p:nvSpPr>
        <p:spPr>
          <a:xfrm>
            <a:off x="4873752" y="1984248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E8E8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Prompt Mühendisliği</a:t>
            </a:r>
            <a:endParaRPr lang="en-US" sz="1050" dirty="0"/>
          </a:p>
        </p:txBody>
      </p:sp>
      <p:sp>
        <p:nvSpPr>
          <p:cNvPr id="53" name="Text 51"/>
          <p:cNvSpPr/>
          <p:nvPr/>
        </p:nvSpPr>
        <p:spPr>
          <a:xfrm>
            <a:off x="4873752" y="2258568"/>
            <a:ext cx="3840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888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Format talimatları olmadan LLM tutarsız çıktı üretiyor; yapılandırılmış prompt kritik.</a:t>
            </a:r>
            <a:endParaRPr lang="en-US" sz="900" dirty="0"/>
          </a:p>
        </p:txBody>
      </p:sp>
      <p:sp>
        <p:nvSpPr>
          <p:cNvPr id="54" name="Shape 52"/>
          <p:cNvSpPr/>
          <p:nvPr/>
        </p:nvSpPr>
        <p:spPr>
          <a:xfrm>
            <a:off x="4709160" y="2916936"/>
            <a:ext cx="4114800" cy="914400"/>
          </a:xfrm>
          <a:prstGeom prst="rect">
            <a:avLst/>
          </a:prstGeom>
          <a:solidFill>
            <a:srgbClr val="0D0D18"/>
          </a:solidFill>
          <a:ln w="6350">
            <a:solidFill>
              <a:srgbClr val="1C1C30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55" name="Shape 53"/>
          <p:cNvSpPr/>
          <p:nvPr/>
        </p:nvSpPr>
        <p:spPr>
          <a:xfrm>
            <a:off x="4709160" y="2916936"/>
            <a:ext cx="73152" cy="914400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56" name="Text 54"/>
          <p:cNvSpPr/>
          <p:nvPr/>
        </p:nvSpPr>
        <p:spPr>
          <a:xfrm>
            <a:off x="4873752" y="3008376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E8E8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Token Limiti</a:t>
            </a:r>
            <a:endParaRPr lang="en-US" sz="1050" dirty="0"/>
          </a:p>
        </p:txBody>
      </p:sp>
      <p:sp>
        <p:nvSpPr>
          <p:cNvPr id="57" name="Text 55"/>
          <p:cNvSpPr/>
          <p:nvPr/>
        </p:nvSpPr>
        <p:spPr>
          <a:xfrm>
            <a:off x="4873752" y="3282696"/>
            <a:ext cx="3840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888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Sohbet geçmişi sınırsız büyüyebilir; son 6 mesaj penceresi ile kontrol altına alındı.</a:t>
            </a:r>
            <a:endParaRPr lang="en-US" sz="900" dirty="0"/>
          </a:p>
        </p:txBody>
      </p:sp>
      <p:sp>
        <p:nvSpPr>
          <p:cNvPr id="58" name="Shape 56"/>
          <p:cNvSpPr/>
          <p:nvPr/>
        </p:nvSpPr>
        <p:spPr>
          <a:xfrm>
            <a:off x="4709160" y="3941064"/>
            <a:ext cx="4114800" cy="914400"/>
          </a:xfrm>
          <a:prstGeom prst="rect">
            <a:avLst/>
          </a:prstGeom>
          <a:solidFill>
            <a:srgbClr val="0D0D18"/>
          </a:solidFill>
          <a:ln w="6350">
            <a:solidFill>
              <a:srgbClr val="1C1C30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59" name="Shape 57"/>
          <p:cNvSpPr/>
          <p:nvPr/>
        </p:nvSpPr>
        <p:spPr>
          <a:xfrm>
            <a:off x="4709160" y="3941064"/>
            <a:ext cx="73152" cy="914400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60" name="Text 58"/>
          <p:cNvSpPr/>
          <p:nvPr/>
        </p:nvSpPr>
        <p:spPr>
          <a:xfrm>
            <a:off x="4873752" y="4032504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E8E8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 Sadeliği</a:t>
            </a:r>
            <a:endParaRPr lang="en-US" sz="1050" dirty="0"/>
          </a:p>
        </p:txBody>
      </p:sp>
      <p:sp>
        <p:nvSpPr>
          <p:cNvPr id="61" name="Text 59"/>
          <p:cNvSpPr/>
          <p:nvPr/>
        </p:nvSpPr>
        <p:spPr>
          <a:xfrm>
            <a:off x="4873752" y="4306824"/>
            <a:ext cx="3840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888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Herhangi bir JS framework kullanmadan sade DOM manipülasyonu yeterli ve daha hızlı oldu.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8080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28016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3" name="Shape 1"/>
          <p:cNvSpPr/>
          <p:nvPr/>
        </p:nvSpPr>
        <p:spPr>
          <a:xfrm>
            <a:off x="73152" y="18288"/>
            <a:ext cx="201168" cy="91440"/>
          </a:xfrm>
          <a:prstGeom prst="rect">
            <a:avLst/>
          </a:prstGeom>
          <a:solidFill>
            <a:srgbClr val="7B1A15"/>
          </a:solidFill>
          <a:ln w="12700">
            <a:solidFill>
              <a:srgbClr val="7B1A15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4" name="Shape 2"/>
          <p:cNvSpPr/>
          <p:nvPr/>
        </p:nvSpPr>
        <p:spPr>
          <a:xfrm>
            <a:off x="438912" y="18288"/>
            <a:ext cx="201168" cy="91440"/>
          </a:xfrm>
          <a:prstGeom prst="rect">
            <a:avLst/>
          </a:prstGeom>
          <a:solidFill>
            <a:srgbClr val="7B1A15"/>
          </a:solidFill>
          <a:ln w="12700">
            <a:solidFill>
              <a:srgbClr val="7B1A15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5" name="Shape 3"/>
          <p:cNvSpPr/>
          <p:nvPr/>
        </p:nvSpPr>
        <p:spPr>
          <a:xfrm>
            <a:off x="804672" y="18288"/>
            <a:ext cx="201168" cy="91440"/>
          </a:xfrm>
          <a:prstGeom prst="rect">
            <a:avLst/>
          </a:prstGeom>
          <a:solidFill>
            <a:srgbClr val="7B1A15"/>
          </a:solidFill>
          <a:ln w="12700">
            <a:solidFill>
              <a:srgbClr val="7B1A15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6" name="Shape 4"/>
          <p:cNvSpPr/>
          <p:nvPr/>
        </p:nvSpPr>
        <p:spPr>
          <a:xfrm>
            <a:off x="1170432" y="18288"/>
            <a:ext cx="201168" cy="91440"/>
          </a:xfrm>
          <a:prstGeom prst="rect">
            <a:avLst/>
          </a:prstGeom>
          <a:solidFill>
            <a:srgbClr val="7B1A15"/>
          </a:solidFill>
          <a:ln w="12700">
            <a:solidFill>
              <a:srgbClr val="7B1A15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7" name="Shape 5"/>
          <p:cNvSpPr/>
          <p:nvPr/>
        </p:nvSpPr>
        <p:spPr>
          <a:xfrm>
            <a:off x="1536192" y="18288"/>
            <a:ext cx="201168" cy="91440"/>
          </a:xfrm>
          <a:prstGeom prst="rect">
            <a:avLst/>
          </a:prstGeom>
          <a:solidFill>
            <a:srgbClr val="7B1A15"/>
          </a:solidFill>
          <a:ln w="12700">
            <a:solidFill>
              <a:srgbClr val="7B1A15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8" name="Shape 6"/>
          <p:cNvSpPr/>
          <p:nvPr/>
        </p:nvSpPr>
        <p:spPr>
          <a:xfrm>
            <a:off x="1901952" y="18288"/>
            <a:ext cx="201168" cy="91440"/>
          </a:xfrm>
          <a:prstGeom prst="rect">
            <a:avLst/>
          </a:prstGeom>
          <a:solidFill>
            <a:srgbClr val="7B1A15"/>
          </a:solidFill>
          <a:ln w="12700">
            <a:solidFill>
              <a:srgbClr val="7B1A15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9" name="Shape 7"/>
          <p:cNvSpPr/>
          <p:nvPr/>
        </p:nvSpPr>
        <p:spPr>
          <a:xfrm>
            <a:off x="2267712" y="18288"/>
            <a:ext cx="201168" cy="91440"/>
          </a:xfrm>
          <a:prstGeom prst="rect">
            <a:avLst/>
          </a:prstGeom>
          <a:solidFill>
            <a:srgbClr val="7B1A15"/>
          </a:solidFill>
          <a:ln w="12700">
            <a:solidFill>
              <a:srgbClr val="7B1A15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10" name="Shape 8"/>
          <p:cNvSpPr/>
          <p:nvPr/>
        </p:nvSpPr>
        <p:spPr>
          <a:xfrm>
            <a:off x="2633472" y="18288"/>
            <a:ext cx="201168" cy="91440"/>
          </a:xfrm>
          <a:prstGeom prst="rect">
            <a:avLst/>
          </a:prstGeom>
          <a:solidFill>
            <a:srgbClr val="7B1A15"/>
          </a:solidFill>
          <a:ln w="12700">
            <a:solidFill>
              <a:srgbClr val="7B1A15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11" name="Shape 9"/>
          <p:cNvSpPr/>
          <p:nvPr/>
        </p:nvSpPr>
        <p:spPr>
          <a:xfrm>
            <a:off x="2999232" y="18288"/>
            <a:ext cx="201168" cy="91440"/>
          </a:xfrm>
          <a:prstGeom prst="rect">
            <a:avLst/>
          </a:prstGeom>
          <a:solidFill>
            <a:srgbClr val="7B1A15"/>
          </a:solidFill>
          <a:ln w="12700">
            <a:solidFill>
              <a:srgbClr val="7B1A15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12" name="Shape 10"/>
          <p:cNvSpPr/>
          <p:nvPr/>
        </p:nvSpPr>
        <p:spPr>
          <a:xfrm>
            <a:off x="3364992" y="18288"/>
            <a:ext cx="201168" cy="91440"/>
          </a:xfrm>
          <a:prstGeom prst="rect">
            <a:avLst/>
          </a:prstGeom>
          <a:solidFill>
            <a:srgbClr val="7B1A15"/>
          </a:solidFill>
          <a:ln w="12700">
            <a:solidFill>
              <a:srgbClr val="7B1A15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13" name="Shape 11"/>
          <p:cNvSpPr/>
          <p:nvPr/>
        </p:nvSpPr>
        <p:spPr>
          <a:xfrm>
            <a:off x="3730752" y="18288"/>
            <a:ext cx="201168" cy="91440"/>
          </a:xfrm>
          <a:prstGeom prst="rect">
            <a:avLst/>
          </a:prstGeom>
          <a:solidFill>
            <a:srgbClr val="7B1A15"/>
          </a:solidFill>
          <a:ln w="12700">
            <a:solidFill>
              <a:srgbClr val="7B1A15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14" name="Shape 12"/>
          <p:cNvSpPr/>
          <p:nvPr/>
        </p:nvSpPr>
        <p:spPr>
          <a:xfrm>
            <a:off x="4096512" y="18288"/>
            <a:ext cx="201168" cy="91440"/>
          </a:xfrm>
          <a:prstGeom prst="rect">
            <a:avLst/>
          </a:prstGeom>
          <a:solidFill>
            <a:srgbClr val="7B1A15"/>
          </a:solidFill>
          <a:ln w="12700">
            <a:solidFill>
              <a:srgbClr val="7B1A15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15" name="Shape 13"/>
          <p:cNvSpPr/>
          <p:nvPr/>
        </p:nvSpPr>
        <p:spPr>
          <a:xfrm>
            <a:off x="4462272" y="18288"/>
            <a:ext cx="201168" cy="91440"/>
          </a:xfrm>
          <a:prstGeom prst="rect">
            <a:avLst/>
          </a:prstGeom>
          <a:solidFill>
            <a:srgbClr val="7B1A15"/>
          </a:solidFill>
          <a:ln w="12700">
            <a:solidFill>
              <a:srgbClr val="7B1A15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16" name="Shape 14"/>
          <p:cNvSpPr/>
          <p:nvPr/>
        </p:nvSpPr>
        <p:spPr>
          <a:xfrm>
            <a:off x="4828032" y="18288"/>
            <a:ext cx="201168" cy="91440"/>
          </a:xfrm>
          <a:prstGeom prst="rect">
            <a:avLst/>
          </a:prstGeom>
          <a:solidFill>
            <a:srgbClr val="7B1A15"/>
          </a:solidFill>
          <a:ln w="12700">
            <a:solidFill>
              <a:srgbClr val="7B1A15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17" name="Shape 15"/>
          <p:cNvSpPr/>
          <p:nvPr/>
        </p:nvSpPr>
        <p:spPr>
          <a:xfrm>
            <a:off x="5193792" y="18288"/>
            <a:ext cx="201168" cy="91440"/>
          </a:xfrm>
          <a:prstGeom prst="rect">
            <a:avLst/>
          </a:prstGeom>
          <a:solidFill>
            <a:srgbClr val="7B1A15"/>
          </a:solidFill>
          <a:ln w="12700">
            <a:solidFill>
              <a:srgbClr val="7B1A15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18" name="Shape 16"/>
          <p:cNvSpPr/>
          <p:nvPr/>
        </p:nvSpPr>
        <p:spPr>
          <a:xfrm>
            <a:off x="5559552" y="18288"/>
            <a:ext cx="201168" cy="91440"/>
          </a:xfrm>
          <a:prstGeom prst="rect">
            <a:avLst/>
          </a:prstGeom>
          <a:solidFill>
            <a:srgbClr val="7B1A15"/>
          </a:solidFill>
          <a:ln w="12700">
            <a:solidFill>
              <a:srgbClr val="7B1A15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19" name="Shape 17"/>
          <p:cNvSpPr/>
          <p:nvPr/>
        </p:nvSpPr>
        <p:spPr>
          <a:xfrm>
            <a:off x="5925312" y="18288"/>
            <a:ext cx="201168" cy="91440"/>
          </a:xfrm>
          <a:prstGeom prst="rect">
            <a:avLst/>
          </a:prstGeom>
          <a:solidFill>
            <a:srgbClr val="7B1A15"/>
          </a:solidFill>
          <a:ln w="12700">
            <a:solidFill>
              <a:srgbClr val="7B1A15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20" name="Shape 18"/>
          <p:cNvSpPr/>
          <p:nvPr/>
        </p:nvSpPr>
        <p:spPr>
          <a:xfrm>
            <a:off x="6291072" y="18288"/>
            <a:ext cx="201168" cy="91440"/>
          </a:xfrm>
          <a:prstGeom prst="rect">
            <a:avLst/>
          </a:prstGeom>
          <a:solidFill>
            <a:srgbClr val="7B1A15"/>
          </a:solidFill>
          <a:ln w="12700">
            <a:solidFill>
              <a:srgbClr val="7B1A15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21" name="Shape 19"/>
          <p:cNvSpPr/>
          <p:nvPr/>
        </p:nvSpPr>
        <p:spPr>
          <a:xfrm>
            <a:off x="6656832" y="18288"/>
            <a:ext cx="201168" cy="91440"/>
          </a:xfrm>
          <a:prstGeom prst="rect">
            <a:avLst/>
          </a:prstGeom>
          <a:solidFill>
            <a:srgbClr val="7B1A15"/>
          </a:solidFill>
          <a:ln w="12700">
            <a:solidFill>
              <a:srgbClr val="7B1A15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22" name="Shape 20"/>
          <p:cNvSpPr/>
          <p:nvPr/>
        </p:nvSpPr>
        <p:spPr>
          <a:xfrm>
            <a:off x="7022592" y="18288"/>
            <a:ext cx="201168" cy="91440"/>
          </a:xfrm>
          <a:prstGeom prst="rect">
            <a:avLst/>
          </a:prstGeom>
          <a:solidFill>
            <a:srgbClr val="7B1A15"/>
          </a:solidFill>
          <a:ln w="12700">
            <a:solidFill>
              <a:srgbClr val="7B1A15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23" name="Shape 21"/>
          <p:cNvSpPr/>
          <p:nvPr/>
        </p:nvSpPr>
        <p:spPr>
          <a:xfrm>
            <a:off x="7388352" y="18288"/>
            <a:ext cx="201168" cy="91440"/>
          </a:xfrm>
          <a:prstGeom prst="rect">
            <a:avLst/>
          </a:prstGeom>
          <a:solidFill>
            <a:srgbClr val="7B1A15"/>
          </a:solidFill>
          <a:ln w="12700">
            <a:solidFill>
              <a:srgbClr val="7B1A15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24" name="Shape 22"/>
          <p:cNvSpPr/>
          <p:nvPr/>
        </p:nvSpPr>
        <p:spPr>
          <a:xfrm>
            <a:off x="7754112" y="18288"/>
            <a:ext cx="201168" cy="91440"/>
          </a:xfrm>
          <a:prstGeom prst="rect">
            <a:avLst/>
          </a:prstGeom>
          <a:solidFill>
            <a:srgbClr val="7B1A15"/>
          </a:solidFill>
          <a:ln w="12700">
            <a:solidFill>
              <a:srgbClr val="7B1A15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25" name="Shape 23"/>
          <p:cNvSpPr/>
          <p:nvPr/>
        </p:nvSpPr>
        <p:spPr>
          <a:xfrm>
            <a:off x="8119872" y="18288"/>
            <a:ext cx="201168" cy="91440"/>
          </a:xfrm>
          <a:prstGeom prst="rect">
            <a:avLst/>
          </a:prstGeom>
          <a:solidFill>
            <a:srgbClr val="7B1A15"/>
          </a:solidFill>
          <a:ln w="12700">
            <a:solidFill>
              <a:srgbClr val="7B1A15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26" name="Shape 24"/>
          <p:cNvSpPr/>
          <p:nvPr/>
        </p:nvSpPr>
        <p:spPr>
          <a:xfrm>
            <a:off x="8485632" y="18288"/>
            <a:ext cx="201168" cy="91440"/>
          </a:xfrm>
          <a:prstGeom prst="rect">
            <a:avLst/>
          </a:prstGeom>
          <a:solidFill>
            <a:srgbClr val="7B1A15"/>
          </a:solidFill>
          <a:ln w="12700">
            <a:solidFill>
              <a:srgbClr val="7B1A15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27" name="Shape 25"/>
          <p:cNvSpPr/>
          <p:nvPr/>
        </p:nvSpPr>
        <p:spPr>
          <a:xfrm>
            <a:off x="8851392" y="18288"/>
            <a:ext cx="201168" cy="91440"/>
          </a:xfrm>
          <a:prstGeom prst="rect">
            <a:avLst/>
          </a:prstGeom>
          <a:solidFill>
            <a:srgbClr val="7B1A15"/>
          </a:solidFill>
          <a:ln w="12700">
            <a:solidFill>
              <a:srgbClr val="7B1A15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28" name="Shape 26"/>
          <p:cNvSpPr/>
          <p:nvPr/>
        </p:nvSpPr>
        <p:spPr>
          <a:xfrm>
            <a:off x="0" y="5015484"/>
            <a:ext cx="9144000" cy="128016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29" name="Shape 27"/>
          <p:cNvSpPr/>
          <p:nvPr/>
        </p:nvSpPr>
        <p:spPr>
          <a:xfrm>
            <a:off x="73152" y="5033772"/>
            <a:ext cx="201168" cy="91440"/>
          </a:xfrm>
          <a:prstGeom prst="rect">
            <a:avLst/>
          </a:prstGeom>
          <a:solidFill>
            <a:srgbClr val="7B1A15"/>
          </a:solidFill>
          <a:ln w="12700">
            <a:solidFill>
              <a:srgbClr val="7B1A15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30" name="Shape 28"/>
          <p:cNvSpPr/>
          <p:nvPr/>
        </p:nvSpPr>
        <p:spPr>
          <a:xfrm>
            <a:off x="438912" y="5033772"/>
            <a:ext cx="201168" cy="91440"/>
          </a:xfrm>
          <a:prstGeom prst="rect">
            <a:avLst/>
          </a:prstGeom>
          <a:solidFill>
            <a:srgbClr val="7B1A15"/>
          </a:solidFill>
          <a:ln w="12700">
            <a:solidFill>
              <a:srgbClr val="7B1A15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31" name="Shape 29"/>
          <p:cNvSpPr/>
          <p:nvPr/>
        </p:nvSpPr>
        <p:spPr>
          <a:xfrm>
            <a:off x="804672" y="5033772"/>
            <a:ext cx="201168" cy="91440"/>
          </a:xfrm>
          <a:prstGeom prst="rect">
            <a:avLst/>
          </a:prstGeom>
          <a:solidFill>
            <a:srgbClr val="7B1A15"/>
          </a:solidFill>
          <a:ln w="12700">
            <a:solidFill>
              <a:srgbClr val="7B1A15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32" name="Shape 30"/>
          <p:cNvSpPr/>
          <p:nvPr/>
        </p:nvSpPr>
        <p:spPr>
          <a:xfrm>
            <a:off x="1170432" y="5033772"/>
            <a:ext cx="201168" cy="91440"/>
          </a:xfrm>
          <a:prstGeom prst="rect">
            <a:avLst/>
          </a:prstGeom>
          <a:solidFill>
            <a:srgbClr val="7B1A15"/>
          </a:solidFill>
          <a:ln w="12700">
            <a:solidFill>
              <a:srgbClr val="7B1A15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33" name="Shape 31"/>
          <p:cNvSpPr/>
          <p:nvPr/>
        </p:nvSpPr>
        <p:spPr>
          <a:xfrm>
            <a:off x="1536192" y="5033772"/>
            <a:ext cx="201168" cy="91440"/>
          </a:xfrm>
          <a:prstGeom prst="rect">
            <a:avLst/>
          </a:prstGeom>
          <a:solidFill>
            <a:srgbClr val="7B1A15"/>
          </a:solidFill>
          <a:ln w="12700">
            <a:solidFill>
              <a:srgbClr val="7B1A15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34" name="Shape 32"/>
          <p:cNvSpPr/>
          <p:nvPr/>
        </p:nvSpPr>
        <p:spPr>
          <a:xfrm>
            <a:off x="1901952" y="5033772"/>
            <a:ext cx="201168" cy="91440"/>
          </a:xfrm>
          <a:prstGeom prst="rect">
            <a:avLst/>
          </a:prstGeom>
          <a:solidFill>
            <a:srgbClr val="7B1A15"/>
          </a:solidFill>
          <a:ln w="12700">
            <a:solidFill>
              <a:srgbClr val="7B1A15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35" name="Shape 33"/>
          <p:cNvSpPr/>
          <p:nvPr/>
        </p:nvSpPr>
        <p:spPr>
          <a:xfrm>
            <a:off x="2267712" y="5033772"/>
            <a:ext cx="201168" cy="91440"/>
          </a:xfrm>
          <a:prstGeom prst="rect">
            <a:avLst/>
          </a:prstGeom>
          <a:solidFill>
            <a:srgbClr val="7B1A15"/>
          </a:solidFill>
          <a:ln w="12700">
            <a:solidFill>
              <a:srgbClr val="7B1A15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36" name="Shape 34"/>
          <p:cNvSpPr/>
          <p:nvPr/>
        </p:nvSpPr>
        <p:spPr>
          <a:xfrm>
            <a:off x="2633472" y="5033772"/>
            <a:ext cx="201168" cy="91440"/>
          </a:xfrm>
          <a:prstGeom prst="rect">
            <a:avLst/>
          </a:prstGeom>
          <a:solidFill>
            <a:srgbClr val="7B1A15"/>
          </a:solidFill>
          <a:ln w="12700">
            <a:solidFill>
              <a:srgbClr val="7B1A15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37" name="Shape 35"/>
          <p:cNvSpPr/>
          <p:nvPr/>
        </p:nvSpPr>
        <p:spPr>
          <a:xfrm>
            <a:off x="2999232" y="5033772"/>
            <a:ext cx="201168" cy="91440"/>
          </a:xfrm>
          <a:prstGeom prst="rect">
            <a:avLst/>
          </a:prstGeom>
          <a:solidFill>
            <a:srgbClr val="7B1A15"/>
          </a:solidFill>
          <a:ln w="12700">
            <a:solidFill>
              <a:srgbClr val="7B1A15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38" name="Shape 36"/>
          <p:cNvSpPr/>
          <p:nvPr/>
        </p:nvSpPr>
        <p:spPr>
          <a:xfrm>
            <a:off x="3364992" y="5033772"/>
            <a:ext cx="201168" cy="91440"/>
          </a:xfrm>
          <a:prstGeom prst="rect">
            <a:avLst/>
          </a:prstGeom>
          <a:solidFill>
            <a:srgbClr val="7B1A15"/>
          </a:solidFill>
          <a:ln w="12700">
            <a:solidFill>
              <a:srgbClr val="7B1A15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39" name="Shape 37"/>
          <p:cNvSpPr/>
          <p:nvPr/>
        </p:nvSpPr>
        <p:spPr>
          <a:xfrm>
            <a:off x="3730752" y="5033772"/>
            <a:ext cx="201168" cy="91440"/>
          </a:xfrm>
          <a:prstGeom prst="rect">
            <a:avLst/>
          </a:prstGeom>
          <a:solidFill>
            <a:srgbClr val="7B1A15"/>
          </a:solidFill>
          <a:ln w="12700">
            <a:solidFill>
              <a:srgbClr val="7B1A15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40" name="Shape 38"/>
          <p:cNvSpPr/>
          <p:nvPr/>
        </p:nvSpPr>
        <p:spPr>
          <a:xfrm>
            <a:off x="4096512" y="5033772"/>
            <a:ext cx="201168" cy="91440"/>
          </a:xfrm>
          <a:prstGeom prst="rect">
            <a:avLst/>
          </a:prstGeom>
          <a:solidFill>
            <a:srgbClr val="7B1A15"/>
          </a:solidFill>
          <a:ln w="12700">
            <a:solidFill>
              <a:srgbClr val="7B1A15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41" name="Shape 39"/>
          <p:cNvSpPr/>
          <p:nvPr/>
        </p:nvSpPr>
        <p:spPr>
          <a:xfrm>
            <a:off x="4462272" y="5033772"/>
            <a:ext cx="201168" cy="91440"/>
          </a:xfrm>
          <a:prstGeom prst="rect">
            <a:avLst/>
          </a:prstGeom>
          <a:solidFill>
            <a:srgbClr val="7B1A15"/>
          </a:solidFill>
          <a:ln w="12700">
            <a:solidFill>
              <a:srgbClr val="7B1A15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42" name="Shape 40"/>
          <p:cNvSpPr/>
          <p:nvPr/>
        </p:nvSpPr>
        <p:spPr>
          <a:xfrm>
            <a:off x="4828032" y="5033772"/>
            <a:ext cx="201168" cy="91440"/>
          </a:xfrm>
          <a:prstGeom prst="rect">
            <a:avLst/>
          </a:prstGeom>
          <a:solidFill>
            <a:srgbClr val="7B1A15"/>
          </a:solidFill>
          <a:ln w="12700">
            <a:solidFill>
              <a:srgbClr val="7B1A15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43" name="Shape 41"/>
          <p:cNvSpPr/>
          <p:nvPr/>
        </p:nvSpPr>
        <p:spPr>
          <a:xfrm>
            <a:off x="5193792" y="5033772"/>
            <a:ext cx="201168" cy="91440"/>
          </a:xfrm>
          <a:prstGeom prst="rect">
            <a:avLst/>
          </a:prstGeom>
          <a:solidFill>
            <a:srgbClr val="7B1A15"/>
          </a:solidFill>
          <a:ln w="12700">
            <a:solidFill>
              <a:srgbClr val="7B1A15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44" name="Shape 42"/>
          <p:cNvSpPr/>
          <p:nvPr/>
        </p:nvSpPr>
        <p:spPr>
          <a:xfrm>
            <a:off x="5559552" y="5033772"/>
            <a:ext cx="201168" cy="91440"/>
          </a:xfrm>
          <a:prstGeom prst="rect">
            <a:avLst/>
          </a:prstGeom>
          <a:solidFill>
            <a:srgbClr val="7B1A15"/>
          </a:solidFill>
          <a:ln w="12700">
            <a:solidFill>
              <a:srgbClr val="7B1A15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45" name="Shape 43"/>
          <p:cNvSpPr/>
          <p:nvPr/>
        </p:nvSpPr>
        <p:spPr>
          <a:xfrm>
            <a:off x="5925312" y="5033772"/>
            <a:ext cx="201168" cy="91440"/>
          </a:xfrm>
          <a:prstGeom prst="rect">
            <a:avLst/>
          </a:prstGeom>
          <a:solidFill>
            <a:srgbClr val="7B1A15"/>
          </a:solidFill>
          <a:ln w="12700">
            <a:solidFill>
              <a:srgbClr val="7B1A15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46" name="Shape 44"/>
          <p:cNvSpPr/>
          <p:nvPr/>
        </p:nvSpPr>
        <p:spPr>
          <a:xfrm>
            <a:off x="6291072" y="5033772"/>
            <a:ext cx="201168" cy="91440"/>
          </a:xfrm>
          <a:prstGeom prst="rect">
            <a:avLst/>
          </a:prstGeom>
          <a:solidFill>
            <a:srgbClr val="7B1A15"/>
          </a:solidFill>
          <a:ln w="12700">
            <a:solidFill>
              <a:srgbClr val="7B1A15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47" name="Shape 45"/>
          <p:cNvSpPr/>
          <p:nvPr/>
        </p:nvSpPr>
        <p:spPr>
          <a:xfrm>
            <a:off x="6656832" y="5033772"/>
            <a:ext cx="201168" cy="91440"/>
          </a:xfrm>
          <a:prstGeom prst="rect">
            <a:avLst/>
          </a:prstGeom>
          <a:solidFill>
            <a:srgbClr val="7B1A15"/>
          </a:solidFill>
          <a:ln w="12700">
            <a:solidFill>
              <a:srgbClr val="7B1A15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48" name="Shape 46"/>
          <p:cNvSpPr/>
          <p:nvPr/>
        </p:nvSpPr>
        <p:spPr>
          <a:xfrm>
            <a:off x="7022592" y="5033772"/>
            <a:ext cx="201168" cy="91440"/>
          </a:xfrm>
          <a:prstGeom prst="rect">
            <a:avLst/>
          </a:prstGeom>
          <a:solidFill>
            <a:srgbClr val="7B1A15"/>
          </a:solidFill>
          <a:ln w="12700">
            <a:solidFill>
              <a:srgbClr val="7B1A15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49" name="Shape 47"/>
          <p:cNvSpPr/>
          <p:nvPr/>
        </p:nvSpPr>
        <p:spPr>
          <a:xfrm>
            <a:off x="7388352" y="5033772"/>
            <a:ext cx="201168" cy="91440"/>
          </a:xfrm>
          <a:prstGeom prst="rect">
            <a:avLst/>
          </a:prstGeom>
          <a:solidFill>
            <a:srgbClr val="7B1A15"/>
          </a:solidFill>
          <a:ln w="12700">
            <a:solidFill>
              <a:srgbClr val="7B1A15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50" name="Shape 48"/>
          <p:cNvSpPr/>
          <p:nvPr/>
        </p:nvSpPr>
        <p:spPr>
          <a:xfrm>
            <a:off x="7754112" y="5033772"/>
            <a:ext cx="201168" cy="91440"/>
          </a:xfrm>
          <a:prstGeom prst="rect">
            <a:avLst/>
          </a:prstGeom>
          <a:solidFill>
            <a:srgbClr val="7B1A15"/>
          </a:solidFill>
          <a:ln w="12700">
            <a:solidFill>
              <a:srgbClr val="7B1A15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51" name="Shape 49"/>
          <p:cNvSpPr/>
          <p:nvPr/>
        </p:nvSpPr>
        <p:spPr>
          <a:xfrm>
            <a:off x="8119872" y="5033772"/>
            <a:ext cx="201168" cy="91440"/>
          </a:xfrm>
          <a:prstGeom prst="rect">
            <a:avLst/>
          </a:prstGeom>
          <a:solidFill>
            <a:srgbClr val="7B1A15"/>
          </a:solidFill>
          <a:ln w="12700">
            <a:solidFill>
              <a:srgbClr val="7B1A15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52" name="Shape 50"/>
          <p:cNvSpPr/>
          <p:nvPr/>
        </p:nvSpPr>
        <p:spPr>
          <a:xfrm>
            <a:off x="8485632" y="5033772"/>
            <a:ext cx="201168" cy="91440"/>
          </a:xfrm>
          <a:prstGeom prst="rect">
            <a:avLst/>
          </a:prstGeom>
          <a:solidFill>
            <a:srgbClr val="7B1A15"/>
          </a:solidFill>
          <a:ln w="12700">
            <a:solidFill>
              <a:srgbClr val="7B1A15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53" name="Shape 51"/>
          <p:cNvSpPr/>
          <p:nvPr/>
        </p:nvSpPr>
        <p:spPr>
          <a:xfrm>
            <a:off x="8851392" y="5033772"/>
            <a:ext cx="201168" cy="91440"/>
          </a:xfrm>
          <a:prstGeom prst="rect">
            <a:avLst/>
          </a:prstGeom>
          <a:solidFill>
            <a:srgbClr val="7B1A15"/>
          </a:solidFill>
          <a:ln w="12700">
            <a:solidFill>
              <a:srgbClr val="7B1A15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54" name="Shape 52"/>
          <p:cNvSpPr/>
          <p:nvPr/>
        </p:nvSpPr>
        <p:spPr>
          <a:xfrm>
            <a:off x="914400" y="713232"/>
            <a:ext cx="7315200" cy="3749040"/>
          </a:xfrm>
          <a:prstGeom prst="rect">
            <a:avLst/>
          </a:prstGeom>
          <a:solidFill>
            <a:srgbClr val="0D0D18"/>
          </a:solidFill>
          <a:ln w="6350">
            <a:solidFill>
              <a:srgbClr val="1C1C30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55" name="Shape 53"/>
          <p:cNvSpPr/>
          <p:nvPr/>
        </p:nvSpPr>
        <p:spPr>
          <a:xfrm>
            <a:off x="914400" y="713232"/>
            <a:ext cx="7315200" cy="91440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56" name="Shape 54"/>
          <p:cNvSpPr/>
          <p:nvPr/>
        </p:nvSpPr>
        <p:spPr>
          <a:xfrm>
            <a:off x="1078992" y="804672"/>
            <a:ext cx="73152" cy="109728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57" name="Shape 55"/>
          <p:cNvSpPr/>
          <p:nvPr/>
        </p:nvSpPr>
        <p:spPr>
          <a:xfrm>
            <a:off x="1197864" y="804672"/>
            <a:ext cx="73152" cy="109728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58" name="Shape 56"/>
          <p:cNvSpPr/>
          <p:nvPr/>
        </p:nvSpPr>
        <p:spPr>
          <a:xfrm>
            <a:off x="1316736" y="804672"/>
            <a:ext cx="73152" cy="109728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59" name="Text 57"/>
          <p:cNvSpPr/>
          <p:nvPr/>
        </p:nvSpPr>
        <p:spPr>
          <a:xfrm>
            <a:off x="914400" y="987552"/>
            <a:ext cx="7315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E8E8E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Sonuç</a:t>
            </a:r>
            <a:endParaRPr lang="en-US" sz="3600" dirty="0"/>
          </a:p>
        </p:txBody>
      </p:sp>
      <p:sp>
        <p:nvSpPr>
          <p:cNvPr id="60" name="Text 58"/>
          <p:cNvSpPr/>
          <p:nvPr/>
        </p:nvSpPr>
        <p:spPr>
          <a:xfrm>
            <a:off x="1371600" y="1572768"/>
            <a:ext cx="6400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8888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CineBot, RAG mimarisi sayesinde 900K+ film verisini anlık olarak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dirty="0">
                <a:solidFill>
                  <a:srgbClr val="8888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erişilebilir kılan, duygu ve bağlam farkındalığına sahip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dirty="0">
                <a:solidFill>
                  <a:srgbClr val="8888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bir konuşmalı film öneri asistanıdır.</a:t>
            </a:r>
            <a:endParaRPr lang="en-US" sz="1200" dirty="0"/>
          </a:p>
        </p:txBody>
      </p:sp>
      <p:sp>
        <p:nvSpPr>
          <p:cNvPr id="61" name="Shape 59"/>
          <p:cNvSpPr/>
          <p:nvPr/>
        </p:nvSpPr>
        <p:spPr>
          <a:xfrm>
            <a:off x="2286000" y="2450592"/>
            <a:ext cx="4572000" cy="0"/>
          </a:xfrm>
          <a:prstGeom prst="line">
            <a:avLst/>
          </a:prstGeom>
          <a:noFill/>
          <a:ln w="6350">
            <a:solidFill>
              <a:srgbClr val="252540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62" name="Text 60"/>
          <p:cNvSpPr/>
          <p:nvPr/>
        </p:nvSpPr>
        <p:spPr>
          <a:xfrm>
            <a:off x="914400" y="25603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kern="0" spc="200" dirty="0">
                <a:solidFill>
                  <a:srgbClr val="C0392B"/>
                </a:solidFill>
              </a:rPr>
              <a:t>Gelecek Geliştirmeler</a:t>
            </a:r>
            <a:endParaRPr lang="en-US" sz="1200" dirty="0"/>
          </a:p>
        </p:txBody>
      </p:sp>
      <p:sp>
        <p:nvSpPr>
          <p:cNvPr id="63" name="Shape 61"/>
          <p:cNvSpPr/>
          <p:nvPr/>
        </p:nvSpPr>
        <p:spPr>
          <a:xfrm>
            <a:off x="1371600" y="2980944"/>
            <a:ext cx="128016" cy="128016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64" name="Text 62"/>
          <p:cNvSpPr/>
          <p:nvPr/>
        </p:nvSpPr>
        <p:spPr>
          <a:xfrm>
            <a:off x="1554480" y="2944368"/>
            <a:ext cx="31089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8888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Kullanıcı profili &amp; izleme geçmişi ile kişiselleştirme</a:t>
            </a:r>
            <a:endParaRPr lang="en-US" sz="950" dirty="0"/>
          </a:p>
        </p:txBody>
      </p:sp>
      <p:sp>
        <p:nvSpPr>
          <p:cNvPr id="65" name="Shape 63"/>
          <p:cNvSpPr/>
          <p:nvPr/>
        </p:nvSpPr>
        <p:spPr>
          <a:xfrm>
            <a:off x="4846320" y="2980944"/>
            <a:ext cx="128016" cy="128016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66" name="Text 64"/>
          <p:cNvSpPr/>
          <p:nvPr/>
        </p:nvSpPr>
        <p:spPr>
          <a:xfrm>
            <a:off x="5029200" y="2944368"/>
            <a:ext cx="31089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8888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TMDB API entegrasyonu ile gerçek zamanlı film posteri</a:t>
            </a:r>
            <a:endParaRPr lang="en-US" sz="950" dirty="0"/>
          </a:p>
        </p:txBody>
      </p:sp>
      <p:sp>
        <p:nvSpPr>
          <p:cNvPr id="67" name="Shape 65"/>
          <p:cNvSpPr/>
          <p:nvPr/>
        </p:nvSpPr>
        <p:spPr>
          <a:xfrm>
            <a:off x="1371600" y="3364992"/>
            <a:ext cx="128016" cy="128016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68" name="Text 66"/>
          <p:cNvSpPr/>
          <p:nvPr/>
        </p:nvSpPr>
        <p:spPr>
          <a:xfrm>
            <a:off x="1554480" y="3328416"/>
            <a:ext cx="31089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8888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Çok dilli destek (EN/DE/FR)</a:t>
            </a:r>
            <a:endParaRPr lang="en-US" sz="950" dirty="0"/>
          </a:p>
        </p:txBody>
      </p:sp>
      <p:sp>
        <p:nvSpPr>
          <p:cNvPr id="69" name="Shape 67"/>
          <p:cNvSpPr/>
          <p:nvPr/>
        </p:nvSpPr>
        <p:spPr>
          <a:xfrm>
            <a:off x="4846320" y="3364992"/>
            <a:ext cx="128016" cy="128016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70" name="Text 68"/>
          <p:cNvSpPr/>
          <p:nvPr/>
        </p:nvSpPr>
        <p:spPr>
          <a:xfrm>
            <a:off x="5029200" y="3328416"/>
            <a:ext cx="31089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8888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Streamlit veya React tabanlı gelişmiş UI</a:t>
            </a:r>
            <a:endParaRPr lang="en-US" sz="950" dirty="0"/>
          </a:p>
        </p:txBody>
      </p:sp>
      <p:sp>
        <p:nvSpPr>
          <p:cNvPr id="71" name="Text 69"/>
          <p:cNvSpPr/>
          <p:nvPr/>
        </p:nvSpPr>
        <p:spPr>
          <a:xfrm>
            <a:off x="0" y="4773168"/>
            <a:ext cx="9144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444455"/>
                </a:solidFill>
              </a:rPr>
              <a:t>Teşekkürler · CineBot 2025/2026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Θέμα του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609</TotalTime>
  <Words>1008</Words>
  <Application>Microsoft Office PowerPoint</Application>
  <PresentationFormat>Προβολή στην οθόνη (16:9)</PresentationFormat>
  <Paragraphs>264</Paragraphs>
  <Slides>10</Slides>
  <Notes>10</Notes>
  <HiddenSlides>0</HiddenSlides>
  <MMClips>0</MMClips>
  <ScaleCrop>false</ScaleCrop>
  <HeadingPairs>
    <vt:vector size="6" baseType="variant">
      <vt:variant>
        <vt:lpstr>Γραμματοσειρές που χρησιμοποιούνται</vt:lpstr>
      </vt:variant>
      <vt:variant>
        <vt:i4>3</vt:i4>
      </vt:variant>
      <vt:variant>
        <vt:lpstr>Θέμα</vt:lpstr>
      </vt:variant>
      <vt:variant>
        <vt:i4>1</vt:i4>
      </vt:variant>
      <vt:variant>
        <vt:lpstr>Τίτλοι διαφανειών</vt:lpstr>
      </vt:variant>
      <vt:variant>
        <vt:i4>10</vt:i4>
      </vt:variant>
    </vt:vector>
  </HeadingPairs>
  <TitlesOfParts>
    <vt:vector size="14" baseType="lpstr">
      <vt:lpstr>Arial</vt:lpstr>
      <vt:lpstr>Calibri</vt:lpstr>
      <vt:lpstr>Georgia</vt:lpstr>
      <vt:lpstr>Office Theme</vt:lpstr>
      <vt:lpstr>Παρουσίαση του PowerPoint</vt:lpstr>
      <vt:lpstr>Παρουσίαση του PowerPoint</vt:lpstr>
      <vt:lpstr>Παρουσίαση του PowerPoint</vt:lpstr>
      <vt:lpstr>Παρουσίαση του PowerPoint</vt:lpstr>
      <vt:lpstr>Παρουσίαση του PowerPoint</vt:lpstr>
      <vt:lpstr>Παρουσίαση του PowerPoint</vt:lpstr>
      <vt:lpstr>Παρουσίαση του PowerPoint</vt:lpstr>
      <vt:lpstr>Παρουσίαση του PowerPoint</vt:lpstr>
      <vt:lpstr>Παρουσίαση του PowerPoint</vt:lpstr>
      <vt:lpstr>Παρουσίαση του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CineBot – Yapay Zeka Destekli Film Öneri Sistemi</dc:title>
  <dc:subject>PptxGenJS Presentation</dc:subject>
  <dc:creator>PptxGenJS</dc:creator>
  <cp:lastModifiedBy>Batouchan RIZA</cp:lastModifiedBy>
  <cp:revision>2</cp:revision>
  <dcterms:created xsi:type="dcterms:W3CDTF">2026-06-01T20:09:07Z</dcterms:created>
  <dcterms:modified xsi:type="dcterms:W3CDTF">2026-06-02T06:21:36Z</dcterms:modified>
</cp:coreProperties>
</file>